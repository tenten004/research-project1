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60" r:id="rId5"/>
    <p:sldId id="259" r:id="rId6"/>
    <p:sldId id="294" r:id="rId7"/>
    <p:sldId id="293" r:id="rId8"/>
    <p:sldId id="289" r:id="rId9"/>
    <p:sldId id="278" r:id="rId10"/>
    <p:sldId id="279" r:id="rId11"/>
    <p:sldId id="286" r:id="rId12"/>
    <p:sldId id="262" r:id="rId13"/>
    <p:sldId id="322" r:id="rId14"/>
    <p:sldId id="263" r:id="rId15"/>
    <p:sldId id="276" r:id="rId16"/>
    <p:sldId id="264" r:id="rId17"/>
    <p:sldId id="265" r:id="rId18"/>
    <p:sldId id="320" r:id="rId19"/>
    <p:sldId id="323" r:id="rId20"/>
    <p:sldId id="321" r:id="rId21"/>
    <p:sldId id="268" r:id="rId22"/>
    <p:sldId id="267" r:id="rId23"/>
    <p:sldId id="295" r:id="rId24"/>
    <p:sldId id="300" r:id="rId25"/>
    <p:sldId id="299" r:id="rId26"/>
    <p:sldId id="269" r:id="rId27"/>
    <p:sldId id="270" r:id="rId28"/>
    <p:sldId id="271" r:id="rId29"/>
    <p:sldId id="301" r:id="rId30"/>
    <p:sldId id="272" r:id="rId31"/>
    <p:sldId id="273" r:id="rId32"/>
    <p:sldId id="288" r:id="rId33"/>
    <p:sldId id="291" r:id="rId34"/>
    <p:sldId id="316" r:id="rId35"/>
    <p:sldId id="317" r:id="rId36"/>
    <p:sldId id="318" r:id="rId37"/>
    <p:sldId id="312" r:id="rId38"/>
    <p:sldId id="319" r:id="rId39"/>
    <p:sldId id="315" r:id="rId40"/>
    <p:sldId id="303" r:id="rId41"/>
    <p:sldId id="304" r:id="rId42"/>
    <p:sldId id="305" r:id="rId43"/>
    <p:sldId id="306" r:id="rId44"/>
    <p:sldId id="307" r:id="rId45"/>
    <p:sldId id="308" r:id="rId46"/>
    <p:sldId id="309" r:id="rId47"/>
    <p:sldId id="310" r:id="rId48"/>
    <p:sldId id="302" r:id="rId49"/>
    <p:sldId id="311" r:id="rId50"/>
    <p:sldId id="298" r:id="rId51"/>
    <p:sldId id="313" r:id="rId52"/>
    <p:sldId id="314" r:id="rId5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8" autoAdjust="0"/>
    <p:restoredTop sz="61350" autoAdjust="0"/>
  </p:normalViewPr>
  <p:slideViewPr>
    <p:cSldViewPr snapToGrid="0">
      <p:cViewPr varScale="1">
        <p:scale>
          <a:sx n="71" d="100"/>
          <a:sy n="71" d="100"/>
        </p:scale>
        <p:origin x="7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8895B-BE73-4C95-AF0E-49C561AEDDE1}" type="datetimeFigureOut">
              <a:rPr kumimoji="1" lang="ja-JP" altLang="en-US" smtClean="0"/>
              <a:t>2023/10/19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422786-45B2-4F0B-A2BC-E0BC854D0442}" type="slidenum">
              <a:rPr kumimoji="1" lang="ja-JP" altLang="en-US" smtClean="0"/>
              <a:t>‹#›</a:t>
            </a:fld>
            <a:endParaRPr kumimoji="1" lang="ja-JP" altLang="en-US"/>
          </a:p>
        </p:txBody>
      </p:sp>
    </p:spTree>
    <p:extLst>
      <p:ext uri="{BB962C8B-B14F-4D97-AF65-F5344CB8AC3E}">
        <p14:creationId xmlns:p14="http://schemas.microsoft.com/office/powerpoint/2010/main" val="7491473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a:t>
            </a:fld>
            <a:endParaRPr kumimoji="1" lang="ja-JP" altLang="en-US"/>
          </a:p>
        </p:txBody>
      </p:sp>
    </p:spTree>
    <p:extLst>
      <p:ext uri="{BB962C8B-B14F-4D97-AF65-F5344CB8AC3E}">
        <p14:creationId xmlns:p14="http://schemas.microsoft.com/office/powerpoint/2010/main" val="596632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研究の背景として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脳に起こる虚血性の変化であり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そのリスク因子は高血圧であること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脳卒中のリスク因子でもあり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大脳白質病変が見られた場合</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血圧管理などにより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さらに進行しないよう対処することが重要であることが挙げられます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a:t>
            </a:fld>
            <a:endParaRPr kumimoji="1" lang="ja-JP" altLang="en-US"/>
          </a:p>
        </p:txBody>
      </p:sp>
    </p:spTree>
    <p:extLst>
      <p:ext uri="{BB962C8B-B14F-4D97-AF65-F5344CB8AC3E}">
        <p14:creationId xmlns:p14="http://schemas.microsoft.com/office/powerpoint/2010/main" val="2525290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本研究の目的は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MRI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を用いた大脳白質病変の診断方法を確立し</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さらに</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健診データとの検査項目との関連を調査することです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a:t>
            </a:fld>
            <a:endParaRPr kumimoji="1" lang="ja-JP" altLang="en-US"/>
          </a:p>
        </p:txBody>
      </p:sp>
    </p:spTree>
    <p:extLst>
      <p:ext uri="{BB962C8B-B14F-4D97-AF65-F5344CB8AC3E}">
        <p14:creationId xmlns:p14="http://schemas.microsoft.com/office/powerpoint/2010/main" val="1510054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本研究は，</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公立諏訪東京理科大学の倫理審査委員会の承認を得て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研究を実施しました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患者の個人情報保護のため</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第三者による連結不可能匿名化処理を行い</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データはパスワード付き記録媒体へ保存し</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研究以外でのデータの使用は行っておりません</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4</a:t>
            </a:fld>
            <a:endParaRPr kumimoji="1" lang="ja-JP" altLang="en-US"/>
          </a:p>
        </p:txBody>
      </p:sp>
    </p:spTree>
    <p:extLst>
      <p:ext uri="{BB962C8B-B14F-4D97-AF65-F5344CB8AC3E}">
        <p14:creationId xmlns:p14="http://schemas.microsoft.com/office/powerpoint/2010/main" val="1749100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本</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研究は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2016</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年</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月</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日から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2017</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年</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10</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月</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31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日までに</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一般社団法人</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巨樹の会</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新武雄病院で</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人間ドック脳ドックコースにおいて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頭部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MRI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検査と血液検査を受けた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1146</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名を対象としました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5</a:t>
            </a:fld>
            <a:endParaRPr kumimoji="1" lang="ja-JP" altLang="en-US"/>
          </a:p>
        </p:txBody>
      </p:sp>
    </p:spTree>
    <p:extLst>
      <p:ext uri="{BB962C8B-B14F-4D97-AF65-F5344CB8AC3E}">
        <p14:creationId xmlns:p14="http://schemas.microsoft.com/office/powerpoint/2010/main" val="2734941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新川らの先行研究で使用された</a:t>
            </a:r>
            <a:r>
              <a:rPr kumimoji="1" lang="en-US" altLang="ja-JP" dirty="0"/>
              <a:t>1904</a:t>
            </a:r>
            <a:r>
              <a:rPr kumimoji="1" lang="ja-JP" altLang="en-US" dirty="0"/>
              <a:t>件の生化学検査のデータのうち，</a:t>
            </a:r>
            <a:r>
              <a:rPr kumimoji="1" lang="en-US" altLang="ja-JP" dirty="0"/>
              <a:t>MRI</a:t>
            </a:r>
            <a:r>
              <a:rPr kumimoji="1" lang="ja-JP" altLang="en-US" dirty="0"/>
              <a:t>の画像データが存在しないデータを除外し，</a:t>
            </a:r>
            <a:r>
              <a:rPr kumimoji="1" lang="en-US" altLang="ja-JP" dirty="0"/>
              <a:t>1146</a:t>
            </a:r>
            <a:r>
              <a:rPr kumimoji="1" lang="ja-JP" altLang="en-US" dirty="0"/>
              <a:t>名を研究の対象としました．</a:t>
            </a:r>
            <a:endParaRPr kumimoji="1" lang="en-US" altLang="ja-JP" dirty="0"/>
          </a:p>
          <a:p>
            <a:r>
              <a:rPr kumimoji="1" lang="ja-JP" altLang="en-US" dirty="0"/>
              <a:t>グレード別の件数をみると，グレード</a:t>
            </a:r>
            <a:r>
              <a:rPr kumimoji="1" lang="en-US" altLang="ja-JP" dirty="0"/>
              <a:t>0</a:t>
            </a:r>
            <a:r>
              <a:rPr kumimoji="1" lang="ja-JP" altLang="en-US" dirty="0"/>
              <a:t>が</a:t>
            </a:r>
            <a:r>
              <a:rPr kumimoji="1" lang="en-US" altLang="ja-JP" dirty="0"/>
              <a:t>551</a:t>
            </a:r>
            <a:r>
              <a:rPr kumimoji="1" lang="ja-JP" altLang="en-US" dirty="0"/>
              <a:t>件で</a:t>
            </a:r>
            <a:r>
              <a:rPr kumimoji="1" lang="en-US" altLang="ja-JP" dirty="0"/>
              <a:t>44.1%</a:t>
            </a:r>
            <a:r>
              <a:rPr kumimoji="1" lang="ja-JP" altLang="en-US" dirty="0"/>
              <a:t>，グレード</a:t>
            </a:r>
            <a:r>
              <a:rPr kumimoji="1" lang="en-US" altLang="ja-JP" dirty="0"/>
              <a:t>1</a:t>
            </a:r>
            <a:r>
              <a:rPr kumimoji="1" lang="ja-JP" altLang="en-US" dirty="0"/>
              <a:t>が</a:t>
            </a:r>
            <a:r>
              <a:rPr kumimoji="1" lang="en-US" altLang="ja-JP" dirty="0"/>
              <a:t>441</a:t>
            </a:r>
            <a:r>
              <a:rPr kumimoji="1" lang="ja-JP" altLang="en-US" dirty="0"/>
              <a:t>件で</a:t>
            </a:r>
            <a:r>
              <a:rPr kumimoji="1" lang="en-US" altLang="ja-JP" dirty="0"/>
              <a:t>38.5%</a:t>
            </a:r>
            <a:r>
              <a:rPr kumimoji="1" lang="ja-JP" altLang="en-US" dirty="0"/>
              <a:t>，グレード</a:t>
            </a:r>
            <a:r>
              <a:rPr kumimoji="1" lang="en-US" altLang="ja-JP" dirty="0"/>
              <a:t>2</a:t>
            </a:r>
            <a:r>
              <a:rPr kumimoji="1" lang="ja-JP" altLang="en-US" dirty="0"/>
              <a:t>が</a:t>
            </a:r>
            <a:r>
              <a:rPr kumimoji="1" lang="en-US" altLang="ja-JP" dirty="0"/>
              <a:t>107</a:t>
            </a:r>
            <a:r>
              <a:rPr kumimoji="1" lang="ja-JP" altLang="en-US" dirty="0"/>
              <a:t>件で</a:t>
            </a:r>
            <a:r>
              <a:rPr kumimoji="1" lang="en-US" altLang="ja-JP" dirty="0"/>
              <a:t>9.3</a:t>
            </a:r>
            <a:r>
              <a:rPr kumimoji="1" lang="ja-JP" altLang="en-US" dirty="0"/>
              <a:t>％，グレード</a:t>
            </a:r>
            <a:r>
              <a:rPr kumimoji="1" lang="en-US" altLang="ja-JP" dirty="0"/>
              <a:t>3</a:t>
            </a:r>
            <a:r>
              <a:rPr kumimoji="1" lang="ja-JP" altLang="en-US" dirty="0"/>
              <a:t>が</a:t>
            </a:r>
            <a:r>
              <a:rPr kumimoji="1" lang="en-US" altLang="ja-JP" dirty="0"/>
              <a:t>39</a:t>
            </a:r>
            <a:r>
              <a:rPr kumimoji="1" lang="ja-JP" altLang="en-US" dirty="0"/>
              <a:t>件で</a:t>
            </a:r>
            <a:r>
              <a:rPr kumimoji="1" lang="en-US" altLang="ja-JP" dirty="0"/>
              <a:t>3.4</a:t>
            </a:r>
            <a:r>
              <a:rPr kumimoji="1" lang="ja-JP" altLang="en-US" dirty="0"/>
              <a:t>％，グレード</a:t>
            </a:r>
            <a:r>
              <a:rPr kumimoji="1" lang="en-US" altLang="ja-JP" dirty="0"/>
              <a:t>4</a:t>
            </a:r>
            <a:r>
              <a:rPr kumimoji="1" lang="ja-JP" altLang="en-US" dirty="0"/>
              <a:t>が</a:t>
            </a:r>
            <a:r>
              <a:rPr kumimoji="1" lang="en-US" altLang="ja-JP" dirty="0"/>
              <a:t>8</a:t>
            </a:r>
            <a:r>
              <a:rPr kumimoji="1" lang="ja-JP" altLang="en-US" dirty="0"/>
              <a:t>件で</a:t>
            </a:r>
            <a:r>
              <a:rPr kumimoji="1" lang="en-US" altLang="ja-JP" dirty="0"/>
              <a:t>0.7%</a:t>
            </a:r>
            <a:r>
              <a:rPr kumimoji="1" lang="ja-JP" altLang="en-US" dirty="0"/>
              <a:t>という分布となりました．</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6</a:t>
            </a:fld>
            <a:endParaRPr kumimoji="1" lang="ja-JP" altLang="en-US"/>
          </a:p>
        </p:txBody>
      </p:sp>
    </p:spTree>
    <p:extLst>
      <p:ext uri="{BB962C8B-B14F-4D97-AF65-F5344CB8AC3E}">
        <p14:creationId xmlns:p14="http://schemas.microsoft.com/office/powerpoint/2010/main" val="2866044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患者背景を表</a:t>
            </a:r>
            <a:r>
              <a:rPr kumimoji="1" lang="en-US" altLang="ja-JP" dirty="0"/>
              <a:t>1</a:t>
            </a:r>
            <a:r>
              <a:rPr kumimoji="1" lang="ja-JP" altLang="en-US" dirty="0"/>
              <a:t>に示します．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血液検査などの生化学検査項目の平均値や標準偏差と，問診票による投薬治療の有無や，飲酒・喫煙習慣などの割合などをグループ別に示しています．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全ての患者，</a:t>
            </a:r>
            <a:r>
              <a:rPr kumimoji="1" lang="en-US" altLang="ja-JP" dirty="0"/>
              <a:t>0</a:t>
            </a:r>
            <a:r>
              <a:rPr kumimoji="1" lang="ja-JP" altLang="en-US" dirty="0"/>
              <a:t>から</a:t>
            </a:r>
            <a:r>
              <a:rPr kumimoji="1" lang="en-US" altLang="ja-JP" dirty="0"/>
              <a:t>4</a:t>
            </a:r>
            <a:r>
              <a:rPr kumimoji="1" lang="ja-JP" altLang="en-US" dirty="0"/>
              <a:t>のグレード別，グレード</a:t>
            </a:r>
            <a:r>
              <a:rPr kumimoji="1" lang="en-US" altLang="ja-JP" dirty="0"/>
              <a:t>2-4</a:t>
            </a:r>
            <a:r>
              <a:rPr kumimoji="1" lang="ja-JP" altLang="en-US" dirty="0"/>
              <a:t>の</a:t>
            </a:r>
            <a:r>
              <a:rPr kumimoji="1" lang="en-US" altLang="ja-JP" dirty="0"/>
              <a:t>7</a:t>
            </a:r>
            <a:r>
              <a:rPr kumimoji="1" lang="ja-JP" altLang="en-US" dirty="0"/>
              <a:t>群に分けています．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グレード別に数値をみたとき，グレードが上がるほど数値が上昇している項目は，</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PS</a:t>
            </a:r>
            <a:r>
              <a:rPr kumimoji="1" lang="ja-JP" altLang="en-US" dirty="0"/>
              <a:t>　頸動脈プラークスコア</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年齢</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糖尿病の指標として用いられる</a:t>
            </a:r>
            <a:r>
              <a:rPr kumimoji="1" lang="en-US" altLang="ja-JP" dirty="0"/>
              <a:t>HbA1c</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SBP</a:t>
            </a:r>
            <a:r>
              <a:rPr kumimoji="1" lang="ja-JP" altLang="en-US" dirty="0"/>
              <a:t>　収縮期血圧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DBP</a:t>
            </a:r>
            <a:r>
              <a:rPr kumimoji="1" lang="ja-JP" altLang="en-US" dirty="0"/>
              <a:t>　拡張期血圧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メタボリックシンドローム</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降圧剤の使用</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高コレステロール薬の使用</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の</a:t>
            </a:r>
            <a:r>
              <a:rPr kumimoji="1" lang="en-US" altLang="ja-JP" dirty="0"/>
              <a:t>8</a:t>
            </a:r>
            <a:r>
              <a:rPr kumimoji="1" lang="ja-JP" altLang="en-US" dirty="0"/>
              <a:t>項目でした．</a:t>
            </a:r>
            <a:endParaRPr kumimoji="1" lang="en-US" altLang="ja-JP"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7</a:t>
            </a:fld>
            <a:endParaRPr kumimoji="1" lang="ja-JP" altLang="en-US"/>
          </a:p>
        </p:txBody>
      </p:sp>
    </p:spTree>
    <p:extLst>
      <p:ext uri="{BB962C8B-B14F-4D97-AF65-F5344CB8AC3E}">
        <p14:creationId xmlns:p14="http://schemas.microsoft.com/office/powerpoint/2010/main" val="717156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大脳白質病変は，病変が見られないグレード</a:t>
            </a:r>
            <a:r>
              <a:rPr kumimoji="1" lang="en-US" altLang="ja-JP" sz="1200" dirty="0"/>
              <a:t>0</a:t>
            </a:r>
            <a:r>
              <a:rPr kumimoji="1" lang="ja-JP" altLang="en-US" sz="1200" dirty="0"/>
              <a:t>から，最も病変が多く見られるグレード</a:t>
            </a:r>
            <a:r>
              <a:rPr kumimoji="1" lang="en-US" altLang="ja-JP" sz="1200" dirty="0"/>
              <a:t>4</a:t>
            </a:r>
            <a:r>
              <a:rPr kumimoji="1" lang="ja-JP" altLang="en-US" sz="1200" dirty="0"/>
              <a:t>までの</a:t>
            </a:r>
            <a:r>
              <a:rPr kumimoji="1" lang="en-US" altLang="ja-JP" sz="1200" dirty="0"/>
              <a:t>5</a:t>
            </a:r>
            <a:r>
              <a:rPr kumimoji="1" lang="ja-JP" altLang="en-US" sz="1200" dirty="0"/>
              <a:t>段階で，</a:t>
            </a:r>
            <a:r>
              <a:rPr kumimoji="1" lang="en-US" altLang="ja-JP" sz="1200" dirty="0"/>
              <a:t>MRI</a:t>
            </a:r>
            <a:r>
              <a:rPr kumimoji="1" lang="ja-JP" altLang="en-US" sz="1200" dirty="0"/>
              <a:t>画像を用いて評価が行われます．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図</a:t>
            </a:r>
            <a:r>
              <a:rPr kumimoji="1" lang="en-US" altLang="ja-JP" sz="1200" dirty="0"/>
              <a:t>2</a:t>
            </a:r>
            <a:r>
              <a:rPr kumimoji="1" lang="ja-JP" altLang="en-US" sz="1200" dirty="0"/>
              <a:t>に大脳白質病変のある患者と無い患者の画像を示します．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上段がグレード</a:t>
            </a:r>
            <a:r>
              <a:rPr kumimoji="1" lang="en-US" altLang="ja-JP" sz="1200" dirty="0"/>
              <a:t>4</a:t>
            </a:r>
            <a:r>
              <a:rPr kumimoji="1" lang="ja-JP" altLang="en-US" sz="1200" dirty="0"/>
              <a:t>，下段がグレード</a:t>
            </a:r>
            <a:r>
              <a:rPr kumimoji="1" lang="en-US" altLang="ja-JP" sz="1200" dirty="0"/>
              <a:t>0</a:t>
            </a:r>
            <a:r>
              <a:rPr kumimoji="1" lang="ja-JP" altLang="en-US" sz="1200" dirty="0"/>
              <a:t>となります．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上段の左から</a:t>
            </a:r>
            <a:r>
              <a:rPr kumimoji="1" lang="en-US" altLang="ja-JP" sz="1200" dirty="0"/>
              <a:t>3</a:t>
            </a:r>
            <a:r>
              <a:rPr kumimoji="1" lang="ja-JP" altLang="en-US" sz="1200" dirty="0"/>
              <a:t>枚目と</a:t>
            </a:r>
            <a:r>
              <a:rPr kumimoji="1" lang="en-US" altLang="ja-JP" sz="1200" dirty="0"/>
              <a:t>4</a:t>
            </a:r>
            <a:r>
              <a:rPr kumimoji="1" lang="ja-JP" altLang="en-US" sz="1200" dirty="0"/>
              <a:t>枚目の，左脳と右脳の中央部に見られる白く描画されている領域と，上段の左から</a:t>
            </a:r>
            <a:r>
              <a:rPr kumimoji="1" lang="en-US" altLang="ja-JP" sz="1200" dirty="0"/>
              <a:t>5</a:t>
            </a:r>
            <a:r>
              <a:rPr kumimoji="1" lang="ja-JP" altLang="en-US" sz="1200" dirty="0"/>
              <a:t>枚目に見られる白い斑点が大脳白質病変です．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この白い領域の面積が大きいほど，高いグレードとして評価されます．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FL</a:t>
            </a:r>
            <a:r>
              <a:rPr kumimoji="1" lang="ja-JP" altLang="en-US" sz="1200" dirty="0"/>
              <a:t> </a:t>
            </a:r>
            <a:r>
              <a:rPr kumimoji="1" lang="en-US" altLang="ja-JP" sz="1200" dirty="0"/>
              <a:t>105624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FL</a:t>
            </a:r>
            <a:r>
              <a:rPr kumimoji="1" lang="ja-JP" altLang="en-US" sz="1200" dirty="0"/>
              <a:t> </a:t>
            </a:r>
            <a:r>
              <a:rPr kumimoji="1" lang="en-US" altLang="ja-JP" sz="1200" dirty="0"/>
              <a:t>103737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a</a:t>
            </a:r>
            <a:r>
              <a:rPr kumimoji="1" lang="en-US" altLang="ja-JP" sz="1200" dirty="0"/>
              <a:t>xial</a:t>
            </a:r>
            <a:r>
              <a:rPr kumimoji="1" lang="ja-JP" altLang="en-US" sz="1200" dirty="0"/>
              <a:t> </a:t>
            </a:r>
            <a:r>
              <a:rPr kumimoji="1" lang="en-US" altLang="ja-JP" sz="1200" dirty="0"/>
              <a:t>=</a:t>
            </a:r>
            <a:r>
              <a:rPr kumimoji="1" lang="ja-JP" altLang="en-US" sz="1200" dirty="0"/>
              <a:t> </a:t>
            </a:r>
            <a:r>
              <a:rPr kumimoji="1" lang="en-US" altLang="ja-JP" sz="1200" dirty="0"/>
              <a:t>6, 10, 14, 16, 18, 21</a:t>
            </a:r>
            <a:r>
              <a:rPr kumimoji="1" lang="ja-JP" altLang="en-US" sz="1200" dirty="0"/>
              <a:t>　　</a:t>
            </a:r>
            <a:endParaRPr lang="en-US" altLang="ja-JP" sz="1200"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8</a:t>
            </a:fld>
            <a:endParaRPr kumimoji="1" lang="ja-JP" altLang="en-US"/>
          </a:p>
        </p:txBody>
      </p:sp>
    </p:spTree>
    <p:extLst>
      <p:ext uri="{BB962C8B-B14F-4D97-AF65-F5344CB8AC3E}">
        <p14:creationId xmlns:p14="http://schemas.microsoft.com/office/powerpoint/2010/main" val="101616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bg1"/>
                </a:solidFill>
              </a:rPr>
              <a:t>本研究で使用した</a:t>
            </a:r>
            <a:r>
              <a:rPr kumimoji="1" lang="en-US" altLang="ja-JP" sz="1200" dirty="0">
                <a:solidFill>
                  <a:schemeClr val="bg1"/>
                </a:solidFill>
              </a:rPr>
              <a:t>MRI</a:t>
            </a:r>
            <a:r>
              <a:rPr kumimoji="1" lang="ja-JP" altLang="en-US" sz="1200" dirty="0">
                <a:solidFill>
                  <a:schemeClr val="bg1"/>
                </a:solidFill>
              </a:rPr>
              <a:t>の撮影方法には，</a:t>
            </a:r>
            <a:r>
              <a:rPr kumimoji="1" lang="en-US" altLang="ja-JP" sz="1200" dirty="0">
                <a:solidFill>
                  <a:schemeClr val="bg1"/>
                </a:solidFill>
              </a:rPr>
              <a:t>T1</a:t>
            </a:r>
            <a:r>
              <a:rPr kumimoji="1" lang="ja-JP" altLang="en-US" sz="1200" dirty="0">
                <a:solidFill>
                  <a:schemeClr val="bg1"/>
                </a:solidFill>
              </a:rPr>
              <a:t>強調画像，</a:t>
            </a:r>
            <a:r>
              <a:rPr kumimoji="1" lang="en-US" altLang="ja-JP" sz="1200" dirty="0">
                <a:solidFill>
                  <a:schemeClr val="bg1"/>
                </a:solidFill>
              </a:rPr>
              <a:t>T2</a:t>
            </a:r>
            <a:r>
              <a:rPr kumimoji="1" lang="ja-JP" altLang="en-US" sz="1200" dirty="0">
                <a:solidFill>
                  <a:schemeClr val="bg1"/>
                </a:solidFill>
              </a:rPr>
              <a:t>強調画像，</a:t>
            </a:r>
            <a:r>
              <a:rPr kumimoji="1" lang="en-US" altLang="ja-JP" sz="1200" dirty="0">
                <a:solidFill>
                  <a:schemeClr val="bg1"/>
                </a:solidFill>
              </a:rPr>
              <a:t>FLAIR</a:t>
            </a:r>
            <a:r>
              <a:rPr kumimoji="1" lang="ja-JP" altLang="en-US" sz="1200" dirty="0">
                <a:solidFill>
                  <a:schemeClr val="bg1"/>
                </a:solidFill>
              </a:rPr>
              <a:t>画像の</a:t>
            </a:r>
            <a:r>
              <a:rPr kumimoji="1" lang="en-US" altLang="ja-JP" sz="1200" dirty="0">
                <a:solidFill>
                  <a:schemeClr val="bg1"/>
                </a:solidFill>
              </a:rPr>
              <a:t>3</a:t>
            </a:r>
            <a:r>
              <a:rPr kumimoji="1" lang="ja-JP" altLang="en-US" sz="1200" dirty="0">
                <a:solidFill>
                  <a:schemeClr val="bg1"/>
                </a:solidFill>
              </a:rPr>
              <a:t>種類があります．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bg1"/>
                </a:solidFill>
              </a:rPr>
              <a:t>図</a:t>
            </a:r>
            <a:r>
              <a:rPr kumimoji="1" lang="en-US" altLang="ja-JP" sz="1200" dirty="0">
                <a:solidFill>
                  <a:schemeClr val="bg1"/>
                </a:solidFill>
              </a:rPr>
              <a:t>3</a:t>
            </a:r>
            <a:r>
              <a:rPr kumimoji="1" lang="ja-JP" altLang="en-US" sz="1200" dirty="0">
                <a:solidFill>
                  <a:schemeClr val="bg1"/>
                </a:solidFill>
              </a:rPr>
              <a:t>に撮影方法別の</a:t>
            </a:r>
            <a:r>
              <a:rPr kumimoji="1" lang="en-US" altLang="ja-JP" sz="1200" dirty="0">
                <a:solidFill>
                  <a:schemeClr val="bg1"/>
                </a:solidFill>
              </a:rPr>
              <a:t>MRI</a:t>
            </a:r>
            <a:r>
              <a:rPr kumimoji="1" lang="ja-JP" altLang="en-US" sz="1200" dirty="0">
                <a:solidFill>
                  <a:schemeClr val="bg1"/>
                </a:solidFill>
              </a:rPr>
              <a:t>画像を示します．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bg1"/>
                </a:solidFill>
              </a:rPr>
              <a:t>いずれの画像も同じ患者，同じ部分の画像で，グレードは</a:t>
            </a:r>
            <a:r>
              <a:rPr kumimoji="1" lang="en-US" altLang="ja-JP" sz="1200" dirty="0">
                <a:solidFill>
                  <a:schemeClr val="bg1"/>
                </a:solidFill>
              </a:rPr>
              <a:t>4</a:t>
            </a:r>
            <a:r>
              <a:rPr kumimoji="1" lang="ja-JP" altLang="en-US" sz="1200" dirty="0">
                <a:solidFill>
                  <a:schemeClr val="bg1"/>
                </a:solidFill>
              </a:rPr>
              <a:t>です．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bg1"/>
                </a:solidFill>
              </a:rPr>
              <a:t>T2</a:t>
            </a:r>
            <a:r>
              <a:rPr kumimoji="1" lang="ja-JP" altLang="en-US" sz="1200" dirty="0">
                <a:solidFill>
                  <a:schemeClr val="bg1"/>
                </a:solidFill>
              </a:rPr>
              <a:t>強調画像は，水を高信号として白く描写し，</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bg1"/>
                </a:solidFill>
              </a:rPr>
              <a:t>T1</a:t>
            </a:r>
            <a:r>
              <a:rPr kumimoji="1" lang="ja-JP" altLang="en-US" sz="1200" dirty="0">
                <a:solidFill>
                  <a:schemeClr val="bg1"/>
                </a:solidFill>
              </a:rPr>
              <a:t>強調画像は，</a:t>
            </a:r>
            <a:r>
              <a:rPr kumimoji="1" lang="en-US" altLang="ja-JP" sz="1200" dirty="0">
                <a:solidFill>
                  <a:schemeClr val="bg1"/>
                </a:solidFill>
              </a:rPr>
              <a:t>T2</a:t>
            </a:r>
            <a:r>
              <a:rPr kumimoji="1" lang="ja-JP" altLang="en-US" sz="1200" dirty="0">
                <a:solidFill>
                  <a:schemeClr val="bg1"/>
                </a:solidFill>
              </a:rPr>
              <a:t>強調画像の白黒を反転させたように写ります．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bg1"/>
                </a:solidFill>
              </a:rPr>
              <a:t>FLAIR</a:t>
            </a:r>
            <a:r>
              <a:rPr kumimoji="1" lang="ja-JP" altLang="en-US" sz="1200" dirty="0">
                <a:solidFill>
                  <a:schemeClr val="bg1"/>
                </a:solidFill>
              </a:rPr>
              <a:t>画像は，</a:t>
            </a:r>
            <a:r>
              <a:rPr kumimoji="1" lang="en-US" altLang="ja-JP" sz="1200" dirty="0">
                <a:solidFill>
                  <a:schemeClr val="bg1"/>
                </a:solidFill>
              </a:rPr>
              <a:t>T2</a:t>
            </a:r>
            <a:r>
              <a:rPr kumimoji="1" lang="ja-JP" altLang="en-US" sz="1200" dirty="0">
                <a:solidFill>
                  <a:schemeClr val="bg1"/>
                </a:solidFill>
              </a:rPr>
              <a:t>強調画像における，髄液などの正常な水を低信号として黒く描写した画像であり，脳室周囲の病巣などを判断する際に有用な撮影方法です．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bg1"/>
                </a:solidFill>
              </a:rPr>
              <a:t>目視においては，</a:t>
            </a:r>
            <a:r>
              <a:rPr kumimoji="1" lang="en-US" altLang="ja-JP" sz="1200" dirty="0">
                <a:solidFill>
                  <a:schemeClr val="bg1"/>
                </a:solidFill>
              </a:rPr>
              <a:t>FLAIR</a:t>
            </a:r>
            <a:r>
              <a:rPr kumimoji="1" lang="ja-JP" altLang="en-US" sz="1200" dirty="0">
                <a:solidFill>
                  <a:schemeClr val="bg1"/>
                </a:solidFill>
              </a:rPr>
              <a:t>画像で最もはっきり病変を見ることができ，</a:t>
            </a:r>
            <a:r>
              <a:rPr kumimoji="1" lang="en-US" altLang="ja-JP" sz="1200" dirty="0">
                <a:solidFill>
                  <a:schemeClr val="bg1"/>
                </a:solidFill>
              </a:rPr>
              <a:t>T2</a:t>
            </a:r>
            <a:r>
              <a:rPr kumimoji="1" lang="ja-JP" altLang="en-US" sz="1200" dirty="0">
                <a:solidFill>
                  <a:schemeClr val="bg1"/>
                </a:solidFill>
              </a:rPr>
              <a:t>強調画像もほぼ同程度に病変が見られます．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bg1"/>
                </a:solidFill>
              </a:rPr>
              <a:t>T1</a:t>
            </a:r>
            <a:r>
              <a:rPr kumimoji="1" lang="ja-JP" altLang="en-US" sz="1200" dirty="0">
                <a:solidFill>
                  <a:schemeClr val="bg1"/>
                </a:solidFill>
              </a:rPr>
              <a:t>強調画像では，病変部分が周囲よりも濃い灰色として描画されています．</a:t>
            </a: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bg1"/>
                </a:solidFill>
              </a:rPr>
              <a:t>T1_105624_2016.07.30_11_16-0060.jpg</a:t>
            </a:r>
            <a:endParaRPr kumimoji="1" lang="ja-JP" altLang="en-US" sz="1200" dirty="0">
              <a:solidFill>
                <a:schemeClr val="bg1"/>
              </a:solidFill>
            </a:endParaRPr>
          </a:p>
          <a:p>
            <a:r>
              <a:rPr kumimoji="1" lang="en-US" altLang="ja-JP" sz="1200" dirty="0">
                <a:solidFill>
                  <a:schemeClr val="bg1"/>
                </a:solidFill>
              </a:rPr>
              <a:t>T2_105624_2016.07.30_9_16-0016.jpg</a:t>
            </a:r>
          </a:p>
          <a:p>
            <a:r>
              <a:rPr kumimoji="1" lang="en-US" altLang="ja-JP" sz="1200" dirty="0">
                <a:solidFill>
                  <a:schemeClr val="bg1"/>
                </a:solidFill>
              </a:rPr>
              <a:t>FL_105624_2016.07.30_10_16-0038.jpg</a:t>
            </a:r>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9</a:t>
            </a:fld>
            <a:endParaRPr kumimoji="1" lang="ja-JP" altLang="en-US"/>
          </a:p>
        </p:txBody>
      </p:sp>
    </p:spTree>
    <p:extLst>
      <p:ext uri="{BB962C8B-B14F-4D97-AF65-F5344CB8AC3E}">
        <p14:creationId xmlns:p14="http://schemas.microsoft.com/office/powerpoint/2010/main" val="1016164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アキシャルとは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一般に</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CT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や</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MRI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の撮影において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人が直立した際に横断する方向の軸位断をいいます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本研究で用いた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MRI</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一人の患者につき</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25</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枚程度の横断画像があり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眼球側を</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として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昇順</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に数字を割り当てて実験を行いました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25</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枚程度ある画像のうち，どの部位を取り出して，畳み込みニューラルネットワークの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学習と評価に用い</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たかを表し，</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は，学習と評価に用いた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の範囲の広さを表します．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例えば</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に</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赤枠で示した範囲</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のみを取り出し</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た時</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16</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5</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すこととし</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10</a:t>
            </a:fld>
            <a:endParaRPr kumimoji="1" lang="ja-JP" altLang="en-US"/>
          </a:p>
        </p:txBody>
      </p:sp>
    </p:spTree>
    <p:extLst>
      <p:ext uri="{BB962C8B-B14F-4D97-AF65-F5344CB8AC3E}">
        <p14:creationId xmlns:p14="http://schemas.microsoft.com/office/powerpoint/2010/main" val="278572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研究の方法についてです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畳み込みニューラルネットワークを用いて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アキシャルの取り方</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や，</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MRI</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画像の撮影方法の違い</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による</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大脳白質病変のグレード判別精度の変化を検証しました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検査項目との関連調査として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大脳白質病変のリスク因子である高血圧の傾向を</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共起ネットワーク図で示し</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大脳白質病変の進行度との関連を調査しました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11</a:t>
            </a:fld>
            <a:endParaRPr kumimoji="1" lang="ja-JP" altLang="en-US"/>
          </a:p>
        </p:txBody>
      </p:sp>
    </p:spTree>
    <p:extLst>
      <p:ext uri="{BB962C8B-B14F-4D97-AF65-F5344CB8AC3E}">
        <p14:creationId xmlns:p14="http://schemas.microsoft.com/office/powerpoint/2010/main" val="3960549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の大脳白質病変の有無で示したように，</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脳室</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周囲に見られますが</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，眼球寄りや</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頭頂部寄りの部分などでは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，高いグレード</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の大脳白質病変を有する患者でも</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病変は現れません</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そのため</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畳み込みニューラルネットワークの学習データに病変がみられない範囲の画像を用いると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精度に影響が出る懸念があります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そこで</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学習と評価に用いる</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アキシャルの位置と数を変更しながら学習と評価を行いました．</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また，</a:t>
            </a:r>
            <a:r>
              <a:rPr kumimoji="1" lang="ja-JP" altLang="en-US" sz="4000" dirty="0"/>
              <a:t>脳ドックのガイドライン</a:t>
            </a:r>
            <a:r>
              <a:rPr kumimoji="1" lang="en-US" altLang="ja-JP" sz="4000" dirty="0"/>
              <a:t>2019</a:t>
            </a:r>
            <a:r>
              <a:rPr kumimoji="1" lang="ja-JP" altLang="en-US" sz="4000" dirty="0"/>
              <a:t>では，</a:t>
            </a:r>
            <a:r>
              <a:rPr kumimoji="1" lang="en-US" altLang="ja-JP" sz="4000" dirty="0"/>
              <a:t>MRI</a:t>
            </a:r>
            <a:r>
              <a:rPr kumimoji="1" lang="ja-JP" altLang="en-US" sz="4000" dirty="0"/>
              <a:t>画像診断において，</a:t>
            </a:r>
            <a:r>
              <a:rPr kumimoji="1" lang="en-US" altLang="ja-JP" sz="4000" dirty="0"/>
              <a:t>T1</a:t>
            </a:r>
            <a:r>
              <a:rPr kumimoji="1" lang="ja-JP" altLang="en-US" sz="4000" dirty="0"/>
              <a:t>強調画像，</a:t>
            </a:r>
            <a:r>
              <a:rPr kumimoji="1" lang="en-US" altLang="ja-JP" sz="4000" dirty="0"/>
              <a:t>T2</a:t>
            </a:r>
            <a:r>
              <a:rPr kumimoji="1" lang="ja-JP" altLang="en-US" sz="4000" dirty="0"/>
              <a:t>強調画像，ならびに</a:t>
            </a:r>
            <a:r>
              <a:rPr kumimoji="1" lang="en-US" altLang="ja-JP" sz="4000" dirty="0"/>
              <a:t>FLAIR</a:t>
            </a:r>
            <a:r>
              <a:rPr kumimoji="1" lang="ja-JP" altLang="en-US" sz="4000" dirty="0"/>
              <a:t>画像またはプロトン密度強調画像の３種併用を必須としているため，</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学習と評価に用いる画像</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組み合わせを変更して実験を行いました．</a:t>
            </a:r>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12</a:t>
            </a:fld>
            <a:endParaRPr kumimoji="1" lang="ja-JP" altLang="en-US"/>
          </a:p>
        </p:txBody>
      </p:sp>
    </p:spTree>
    <p:extLst>
      <p:ext uri="{BB962C8B-B14F-4D97-AF65-F5344CB8AC3E}">
        <p14:creationId xmlns:p14="http://schemas.microsoft.com/office/powerpoint/2010/main" val="1146456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学習に用いた画像の枚数をグレード別に表</a:t>
            </a:r>
            <a:r>
              <a:rPr kumimoji="1" lang="en-US" altLang="ja-JP" dirty="0"/>
              <a:t>2</a:t>
            </a:r>
            <a:r>
              <a:rPr kumimoji="1" lang="ja-JP" altLang="en-US" dirty="0"/>
              <a:t>に示します．</a:t>
            </a:r>
            <a:endParaRPr kumimoji="1" lang="en-US" altLang="ja-JP" dirty="0"/>
          </a:p>
          <a:p>
            <a:r>
              <a:rPr kumimoji="1" lang="ja-JP" altLang="en-US" dirty="0"/>
              <a:t>画像の枚数は，患者背景に示したグレード別の人数に依存するため，グレードが上がるにつれ，極端に画像の枚数が減少しています．</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13</a:t>
            </a:fld>
            <a:endParaRPr kumimoji="1" lang="ja-JP" altLang="en-US"/>
          </a:p>
        </p:txBody>
      </p:sp>
    </p:spTree>
    <p:extLst>
      <p:ext uri="{BB962C8B-B14F-4D97-AF65-F5344CB8AC3E}">
        <p14:creationId xmlns:p14="http://schemas.microsoft.com/office/powerpoint/2010/main" val="702605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健診データとの関連性調査では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糖尿病</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脂質異常症</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肥満と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高血圧を</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重症度に応じて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7</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項目に分類した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10</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項目</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と，大脳白質病変のグレード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0</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の計</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15</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項目を用い，</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共起ネットワーク図で可視化しました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14</a:t>
            </a:fld>
            <a:endParaRPr kumimoji="1" lang="ja-JP" altLang="en-US"/>
          </a:p>
        </p:txBody>
      </p:sp>
    </p:spTree>
    <p:extLst>
      <p:ext uri="{BB962C8B-B14F-4D97-AF65-F5344CB8AC3E}">
        <p14:creationId xmlns:p14="http://schemas.microsoft.com/office/powerpoint/2010/main" val="2452270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共起ネットワーク図の作成では，</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患者一人につき</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糖尿病</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脂質異常症</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肥満</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高血圧</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，大脳白質病変のグレードの</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15</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項目のうち</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罹患している病名</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単語</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のみ</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をテキスト化します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すべての患者について文を作成し</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，それぞれの文ごとに，同じ単語が出現する数や，特定の組み合わせの単語の出現率の多さに応じて，共起関係が形成されます．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罹患している患者が多い疾患</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ほど</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共起関係が形成され</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やすく，</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ノード</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の大きさと</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エッジ</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距離</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の近さによって</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表現されます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15</a:t>
            </a:fld>
            <a:endParaRPr kumimoji="1" lang="ja-JP" altLang="en-US"/>
          </a:p>
        </p:txBody>
      </p:sp>
    </p:spTree>
    <p:extLst>
      <p:ext uri="{BB962C8B-B14F-4D97-AF65-F5344CB8AC3E}">
        <p14:creationId xmlns:p14="http://schemas.microsoft.com/office/powerpoint/2010/main" val="802508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まず</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モデルに入力する画像サイズを変化させたときの</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の変化を調べました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テストデータにおいて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各画像のグレードを正しく判別した割合を表しています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5</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画像サイズを変更したときの判別性能の変化を示します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横軸が入力した画像の縦横のピクセル数で</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縦軸が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になります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．最も高い性能を示したのは，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80</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ピクセルのときで，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accuracy</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0.8918</a:t>
            </a:r>
            <a:r>
              <a:rPr kumimoji="1"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でした．</a:t>
            </a:r>
            <a:endParaRPr kumimoji="1"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80</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ピクセルを頂点として画像サイズが増加，減少すると，判別性能はなだらかに減少していく傾向が見られました．</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以降の実験では，画像サイズはすべて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80</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としました．</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16</a:t>
            </a:fld>
            <a:endParaRPr kumimoji="1" lang="ja-JP" altLang="en-US"/>
          </a:p>
        </p:txBody>
      </p:sp>
    </p:spTree>
    <p:extLst>
      <p:ext uri="{BB962C8B-B14F-4D97-AF65-F5344CB8AC3E}">
        <p14:creationId xmlns:p14="http://schemas.microsoft.com/office/powerpoint/2010/main" val="3680789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続いて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学習と評価に使用したアキシャルを変化させたときの</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テストデータにおける予測精度の変化を図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6</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6</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の中から，同じ</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のうち，</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最も高い</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の値を示した時の</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結果</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を抜粋したものを表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3</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6</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の横軸は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用いたアキシャルの最初の値を表し</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縦軸は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を表します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凡例は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，すなわち，用いた</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アキシャルの</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範囲の広さ</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を表しています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例えば</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6</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の緑色で示した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range=4</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において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start axial</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のとき</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，学習と評価に</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用いたアキシャルは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3</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であることを表します．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9</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まで実験を行いました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17</a:t>
            </a:fld>
            <a:endParaRPr kumimoji="1" lang="ja-JP" altLang="en-US"/>
          </a:p>
        </p:txBody>
      </p:sp>
    </p:spTree>
    <p:extLst>
      <p:ext uri="{BB962C8B-B14F-4D97-AF65-F5344CB8AC3E}">
        <p14:creationId xmlns:p14="http://schemas.microsoft.com/office/powerpoint/2010/main" val="3244179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こちらは先程の図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の再掲になりますが，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で</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start axial</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のとき，</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4</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の範囲のみを取り出して学習と評価を行い，</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以降，</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5</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3</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6</a:t>
            </a:r>
          </a:p>
          <a:p>
            <a:pPr indent="133350"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といったように，範囲をスライドしていることを表します．</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18</a:t>
            </a:fld>
            <a:endParaRPr kumimoji="1" lang="ja-JP" altLang="en-US"/>
          </a:p>
        </p:txBody>
      </p:sp>
    </p:spTree>
    <p:extLst>
      <p:ext uri="{BB962C8B-B14F-4D97-AF65-F5344CB8AC3E}">
        <p14:creationId xmlns:p14="http://schemas.microsoft.com/office/powerpoint/2010/main" val="1499286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こちらは，</a:t>
            </a:r>
            <a:r>
              <a:rPr kumimoji="1" lang="en-US" altLang="ja-JP" dirty="0"/>
              <a:t>range</a:t>
            </a:r>
            <a:r>
              <a:rPr kumimoji="1" lang="ja-JP" altLang="en-US" dirty="0"/>
              <a:t>が</a:t>
            </a:r>
            <a:r>
              <a:rPr kumimoji="1" lang="en-US" altLang="ja-JP" dirty="0"/>
              <a:t>4</a:t>
            </a:r>
            <a:r>
              <a:rPr kumimoji="1" lang="ja-JP" altLang="en-US" dirty="0"/>
              <a:t>で，</a:t>
            </a:r>
            <a:r>
              <a:rPr kumimoji="1" lang="en-US" altLang="ja-JP" dirty="0"/>
              <a:t>axial</a:t>
            </a:r>
            <a:r>
              <a:rPr kumimoji="1" lang="ja-JP" altLang="en-US" dirty="0"/>
              <a:t>の範囲を変えた時の結果を取り出したもので，使用した</a:t>
            </a:r>
            <a:r>
              <a:rPr kumimoji="1" lang="en-US" altLang="ja-JP" dirty="0"/>
              <a:t>axial</a:t>
            </a:r>
            <a:r>
              <a:rPr kumimoji="1" lang="ja-JP" altLang="en-US" dirty="0"/>
              <a:t>と，そのときの</a:t>
            </a:r>
            <a:r>
              <a:rPr kumimoji="1" lang="en-US" altLang="ja-JP" dirty="0"/>
              <a:t>test</a:t>
            </a:r>
            <a:r>
              <a:rPr kumimoji="1" lang="ja-JP" altLang="en-US" dirty="0"/>
              <a:t> </a:t>
            </a:r>
            <a:r>
              <a:rPr kumimoji="1" lang="en-US" altLang="ja-JP" dirty="0"/>
              <a:t>accuracy</a:t>
            </a:r>
            <a:r>
              <a:rPr kumimoji="1" lang="ja-JP" altLang="en-US" dirty="0"/>
              <a:t>の値について正確に表現したものがこちらになりますが，</a:t>
            </a:r>
            <a:endParaRPr kumimoji="1" lang="en-US" altLang="ja-JP" dirty="0"/>
          </a:p>
          <a:p>
            <a:r>
              <a:rPr kumimoji="1" lang="en-US" altLang="ja-JP" dirty="0"/>
              <a:t>range</a:t>
            </a:r>
            <a:r>
              <a:rPr kumimoji="1" lang="ja-JP" altLang="en-US" dirty="0"/>
              <a:t>を変えた時の結果を重ねると図表が見づらくなってしまうので，各実験の一番小さい</a:t>
            </a:r>
            <a:r>
              <a:rPr kumimoji="1" lang="en-US" altLang="ja-JP" dirty="0"/>
              <a:t>axial</a:t>
            </a:r>
            <a:r>
              <a:rPr kumimoji="1" lang="ja-JP" altLang="en-US"/>
              <a:t>，すなわち、各実験の一番左の点のみ</a:t>
            </a:r>
            <a:r>
              <a:rPr kumimoji="1" lang="ja-JP" altLang="en-US" dirty="0"/>
              <a:t>を取り出して，線グラフにしたものが図</a:t>
            </a:r>
            <a:r>
              <a:rPr kumimoji="1" lang="en-US" altLang="ja-JP" dirty="0"/>
              <a:t>6</a:t>
            </a:r>
            <a:r>
              <a:rPr kumimoji="1" lang="ja-JP" altLang="en-US" dirty="0"/>
              <a:t>になります．</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19</a:t>
            </a:fld>
            <a:endParaRPr kumimoji="1" lang="ja-JP" altLang="en-US"/>
          </a:p>
        </p:txBody>
      </p:sp>
    </p:spTree>
    <p:extLst>
      <p:ext uri="{BB962C8B-B14F-4D97-AF65-F5344CB8AC3E}">
        <p14:creationId xmlns:p14="http://schemas.microsoft.com/office/powerpoint/2010/main" val="1444958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6</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を見ると，</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用いたアキシャルの数に関わらず</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start axial</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10</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付近までは緩やかに判別性能が向上し</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付近からある程度傾きを保ったまま判別性能が低下しました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3</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を見ると</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最も高い判別性能を示したのは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9</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15</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が</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7</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のときで</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accuracy</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0.8958</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高い判別性能を示</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した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7</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付近</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であり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はおおむね</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9</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15</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であるという結果を得ました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の値が低かった時の</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range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や</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9</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など</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用いた</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範囲</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が極端に</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広い</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場合や</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狭い</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場合でした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20</a:t>
            </a:fld>
            <a:endParaRPr kumimoji="1" lang="ja-JP" altLang="en-US"/>
          </a:p>
        </p:txBody>
      </p:sp>
    </p:spTree>
    <p:extLst>
      <p:ext uri="{BB962C8B-B14F-4D97-AF65-F5344CB8AC3E}">
        <p14:creationId xmlns:p14="http://schemas.microsoft.com/office/powerpoint/2010/main" val="945828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　学習</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評価に用いる画像を</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組み合わせを変えたときの</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 </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accuracy</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の値を図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7</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に示します．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いずれの実験においても</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axial</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9</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から</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15</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としました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最も高い判別性能を示した撮影方法は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FLAIR</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画像と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T1</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強調画像を用いたとき</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で</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test accuracy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0.9209</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でした．</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21</a:t>
            </a:fld>
            <a:endParaRPr kumimoji="1" lang="ja-JP" altLang="en-US"/>
          </a:p>
        </p:txBody>
      </p:sp>
    </p:spTree>
    <p:extLst>
      <p:ext uri="{BB962C8B-B14F-4D97-AF65-F5344CB8AC3E}">
        <p14:creationId xmlns:p14="http://schemas.microsoft.com/office/powerpoint/2010/main" val="1888842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最も高い判別性能を示した時の学習曲線を図</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8</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に示します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左の図は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学習の経過に伴う</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精度</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の変化を示しており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横軸がエポック数</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縦軸が精度を表します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右の図は</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学習の経過に伴う損失の変化を示しており</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横軸がエポック数</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縦軸が損失を表します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いずれの図において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も，</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青色の実線は学習用データにおける性能</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オレンジ色の実線はテストデータにおける性能を示します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精度と損失の両方において</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学習が進むに連れ</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学習データ</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テストデータの両方で性能が向上していますが</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，損失のみ，わずかに過学習の傾向が見られました．</a:t>
            </a:r>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22</a:t>
            </a:fld>
            <a:endParaRPr kumimoji="1" lang="ja-JP" altLang="en-US"/>
          </a:p>
        </p:txBody>
      </p:sp>
    </p:spTree>
    <p:extLst>
      <p:ext uri="{BB962C8B-B14F-4D97-AF65-F5344CB8AC3E}">
        <p14:creationId xmlns:p14="http://schemas.microsoft.com/office/powerpoint/2010/main" val="5801607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グレード別の混同行列をヒートマップで表したものを図</a:t>
            </a:r>
            <a:r>
              <a:rPr kumimoji="1" lang="en-US" altLang="ja-JP" dirty="0"/>
              <a:t>9</a:t>
            </a:r>
            <a:r>
              <a:rPr kumimoji="1" lang="ja-JP" altLang="en-US" dirty="0"/>
              <a:t>に示します．</a:t>
            </a:r>
            <a:endParaRPr kumimoji="1" lang="en-US" altLang="ja-JP" dirty="0"/>
          </a:p>
          <a:p>
            <a:r>
              <a:rPr kumimoji="1" lang="ja-JP" altLang="en-US" dirty="0"/>
              <a:t>横軸は，テストデータに対してモデルが予測したグレードで，縦軸は実際のグレード，すなわち正解ラベルを表します．</a:t>
            </a:r>
            <a:endParaRPr kumimoji="1" lang="en-US" altLang="ja-JP" dirty="0"/>
          </a:p>
          <a:p>
            <a:r>
              <a:rPr kumimoji="1" lang="ja-JP" altLang="en-US" dirty="0"/>
              <a:t>通常，</a:t>
            </a:r>
            <a:r>
              <a:rPr kumimoji="1" lang="en-US" altLang="ja-JP" dirty="0"/>
              <a:t>2</a:t>
            </a:r>
            <a:r>
              <a:rPr kumimoji="1" lang="ja-JP" altLang="en-US" dirty="0"/>
              <a:t>値分類の混同行列では，</a:t>
            </a:r>
            <a:r>
              <a:rPr kumimoji="1" lang="en-US" altLang="ja-JP" dirty="0"/>
              <a:t>TP</a:t>
            </a:r>
            <a:r>
              <a:rPr kumimoji="1" lang="ja-JP" altLang="en-US" dirty="0"/>
              <a:t>，</a:t>
            </a:r>
            <a:r>
              <a:rPr kumimoji="1" lang="en-US" altLang="ja-JP" dirty="0"/>
              <a:t>TN</a:t>
            </a:r>
            <a:r>
              <a:rPr kumimoji="1" lang="ja-JP" altLang="en-US" dirty="0"/>
              <a:t>，</a:t>
            </a:r>
            <a:r>
              <a:rPr kumimoji="1" lang="en-US" altLang="ja-JP" dirty="0"/>
              <a:t>FP</a:t>
            </a:r>
            <a:r>
              <a:rPr kumimoji="1" lang="ja-JP" altLang="en-US" dirty="0"/>
              <a:t>，</a:t>
            </a:r>
            <a:r>
              <a:rPr kumimoji="1" lang="en-US" altLang="ja-JP" dirty="0"/>
              <a:t>FN</a:t>
            </a:r>
            <a:r>
              <a:rPr kumimoji="1" lang="ja-JP" altLang="en-US" dirty="0"/>
              <a:t>の</a:t>
            </a:r>
            <a:r>
              <a:rPr kumimoji="1" lang="en-US" altLang="ja-JP" dirty="0"/>
              <a:t>2x2</a:t>
            </a:r>
            <a:r>
              <a:rPr kumimoji="1" lang="ja-JP" altLang="en-US" dirty="0"/>
              <a:t>の混同行列で表されますが，本タスクは</a:t>
            </a:r>
            <a:r>
              <a:rPr kumimoji="1" lang="en-US" altLang="ja-JP" dirty="0"/>
              <a:t>5</a:t>
            </a:r>
            <a:r>
              <a:rPr kumimoji="1" lang="ja-JP" altLang="en-US" dirty="0"/>
              <a:t>つのグレードを予測する多クラス分類であるため，</a:t>
            </a:r>
            <a:r>
              <a:rPr kumimoji="1" lang="en-US" altLang="ja-JP" dirty="0"/>
              <a:t>5x5</a:t>
            </a:r>
            <a:r>
              <a:rPr kumimoji="1" lang="ja-JP" altLang="en-US" dirty="0"/>
              <a:t>の混同行列によって表現されます．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23</a:t>
            </a:fld>
            <a:endParaRPr kumimoji="1" lang="ja-JP" altLang="en-US"/>
          </a:p>
        </p:txBody>
      </p:sp>
    </p:spTree>
    <p:extLst>
      <p:ext uri="{BB962C8B-B14F-4D97-AF65-F5344CB8AC3E}">
        <p14:creationId xmlns:p14="http://schemas.microsoft.com/office/powerpoint/2010/main" val="17835304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グレード別に性能評価を行うため，注目したいグレードのみを正例，それ以外を負例と見なして，</a:t>
            </a:r>
            <a:r>
              <a:rPr kumimoji="1" lang="en-US" altLang="ja-JP" dirty="0"/>
              <a:t>2</a:t>
            </a:r>
            <a:r>
              <a:rPr kumimoji="1" lang="ja-JP" altLang="en-US" dirty="0"/>
              <a:t>値分類で評価を行う</a:t>
            </a:r>
            <a:r>
              <a:rPr kumimoji="1" lang="en-US" altLang="ja-JP" dirty="0"/>
              <a:t>One</a:t>
            </a:r>
            <a:r>
              <a:rPr kumimoji="1" lang="ja-JP" altLang="en-US" dirty="0"/>
              <a:t> </a:t>
            </a:r>
            <a:r>
              <a:rPr kumimoji="1" lang="en-US" altLang="ja-JP" dirty="0"/>
              <a:t>vs</a:t>
            </a:r>
            <a:r>
              <a:rPr kumimoji="1" lang="ja-JP" altLang="en-US" dirty="0"/>
              <a:t> </a:t>
            </a:r>
            <a:r>
              <a:rPr kumimoji="1" lang="en-US" altLang="ja-JP" dirty="0"/>
              <a:t>Rest</a:t>
            </a:r>
            <a:r>
              <a:rPr kumimoji="1" lang="ja-JP" altLang="en-US" dirty="0"/>
              <a:t>方式を用いました．</a:t>
            </a:r>
            <a:endParaRPr kumimoji="1" lang="en-US" altLang="ja-JP" dirty="0"/>
          </a:p>
          <a:p>
            <a:r>
              <a:rPr kumimoji="1" lang="ja-JP" altLang="en-US" dirty="0"/>
              <a:t>例えば，グレード</a:t>
            </a:r>
            <a:r>
              <a:rPr kumimoji="1" lang="en-US" altLang="ja-JP" dirty="0"/>
              <a:t>1</a:t>
            </a:r>
            <a:r>
              <a:rPr kumimoji="1" lang="ja-JP" altLang="en-US" dirty="0"/>
              <a:t>の判別性能を評価したいとき，図</a:t>
            </a:r>
            <a:r>
              <a:rPr kumimoji="1" lang="en-US" altLang="ja-JP" dirty="0"/>
              <a:t>9</a:t>
            </a:r>
            <a:r>
              <a:rPr kumimoji="1" lang="ja-JP" altLang="en-US" dirty="0"/>
              <a:t>のようにグレード</a:t>
            </a:r>
            <a:r>
              <a:rPr kumimoji="1" lang="en-US" altLang="ja-JP" dirty="0"/>
              <a:t>1</a:t>
            </a:r>
            <a:r>
              <a:rPr kumimoji="1" lang="ja-JP" altLang="en-US" dirty="0"/>
              <a:t>とそれ以外でクラスを分けることで，表</a:t>
            </a:r>
            <a:r>
              <a:rPr kumimoji="1" lang="en-US" altLang="ja-JP" dirty="0"/>
              <a:t>4</a:t>
            </a:r>
            <a:r>
              <a:rPr kumimoji="1" lang="ja-JP" altLang="en-US" dirty="0"/>
              <a:t>のような一般的な</a:t>
            </a:r>
            <a:r>
              <a:rPr kumimoji="1" lang="en-US" altLang="ja-JP" dirty="0"/>
              <a:t>2</a:t>
            </a:r>
            <a:r>
              <a:rPr kumimoji="1" lang="ja-JP" altLang="en-US" dirty="0"/>
              <a:t>値分類の混同行列を作成することができます．</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24</a:t>
            </a:fld>
            <a:endParaRPr kumimoji="1" lang="ja-JP" altLang="en-US"/>
          </a:p>
        </p:txBody>
      </p:sp>
    </p:spTree>
    <p:extLst>
      <p:ext uri="{BB962C8B-B14F-4D97-AF65-F5344CB8AC3E}">
        <p14:creationId xmlns:p14="http://schemas.microsoft.com/office/powerpoint/2010/main" val="4073632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この方式を用いて，正解率，エラー率，感度，特異度，陽性的中率，陰性的中率をグレード別に評価した結果を表</a:t>
            </a:r>
            <a:r>
              <a:rPr kumimoji="1" lang="en-US" altLang="ja-JP" dirty="0"/>
              <a:t>4</a:t>
            </a:r>
            <a:r>
              <a:rPr kumimoji="1" lang="ja-JP" altLang="en-US" dirty="0"/>
              <a:t>に示します．</a:t>
            </a:r>
            <a:endParaRPr kumimoji="1" lang="en-US" altLang="ja-JP" dirty="0"/>
          </a:p>
          <a:p>
            <a:r>
              <a:rPr kumimoji="1" lang="ja-JP" altLang="en-US" dirty="0"/>
              <a:t>また，縦軸を感度，横軸を</a:t>
            </a:r>
            <a:r>
              <a:rPr kumimoji="1" lang="en-US" altLang="ja-JP" dirty="0"/>
              <a:t>1-</a:t>
            </a:r>
            <a:r>
              <a:rPr kumimoji="1" lang="ja-JP" altLang="en-US" dirty="0"/>
              <a:t>特異度，すなわち偽陽性率として，グレード別に</a:t>
            </a:r>
            <a:r>
              <a:rPr kumimoji="1" lang="en-US" altLang="ja-JP" dirty="0"/>
              <a:t>ROC</a:t>
            </a:r>
            <a:r>
              <a:rPr kumimoji="1" lang="ja-JP" altLang="en-US" dirty="0"/>
              <a:t>曲線を描画したものを図</a:t>
            </a:r>
            <a:r>
              <a:rPr kumimoji="1" lang="en-US" altLang="ja-JP" dirty="0"/>
              <a:t>10</a:t>
            </a:r>
            <a:r>
              <a:rPr kumimoji="1" lang="ja-JP" altLang="en-US" dirty="0"/>
              <a:t>に示します．</a:t>
            </a:r>
            <a:endParaRPr kumimoji="1" lang="en-US" altLang="ja-JP" dirty="0"/>
          </a:p>
          <a:p>
            <a:r>
              <a:rPr kumimoji="1" lang="ja-JP" altLang="en-US" dirty="0"/>
              <a:t>グレード</a:t>
            </a:r>
            <a:r>
              <a:rPr kumimoji="1" lang="en-US" altLang="ja-JP" dirty="0"/>
              <a:t>0</a:t>
            </a:r>
            <a:r>
              <a:rPr kumimoji="1" lang="ja-JP" altLang="en-US" dirty="0"/>
              <a:t>とグレード</a:t>
            </a:r>
            <a:r>
              <a:rPr kumimoji="1" lang="en-US" altLang="ja-JP" dirty="0"/>
              <a:t>1</a:t>
            </a:r>
            <a:r>
              <a:rPr kumimoji="1" lang="ja-JP" altLang="en-US" dirty="0"/>
              <a:t>はほぼ同じ性能ですが，グレードが上がるにつれ，判別性能は向上しているという結果が得られました．</a:t>
            </a:r>
            <a:endParaRPr kumimoji="1" lang="en-US" altLang="ja-JP" dirty="0"/>
          </a:p>
          <a:p>
            <a:r>
              <a:rPr kumimoji="1" lang="ja-JP" altLang="en-US" dirty="0"/>
              <a:t>モデルの性能は，</a:t>
            </a:r>
            <a:r>
              <a:rPr kumimoji="1" lang="en-US" altLang="ja-JP" dirty="0"/>
              <a:t>ROC</a:t>
            </a:r>
            <a:r>
              <a:rPr kumimoji="1" lang="ja-JP" altLang="en-US" dirty="0"/>
              <a:t>曲線の下部面積を表す</a:t>
            </a:r>
            <a:r>
              <a:rPr kumimoji="1" lang="en-US" altLang="ja-JP" dirty="0"/>
              <a:t>AUC</a:t>
            </a:r>
            <a:r>
              <a:rPr kumimoji="1" lang="ja-JP" altLang="en-US" dirty="0"/>
              <a:t>によって評価されます．</a:t>
            </a:r>
            <a:endParaRPr kumimoji="1" lang="en-US" altLang="ja-JP" dirty="0"/>
          </a:p>
          <a:p>
            <a:r>
              <a:rPr kumimoji="1" lang="ja-JP" altLang="en-US" dirty="0"/>
              <a:t>各グレードの</a:t>
            </a:r>
            <a:r>
              <a:rPr kumimoji="1" lang="en-US" altLang="ja-JP" dirty="0"/>
              <a:t>AUC</a:t>
            </a:r>
            <a:r>
              <a:rPr kumimoji="1" lang="ja-JP" altLang="en-US" dirty="0"/>
              <a:t>は，</a:t>
            </a:r>
            <a:endParaRPr kumimoji="1" lang="en-US" altLang="ja-JP" dirty="0"/>
          </a:p>
          <a:p>
            <a:r>
              <a:rPr kumimoji="1" lang="ja-JP" altLang="en-US" dirty="0"/>
              <a:t>グレード</a:t>
            </a:r>
            <a:r>
              <a:rPr kumimoji="1" lang="en-US" altLang="ja-JP" dirty="0"/>
              <a:t>0</a:t>
            </a:r>
            <a:r>
              <a:rPr kumimoji="1" lang="ja-JP" altLang="en-US" dirty="0"/>
              <a:t>が</a:t>
            </a:r>
            <a:r>
              <a:rPr kumimoji="1" lang="en-US" altLang="ja-JP" dirty="0"/>
              <a:t>0.9814</a:t>
            </a:r>
          </a:p>
          <a:p>
            <a:r>
              <a:rPr kumimoji="1" lang="ja-JP" altLang="en-US" dirty="0"/>
              <a:t>グレード</a:t>
            </a:r>
            <a:r>
              <a:rPr kumimoji="1" lang="en-US" altLang="ja-JP" dirty="0"/>
              <a:t>1</a:t>
            </a:r>
            <a:r>
              <a:rPr kumimoji="1" lang="ja-JP" altLang="en-US" dirty="0"/>
              <a:t>が</a:t>
            </a:r>
            <a:r>
              <a:rPr kumimoji="1" lang="en-US" altLang="ja-JP" dirty="0"/>
              <a:t>0.9800</a:t>
            </a:r>
          </a:p>
          <a:p>
            <a:r>
              <a:rPr kumimoji="1" lang="ja-JP" altLang="en-US" dirty="0"/>
              <a:t>グレード</a:t>
            </a:r>
            <a:r>
              <a:rPr kumimoji="1" lang="en-US" altLang="ja-JP" dirty="0"/>
              <a:t>2</a:t>
            </a:r>
            <a:r>
              <a:rPr kumimoji="1" lang="ja-JP" altLang="en-US" dirty="0"/>
              <a:t>が</a:t>
            </a:r>
            <a:r>
              <a:rPr kumimoji="1" lang="en-US" altLang="ja-JP" dirty="0"/>
              <a:t>0.9905</a:t>
            </a:r>
          </a:p>
          <a:p>
            <a:r>
              <a:rPr kumimoji="1" lang="ja-JP" altLang="en-US" dirty="0"/>
              <a:t>グレード</a:t>
            </a:r>
            <a:r>
              <a:rPr kumimoji="1" lang="en-US" altLang="ja-JP" dirty="0"/>
              <a:t>3</a:t>
            </a:r>
            <a:r>
              <a:rPr kumimoji="1" lang="ja-JP" altLang="en-US" dirty="0"/>
              <a:t>が</a:t>
            </a:r>
            <a:r>
              <a:rPr kumimoji="1" lang="en-US" altLang="ja-JP" dirty="0"/>
              <a:t>0.9977</a:t>
            </a:r>
          </a:p>
          <a:p>
            <a:r>
              <a:rPr kumimoji="1" lang="ja-JP" altLang="en-US" dirty="0"/>
              <a:t>グレード</a:t>
            </a:r>
            <a:r>
              <a:rPr kumimoji="1" lang="en-US" altLang="ja-JP" dirty="0"/>
              <a:t>4</a:t>
            </a:r>
            <a:r>
              <a:rPr kumimoji="1" lang="ja-JP" altLang="en-US" dirty="0"/>
              <a:t>が</a:t>
            </a:r>
            <a:r>
              <a:rPr kumimoji="1" lang="en-US" altLang="ja-JP" dirty="0"/>
              <a:t>0.9998</a:t>
            </a:r>
          </a:p>
          <a:p>
            <a:r>
              <a:rPr kumimoji="1" lang="ja-JP" altLang="en-US" dirty="0"/>
              <a:t>となりました．</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25</a:t>
            </a:fld>
            <a:endParaRPr kumimoji="1" lang="ja-JP" altLang="en-US"/>
          </a:p>
        </p:txBody>
      </p:sp>
    </p:spTree>
    <p:extLst>
      <p:ext uri="{BB962C8B-B14F-4D97-AF65-F5344CB8AC3E}">
        <p14:creationId xmlns:p14="http://schemas.microsoft.com/office/powerpoint/2010/main" val="3209998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indent="133350" algn="just"/>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（ノードの色，大きさ，距離と，健診データとの関連性を，年齢によって疾患しやすい病気と合わせてより詳しく説明する）</a:t>
            </a:r>
            <a:endPar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大脳白質病変のグレード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5</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つと，高血圧を重症度に応じて分類した</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7</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項目，肥満，糖尿病，脂質異常症の</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15</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項目を</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共起ネットワーク図で可視化した結果を図</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11</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に示します</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indent="133350" algn="just"/>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ノードの大きさと色の濃さはサンプル数を表しており，ノード間の距離は共起関係の強さを示しています．そのため，距離が近いノードほど，その</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つの疾患を保有している関連性が高いことを表しています．</a:t>
            </a:r>
            <a:endPar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0</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やグレード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は，正常血圧や正常高値血圧など，正常な範囲かそれに近い血圧を表すノードとの距離が近く，グレード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はそれらの血圧のノードからの距離が離れ，高齢者に見られやすい（孤立性）収縮期高血圧との距離が近いという結果が得られました．</a:t>
            </a:r>
            <a:endPar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これは，グレード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0</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やグレード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の患者は，正常かそれに近い血圧を有している割合が高く，グレード</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2</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になると，高血圧を有している割合が高くなることを表しており，</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大脳白質病変が進行している患者ほど</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より重度の高血圧を有していることが示唆されました</a:t>
            </a:r>
            <a:r>
              <a:rPr lang="ja-JP" altLang="en-US" sz="12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26</a:t>
            </a:fld>
            <a:endParaRPr kumimoji="1" lang="ja-JP" altLang="en-US"/>
          </a:p>
        </p:txBody>
      </p:sp>
    </p:spTree>
    <p:extLst>
      <p:ext uri="{BB962C8B-B14F-4D97-AF65-F5344CB8AC3E}">
        <p14:creationId xmlns:p14="http://schemas.microsoft.com/office/powerpoint/2010/main" val="24839190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続いて考察に移ります．</a:t>
            </a:r>
            <a:endParaRPr kumimoji="1" lang="en-US" altLang="ja-JP" dirty="0"/>
          </a:p>
          <a:p>
            <a:r>
              <a:rPr kumimoji="1" lang="ja-JP" altLang="en-US" dirty="0"/>
              <a:t>畳み込みニューラルネットワークによるグレード予測では，</a:t>
            </a:r>
            <a:r>
              <a:rPr kumimoji="1" lang="en-US" altLang="ja-JP" dirty="0"/>
              <a:t>range</a:t>
            </a:r>
            <a:r>
              <a:rPr kumimoji="1" lang="ja-JP" altLang="en-US" dirty="0"/>
              <a:t>の値が大きいほど，学習に用いる画像数が増加するため，精度が上昇する傾向にあります．</a:t>
            </a:r>
          </a:p>
          <a:p>
            <a:r>
              <a:rPr kumimoji="1" lang="ja-JP" altLang="en-US" dirty="0"/>
              <a:t>一方で，</a:t>
            </a:r>
            <a:r>
              <a:rPr kumimoji="1" lang="en-US" altLang="ja-JP" dirty="0"/>
              <a:t>range</a:t>
            </a:r>
            <a:r>
              <a:rPr kumimoji="1" lang="ja-JP" altLang="en-US" dirty="0"/>
              <a:t>を極端に増やすと，大脳白質病変が見られない眼球側や頭頂部側の画像が学習データに含まれるため，精度は低下したと考えられます．</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27</a:t>
            </a:fld>
            <a:endParaRPr kumimoji="1" lang="ja-JP" altLang="en-US"/>
          </a:p>
        </p:txBody>
      </p:sp>
    </p:spTree>
    <p:extLst>
      <p:ext uri="{BB962C8B-B14F-4D97-AF65-F5344CB8AC3E}">
        <p14:creationId xmlns:p14="http://schemas.microsoft.com/office/powerpoint/2010/main" val="1091606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4000" dirty="0"/>
              <a:t>撮影方法別の畳み込みニューラルネットワークを用いたグレード予測では，</a:t>
            </a:r>
            <a:r>
              <a:rPr lang="en-US" altLang="ja-JP" sz="4000" dirty="0"/>
              <a:t>FLAIR</a:t>
            </a:r>
            <a:r>
              <a:rPr lang="ja-JP" altLang="en-US" sz="4000" dirty="0"/>
              <a:t>画像は目視でも大脳白質病変を識別しやすく，畳み込みによって特徴が取り出しやすいために，</a:t>
            </a:r>
            <a:r>
              <a:rPr lang="en-US" altLang="ja-JP" sz="4000" dirty="0"/>
              <a:t>FLAIR</a:t>
            </a:r>
            <a:r>
              <a:rPr lang="ja-JP" altLang="en-US" sz="4000" dirty="0"/>
              <a:t>画像を用いた時の精度が高くなったと考えられます．</a:t>
            </a:r>
            <a:endParaRPr kumimoji="1" lang="en-US" altLang="ja-JP" sz="4000" dirty="0"/>
          </a:p>
          <a:p>
            <a:r>
              <a:rPr kumimoji="1" lang="en-US" altLang="ja-JP" sz="4000" dirty="0"/>
              <a:t>T2</a:t>
            </a:r>
            <a:r>
              <a:rPr kumimoji="1" lang="ja-JP" altLang="en-US" sz="4000" dirty="0"/>
              <a:t>強調画像も目視で病変を識別しやすい一方で，大脳周辺部分が高信号領域として白く描画されており，病変との区別がつきにくいために，</a:t>
            </a:r>
            <a:r>
              <a:rPr kumimoji="1" lang="en-US" altLang="ja-JP" sz="4000" dirty="0"/>
              <a:t>T2</a:t>
            </a:r>
            <a:r>
              <a:rPr kumimoji="1" lang="ja-JP" altLang="en-US" sz="4000" dirty="0"/>
              <a:t>強調画像を用いた時の判別性能が低かったと考えられます．</a:t>
            </a:r>
            <a:endParaRPr kumimoji="1" lang="en-US" altLang="ja-JP" sz="4000" dirty="0"/>
          </a:p>
          <a:p>
            <a:pPr algn="just"/>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28</a:t>
            </a:fld>
            <a:endParaRPr kumimoji="1" lang="ja-JP" altLang="en-US"/>
          </a:p>
        </p:txBody>
      </p:sp>
    </p:spTree>
    <p:extLst>
      <p:ext uri="{BB962C8B-B14F-4D97-AF65-F5344CB8AC3E}">
        <p14:creationId xmlns:p14="http://schemas.microsoft.com/office/powerpoint/2010/main" val="2182068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共起ネットワーク図においては，グレード</a:t>
            </a:r>
            <a:r>
              <a:rPr lang="en-US" altLang="ja-JP" dirty="0"/>
              <a:t>3</a:t>
            </a:r>
            <a:r>
              <a:rPr lang="ja-JP" altLang="en-US" dirty="0"/>
              <a:t>以上のサンプル数が少ないために共起関係が十分に形成されず，ノードとして描画されなかったと考えられ，高度の大脳白質病変を有する患者と健診項目との関連性を十分に見ることができませんでした．</a:t>
            </a:r>
            <a:endParaRPr kumimoji="1" lang="en-US" altLang="ja-JP" dirty="0"/>
          </a:p>
          <a:p>
            <a:r>
              <a:rPr kumimoji="1" lang="ja-JP" altLang="en-US" dirty="0"/>
              <a:t>健診データの検査項目との関連性に関しては，降圧剤などの薬剤使用の有無，脳梗塞などの既往歴との関連性を含めて検討することで，大脳白質病変とそのリスク因子との関連性をより幅広く検証していきたいと考えています</a:t>
            </a:r>
            <a:r>
              <a:rPr lang="ja-JP" altLang="en-US" dirty="0"/>
              <a:t>．</a:t>
            </a:r>
            <a:endParaRPr kumimoji="1" lang="en-US" altLang="ja-JP"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29</a:t>
            </a:fld>
            <a:endParaRPr kumimoji="1" lang="ja-JP" altLang="en-US"/>
          </a:p>
        </p:txBody>
      </p:sp>
    </p:spTree>
    <p:extLst>
      <p:ext uri="{BB962C8B-B14F-4D97-AF65-F5344CB8AC3E}">
        <p14:creationId xmlns:p14="http://schemas.microsoft.com/office/powerpoint/2010/main" val="2002015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sz="1800" dirty="0">
                <a:effectLst/>
                <a:ea typeface="游明朝" panose="02020400000000000000" pitchFamily="18" charset="-128"/>
                <a:cs typeface="Times New Roman" panose="02020603050405020304" pitchFamily="18" charset="0"/>
              </a:rPr>
              <a:t>本研究を行うにあたり，貴重なデータを提供していただいた一般社団法人 巨樹の会 新武雄病院の皆様に心から感謝申し上げます</a:t>
            </a:r>
            <a:r>
              <a:rPr lang="ja-JP" altLang="en-US" sz="1800" dirty="0">
                <a:effectLst/>
                <a:ea typeface="游明朝" panose="02020400000000000000" pitchFamily="18" charset="-128"/>
                <a:cs typeface="Times New Roman" panose="02020603050405020304" pitchFamily="18" charset="0"/>
              </a:rPr>
              <a:t>．</a:t>
            </a:r>
            <a:endParaRPr kumimoji="1" lang="ja-JP" altLang="en-US"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30</a:t>
            </a:fld>
            <a:endParaRPr kumimoji="1" lang="ja-JP" altLang="en-US"/>
          </a:p>
        </p:txBody>
      </p:sp>
    </p:spTree>
    <p:extLst>
      <p:ext uri="{BB962C8B-B14F-4D97-AF65-F5344CB8AC3E}">
        <p14:creationId xmlns:p14="http://schemas.microsoft.com/office/powerpoint/2010/main" val="1934162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参考文献はこちらになります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以上で発表を終わります</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ご清聴ありがとうございました</a:t>
            </a:r>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31</a:t>
            </a:fld>
            <a:endParaRPr kumimoji="1" lang="ja-JP" altLang="en-US"/>
          </a:p>
        </p:txBody>
      </p:sp>
    </p:spTree>
    <p:extLst>
      <p:ext uri="{BB962C8B-B14F-4D97-AF65-F5344CB8AC3E}">
        <p14:creationId xmlns:p14="http://schemas.microsoft.com/office/powerpoint/2010/main" val="3957378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患者背景に用いた項目の詳細はこちらのようになります．</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34</a:t>
            </a:fld>
            <a:endParaRPr kumimoji="1" lang="ja-JP" altLang="en-US"/>
          </a:p>
        </p:txBody>
      </p:sp>
    </p:spTree>
    <p:extLst>
      <p:ext uri="{BB962C8B-B14F-4D97-AF65-F5344CB8AC3E}">
        <p14:creationId xmlns:p14="http://schemas.microsoft.com/office/powerpoint/2010/main" val="4245031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共起ネットワーク図で用いた，大脳白質病変のグレードを除いた</a:t>
            </a:r>
            <a:r>
              <a:rPr kumimoji="1" lang="en-US" altLang="ja-JP" dirty="0"/>
              <a:t>10</a:t>
            </a:r>
            <a:r>
              <a:rPr kumimoji="1" lang="ja-JP" altLang="en-US" dirty="0"/>
              <a:t>項目は，患者背景に示した</a:t>
            </a:r>
            <a:r>
              <a:rPr kumimoji="1" lang="en-US" altLang="ja-JP" dirty="0"/>
              <a:t>A</a:t>
            </a:r>
            <a:r>
              <a:rPr kumimoji="1" lang="ja-JP" altLang="en-US" dirty="0"/>
              <a:t>から</a:t>
            </a:r>
            <a:r>
              <a:rPr kumimoji="1" lang="en-US" altLang="ja-JP" dirty="0"/>
              <a:t>G</a:t>
            </a:r>
            <a:r>
              <a:rPr kumimoji="1" lang="ja-JP" altLang="en-US" dirty="0"/>
              <a:t>と，</a:t>
            </a:r>
            <a:r>
              <a:rPr kumimoji="1" lang="en-US" altLang="ja-JP" dirty="0"/>
              <a:t>X</a:t>
            </a:r>
            <a:r>
              <a:rPr kumimoji="1" lang="ja-JP" altLang="en-US" dirty="0"/>
              <a:t>から</a:t>
            </a:r>
            <a:r>
              <a:rPr kumimoji="1" lang="en-US" altLang="ja-JP" dirty="0"/>
              <a:t>Z</a:t>
            </a:r>
            <a:r>
              <a:rPr kumimoji="1" lang="ja-JP" altLang="en-US" dirty="0"/>
              <a:t>に対応します．</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35</a:t>
            </a:fld>
            <a:endParaRPr kumimoji="1" lang="ja-JP" altLang="en-US"/>
          </a:p>
        </p:txBody>
      </p:sp>
    </p:spTree>
    <p:extLst>
      <p:ext uri="{BB962C8B-B14F-4D97-AF65-F5344CB8AC3E}">
        <p14:creationId xmlns:p14="http://schemas.microsoft.com/office/powerpoint/2010/main" val="2590669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また，</a:t>
            </a:r>
            <a:r>
              <a:rPr kumimoji="1" lang="en-US" altLang="ja-JP" dirty="0"/>
              <a:t>A</a:t>
            </a:r>
            <a:r>
              <a:rPr kumimoji="1" lang="ja-JP" altLang="en-US" dirty="0"/>
              <a:t>から</a:t>
            </a:r>
            <a:r>
              <a:rPr kumimoji="1" lang="en-US" altLang="ja-JP" dirty="0"/>
              <a:t>G</a:t>
            </a:r>
            <a:r>
              <a:rPr kumimoji="1" lang="ja-JP" altLang="en-US" dirty="0"/>
              <a:t>と</a:t>
            </a:r>
            <a:r>
              <a:rPr kumimoji="1" lang="en-US" altLang="ja-JP" dirty="0"/>
              <a:t>X</a:t>
            </a:r>
            <a:r>
              <a:rPr kumimoji="1" lang="ja-JP" altLang="en-US" dirty="0"/>
              <a:t>から</a:t>
            </a:r>
            <a:r>
              <a:rPr kumimoji="1" lang="en-US" altLang="ja-JP" dirty="0"/>
              <a:t>Z</a:t>
            </a:r>
            <a:r>
              <a:rPr kumimoji="1" lang="ja-JP" altLang="en-US" dirty="0"/>
              <a:t>は，患者背景に示した項目の数値を用いて，これらの基準によって分類しました．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36</a:t>
            </a:fld>
            <a:endParaRPr kumimoji="1" lang="ja-JP" altLang="en-US"/>
          </a:p>
        </p:txBody>
      </p:sp>
    </p:spTree>
    <p:extLst>
      <p:ext uri="{BB962C8B-B14F-4D97-AF65-F5344CB8AC3E}">
        <p14:creationId xmlns:p14="http://schemas.microsoft.com/office/powerpoint/2010/main" val="32899036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図</a:t>
            </a:r>
            <a:r>
              <a:rPr kumimoji="1" lang="en-US" altLang="ja-JP" dirty="0"/>
              <a:t>6</a:t>
            </a:r>
            <a:r>
              <a:rPr kumimoji="1" lang="ja-JP" altLang="en-US" dirty="0"/>
              <a:t>で示した，</a:t>
            </a:r>
            <a:r>
              <a:rPr kumimoji="1" lang="en-US" altLang="ja-JP" dirty="0"/>
              <a:t>axial</a:t>
            </a:r>
            <a:r>
              <a:rPr kumimoji="1" lang="ja-JP" altLang="en-US" dirty="0"/>
              <a:t>の取り方の違いによる精度変化の図</a:t>
            </a:r>
          </a:p>
        </p:txBody>
      </p:sp>
      <p:sp>
        <p:nvSpPr>
          <p:cNvPr id="4" name="スライド番号プレースホルダー 3"/>
          <p:cNvSpPr>
            <a:spLocks noGrp="1"/>
          </p:cNvSpPr>
          <p:nvPr>
            <p:ph type="sldNum" sz="quarter" idx="5"/>
          </p:nvPr>
        </p:nvSpPr>
        <p:spPr/>
        <p:txBody>
          <a:bodyPr/>
          <a:lstStyle/>
          <a:p>
            <a:fld id="{A1422786-45B2-4F0B-A2BC-E0BC854D0442}" type="slidenum">
              <a:rPr kumimoji="1" lang="ja-JP" altLang="en-US" smtClean="0"/>
              <a:t>39</a:t>
            </a:fld>
            <a:endParaRPr kumimoji="1" lang="ja-JP" altLang="en-US"/>
          </a:p>
        </p:txBody>
      </p:sp>
    </p:spTree>
    <p:extLst>
      <p:ext uri="{BB962C8B-B14F-4D97-AF65-F5344CB8AC3E}">
        <p14:creationId xmlns:p14="http://schemas.microsoft.com/office/powerpoint/2010/main" val="77181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AF2AA1-F1AD-A70F-7D1A-24EC0043EB7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3572C01-297F-A21E-73E8-09F0EF847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6EDE228-2E2C-33CA-1C50-603AEFCE3F42}"/>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5" name="フッター プレースホルダー 4">
            <a:extLst>
              <a:ext uri="{FF2B5EF4-FFF2-40B4-BE49-F238E27FC236}">
                <a16:creationId xmlns:a16="http://schemas.microsoft.com/office/drawing/2014/main" id="{FE3C866E-BCAD-75F3-90D4-310DCBA0D7C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ADDBA-68B1-ABE1-1136-0FC00A2BD57A}"/>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1455131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6CB25F-6905-08F2-F851-07C1A46DF39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F03DA56-C370-DFA0-27B4-EFA2C48D52D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28BE66C-69E8-E135-2C54-9FA8AE000934}"/>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5" name="フッター プレースホルダー 4">
            <a:extLst>
              <a:ext uri="{FF2B5EF4-FFF2-40B4-BE49-F238E27FC236}">
                <a16:creationId xmlns:a16="http://schemas.microsoft.com/office/drawing/2014/main" id="{A3A7C5E9-6E8F-6826-168B-EBC1BA0CCB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11BF0F-88CF-72CC-F861-00D11745B630}"/>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1243522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B4C87B-25F7-66BC-58AE-A96EBD73AE8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B7996D9-AAF0-574A-9258-A144FDE752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9F3FA8-45BA-1512-C741-C48EF29D9D65}"/>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5" name="フッター プレースホルダー 4">
            <a:extLst>
              <a:ext uri="{FF2B5EF4-FFF2-40B4-BE49-F238E27FC236}">
                <a16:creationId xmlns:a16="http://schemas.microsoft.com/office/drawing/2014/main" id="{B8454E55-C46F-8636-5ECC-6D0D9D8219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0B6E35-E4B2-7C73-3904-C26B7032D3C1}"/>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1194585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8E5DB6-3004-B4C6-06E7-B5D181A0755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32973D-26C1-2A54-4DCC-29D154521B1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3C6D898-650D-5194-FE3C-44D39A611A3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21A6754-9B41-B444-3AE3-F6BFAB2A56E6}"/>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6" name="フッター プレースホルダー 5">
            <a:extLst>
              <a:ext uri="{FF2B5EF4-FFF2-40B4-BE49-F238E27FC236}">
                <a16:creationId xmlns:a16="http://schemas.microsoft.com/office/drawing/2014/main" id="{B123C79A-C75A-26B9-1E80-17197F6806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4DA649-8C09-2852-C762-50B512870E3C}"/>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3993247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BB69B-B2CD-C6BD-BFF2-DF0C164CAD1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BC59F7C-7195-1BE6-1C29-9E60C37B28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E1B70B3-17A7-B1F5-CBF5-FFDE55A30D2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87B1ED-F9EA-7B6F-232A-1EF7B0E7C6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2A5B729-B29D-D717-1EB7-EFEC997468E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9C388FD-BE58-44D3-EABB-917791DC3452}"/>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8" name="フッター プレースホルダー 7">
            <a:extLst>
              <a:ext uri="{FF2B5EF4-FFF2-40B4-BE49-F238E27FC236}">
                <a16:creationId xmlns:a16="http://schemas.microsoft.com/office/drawing/2014/main" id="{7C52C993-24D3-9AA5-6667-D7B99688FCC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A4D0A18-FD4E-CD2D-090C-86CD150CA207}"/>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3965530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A1D22F-A37C-33F6-3E37-F75F821378B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902FA8E-0972-0371-985F-F6501445EF81}"/>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4" name="フッター プレースホルダー 3">
            <a:extLst>
              <a:ext uri="{FF2B5EF4-FFF2-40B4-BE49-F238E27FC236}">
                <a16:creationId xmlns:a16="http://schemas.microsoft.com/office/drawing/2014/main" id="{41190539-5BCC-FC3A-0BB9-90AB822A8C5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74A269D-52C4-16D9-1437-CAA489B7B63C}"/>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3727634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CB10014-9E8A-05AE-7623-475E4B281B73}"/>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3" name="フッター プレースホルダー 2">
            <a:extLst>
              <a:ext uri="{FF2B5EF4-FFF2-40B4-BE49-F238E27FC236}">
                <a16:creationId xmlns:a16="http://schemas.microsoft.com/office/drawing/2014/main" id="{28CDA4B7-D11E-17AA-9680-FFB3278613A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4F7D6-864A-9FA2-3295-CF459251A562}"/>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653767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2F23E0-BB08-EF0E-9E72-10DBF416F3A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02FD9D-07D6-4D85-7293-1606F8B480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6922F07-607E-BFC8-63BC-44C80010B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0F6FE4B-E4F9-9C73-2922-2EEEC83E10B0}"/>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6" name="フッター プレースホルダー 5">
            <a:extLst>
              <a:ext uri="{FF2B5EF4-FFF2-40B4-BE49-F238E27FC236}">
                <a16:creationId xmlns:a16="http://schemas.microsoft.com/office/drawing/2014/main" id="{C3886809-3063-7562-34B3-A5035E22E95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A498E1-939B-6C1C-F108-02D22F85DED1}"/>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2157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12D0C7-DC89-4C39-9D00-E21E020A905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0E63A95-3690-965B-87EA-270E475C7E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7D75F16-23CF-1CC5-BB48-0BB6705EC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E8B7BF4-6ACE-AC81-862D-2EA52CAF2F04}"/>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6" name="フッター プレースホルダー 5">
            <a:extLst>
              <a:ext uri="{FF2B5EF4-FFF2-40B4-BE49-F238E27FC236}">
                <a16:creationId xmlns:a16="http://schemas.microsoft.com/office/drawing/2014/main" id="{A57BC06D-4578-8787-3865-78C1244EDAA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CD94BCC-6AE1-80E1-1B94-ED9D9BB053A5}"/>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2880192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D65CA4-FB34-F9B0-6BD4-EA49470B667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ACB1859-874B-CC75-C48F-A5A8F318640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0D9C610-4984-87AD-3016-1576196CE3BD}"/>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5" name="フッター プレースホルダー 4">
            <a:extLst>
              <a:ext uri="{FF2B5EF4-FFF2-40B4-BE49-F238E27FC236}">
                <a16:creationId xmlns:a16="http://schemas.microsoft.com/office/drawing/2014/main" id="{C40EE3E6-E314-A94F-5E32-29097B5FCFB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1CDB68-A3CF-F3CB-757B-A3F464B6E690}"/>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2294128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6B8BC04-73B5-8291-78FF-3BC2C438B75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725657D-1D20-6231-8867-B41524E7C24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7D1BA8-71A9-7A0B-741F-98FDEB600F8F}"/>
              </a:ext>
            </a:extLst>
          </p:cNvPr>
          <p:cNvSpPr>
            <a:spLocks noGrp="1"/>
          </p:cNvSpPr>
          <p:nvPr>
            <p:ph type="dt" sz="half" idx="10"/>
          </p:nvPr>
        </p:nvSpPr>
        <p:spPr/>
        <p:txBody>
          <a:bodyPr/>
          <a:lstStyle/>
          <a:p>
            <a:fld id="{88533DCB-C962-4D21-9618-C8C715775E75}" type="datetimeFigureOut">
              <a:rPr kumimoji="1" lang="ja-JP" altLang="en-US" smtClean="0"/>
              <a:t>2023/10/19</a:t>
            </a:fld>
            <a:endParaRPr kumimoji="1" lang="ja-JP" altLang="en-US"/>
          </a:p>
        </p:txBody>
      </p:sp>
      <p:sp>
        <p:nvSpPr>
          <p:cNvPr id="5" name="フッター プレースホルダー 4">
            <a:extLst>
              <a:ext uri="{FF2B5EF4-FFF2-40B4-BE49-F238E27FC236}">
                <a16:creationId xmlns:a16="http://schemas.microsoft.com/office/drawing/2014/main" id="{EF33312C-0CDF-FA2D-982B-FC3D69B86A1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49E782-17E8-4D14-ECCF-B2B0214EBC52}"/>
              </a:ext>
            </a:extLst>
          </p:cNvPr>
          <p:cNvSpPr>
            <a:spLocks noGrp="1"/>
          </p:cNvSpPr>
          <p:nvPr>
            <p:ph type="sldNum" sz="quarter" idx="12"/>
          </p:nvPr>
        </p:nvSpPr>
        <p:spPr/>
        <p:txBody>
          <a:body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1548540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FAA9D36-C2BF-B518-CE6D-8E1C148EF5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406DB5-3ED9-0729-9B03-E98CB24AA7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5FEEE4F-73A2-3482-2E4E-89D5068DD3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533DCB-C962-4D21-9618-C8C715775E75}" type="datetimeFigureOut">
              <a:rPr kumimoji="1" lang="ja-JP" altLang="en-US" smtClean="0"/>
              <a:t>2023/10/19</a:t>
            </a:fld>
            <a:endParaRPr kumimoji="1" lang="ja-JP" altLang="en-US"/>
          </a:p>
        </p:txBody>
      </p:sp>
      <p:sp>
        <p:nvSpPr>
          <p:cNvPr id="5" name="フッター プレースホルダー 4">
            <a:extLst>
              <a:ext uri="{FF2B5EF4-FFF2-40B4-BE49-F238E27FC236}">
                <a16:creationId xmlns:a16="http://schemas.microsoft.com/office/drawing/2014/main" id="{A2F9BC8D-3FFC-A893-34F1-48E30A2F16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74C0489-7880-6AA3-A250-07888E84D9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0C3E2-2BA4-4534-B71B-F5824C79189D}" type="slidenum">
              <a:rPr kumimoji="1" lang="ja-JP" altLang="en-US" smtClean="0"/>
              <a:t>‹#›</a:t>
            </a:fld>
            <a:endParaRPr kumimoji="1" lang="ja-JP" altLang="en-US"/>
          </a:p>
        </p:txBody>
      </p:sp>
    </p:spTree>
    <p:extLst>
      <p:ext uri="{BB962C8B-B14F-4D97-AF65-F5344CB8AC3E}">
        <p14:creationId xmlns:p14="http://schemas.microsoft.com/office/powerpoint/2010/main" val="1652229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3.jpg"/><Relationship Id="rId3" Type="http://schemas.openxmlformats.org/officeDocument/2006/relationships/image" Target="../media/image3.jpg"/><Relationship Id="rId7" Type="http://schemas.openxmlformats.org/officeDocument/2006/relationships/image" Target="../media/image7.jpg"/><Relationship Id="rId12"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jpg"/><Relationship Id="rId5" Type="http://schemas.openxmlformats.org/officeDocument/2006/relationships/image" Target="../media/image5.jpg"/><Relationship Id="rId10" Type="http://schemas.openxmlformats.org/officeDocument/2006/relationships/image" Target="../media/image10.jpg"/><Relationship Id="rId4" Type="http://schemas.openxmlformats.org/officeDocument/2006/relationships/image" Target="../media/image4.jpg"/><Relationship Id="rId9" Type="http://schemas.openxmlformats.org/officeDocument/2006/relationships/image" Target="../media/image9.jpg"/><Relationship Id="rId1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8" Type="http://schemas.openxmlformats.org/officeDocument/2006/relationships/image" Target="../media/image3.jpg"/><Relationship Id="rId13" Type="http://schemas.openxmlformats.org/officeDocument/2006/relationships/image" Target="../media/image25.jpg"/><Relationship Id="rId18" Type="http://schemas.openxmlformats.org/officeDocument/2006/relationships/image" Target="../media/image4.jpg"/><Relationship Id="rId3" Type="http://schemas.openxmlformats.org/officeDocument/2006/relationships/image" Target="../media/image17.jpg"/><Relationship Id="rId21" Type="http://schemas.openxmlformats.org/officeDocument/2006/relationships/image" Target="../media/image30.jpg"/><Relationship Id="rId7" Type="http://schemas.openxmlformats.org/officeDocument/2006/relationships/image" Target="../media/image21.jpg"/><Relationship Id="rId12" Type="http://schemas.openxmlformats.org/officeDocument/2006/relationships/image" Target="../media/image8.jpg"/><Relationship Id="rId17" Type="http://schemas.openxmlformats.org/officeDocument/2006/relationships/image" Target="../media/image28.jpg"/><Relationship Id="rId2" Type="http://schemas.openxmlformats.org/officeDocument/2006/relationships/notesSlide" Target="../notesSlides/notesSlide10.xml"/><Relationship Id="rId16" Type="http://schemas.openxmlformats.org/officeDocument/2006/relationships/image" Target="../media/image5.jpg"/><Relationship Id="rId20"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0.jpg"/><Relationship Id="rId11" Type="http://schemas.openxmlformats.org/officeDocument/2006/relationships/image" Target="../media/image24.jpg"/><Relationship Id="rId24" Type="http://schemas.openxmlformats.org/officeDocument/2006/relationships/image" Target="../media/image32.jpg"/><Relationship Id="rId5" Type="http://schemas.openxmlformats.org/officeDocument/2006/relationships/image" Target="../media/image19.jpg"/><Relationship Id="rId15" Type="http://schemas.openxmlformats.org/officeDocument/2006/relationships/image" Target="../media/image27.jpg"/><Relationship Id="rId23" Type="http://schemas.openxmlformats.org/officeDocument/2006/relationships/image" Target="../media/image7.jpg"/><Relationship Id="rId10" Type="http://schemas.openxmlformats.org/officeDocument/2006/relationships/image" Target="../media/image23.jpg"/><Relationship Id="rId19" Type="http://schemas.openxmlformats.org/officeDocument/2006/relationships/image" Target="../media/image29.jpg"/><Relationship Id="rId4" Type="http://schemas.openxmlformats.org/officeDocument/2006/relationships/image" Target="../media/image18.jpg"/><Relationship Id="rId9" Type="http://schemas.openxmlformats.org/officeDocument/2006/relationships/image" Target="../media/image22.jpg"/><Relationship Id="rId14" Type="http://schemas.openxmlformats.org/officeDocument/2006/relationships/image" Target="../media/image26.jpg"/><Relationship Id="rId22" Type="http://schemas.openxmlformats.org/officeDocument/2006/relationships/image" Target="../media/image31.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3.jpg"/><Relationship Id="rId13" Type="http://schemas.openxmlformats.org/officeDocument/2006/relationships/image" Target="../media/image25.jpg"/><Relationship Id="rId18" Type="http://schemas.openxmlformats.org/officeDocument/2006/relationships/image" Target="../media/image4.jpg"/><Relationship Id="rId3" Type="http://schemas.openxmlformats.org/officeDocument/2006/relationships/image" Target="../media/image17.jpg"/><Relationship Id="rId21" Type="http://schemas.openxmlformats.org/officeDocument/2006/relationships/image" Target="../media/image30.jpg"/><Relationship Id="rId7" Type="http://schemas.openxmlformats.org/officeDocument/2006/relationships/image" Target="../media/image21.jpg"/><Relationship Id="rId12" Type="http://schemas.openxmlformats.org/officeDocument/2006/relationships/image" Target="../media/image8.jpg"/><Relationship Id="rId17" Type="http://schemas.openxmlformats.org/officeDocument/2006/relationships/image" Target="../media/image28.jpg"/><Relationship Id="rId2" Type="http://schemas.openxmlformats.org/officeDocument/2006/relationships/notesSlide" Target="../notesSlides/notesSlide18.xml"/><Relationship Id="rId16" Type="http://schemas.openxmlformats.org/officeDocument/2006/relationships/image" Target="../media/image5.jpg"/><Relationship Id="rId20"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0.jpg"/><Relationship Id="rId11" Type="http://schemas.openxmlformats.org/officeDocument/2006/relationships/image" Target="../media/image24.jpg"/><Relationship Id="rId24" Type="http://schemas.openxmlformats.org/officeDocument/2006/relationships/image" Target="../media/image32.jpg"/><Relationship Id="rId5" Type="http://schemas.openxmlformats.org/officeDocument/2006/relationships/image" Target="../media/image19.jpg"/><Relationship Id="rId15" Type="http://schemas.openxmlformats.org/officeDocument/2006/relationships/image" Target="../media/image27.jpg"/><Relationship Id="rId23" Type="http://schemas.openxmlformats.org/officeDocument/2006/relationships/image" Target="../media/image7.jpg"/><Relationship Id="rId10" Type="http://schemas.openxmlformats.org/officeDocument/2006/relationships/image" Target="../media/image23.jpg"/><Relationship Id="rId19" Type="http://schemas.openxmlformats.org/officeDocument/2006/relationships/image" Target="../media/image29.jpg"/><Relationship Id="rId4" Type="http://schemas.openxmlformats.org/officeDocument/2006/relationships/image" Target="../media/image18.jpg"/><Relationship Id="rId9" Type="http://schemas.openxmlformats.org/officeDocument/2006/relationships/image" Target="../media/image22.jpg"/><Relationship Id="rId14" Type="http://schemas.openxmlformats.org/officeDocument/2006/relationships/image" Target="../media/image26.jpg"/><Relationship Id="rId22" Type="http://schemas.openxmlformats.org/officeDocument/2006/relationships/image" Target="../media/image31.jp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7E5A27-5938-1D6D-4D53-AC49ED4F61C6}"/>
              </a:ext>
            </a:extLst>
          </p:cNvPr>
          <p:cNvSpPr>
            <a:spLocks noGrp="1"/>
          </p:cNvSpPr>
          <p:nvPr>
            <p:ph type="ctrTitle"/>
          </p:nvPr>
        </p:nvSpPr>
        <p:spPr/>
        <p:txBody>
          <a:bodyPr>
            <a:normAutofit fontScale="90000"/>
          </a:bodyPr>
          <a:lstStyle/>
          <a:p>
            <a:r>
              <a:rPr kumimoji="1" lang="ja-JP" altLang="en-US" dirty="0"/>
              <a:t>畳み込みニューラル</a:t>
            </a:r>
            <a:br>
              <a:rPr kumimoji="1" lang="en-US" altLang="ja-JP" dirty="0"/>
            </a:br>
            <a:r>
              <a:rPr kumimoji="1" lang="ja-JP" altLang="en-US" dirty="0"/>
              <a:t>ネットワークを用いた</a:t>
            </a:r>
            <a:br>
              <a:rPr kumimoji="1" lang="en-US" altLang="ja-JP" dirty="0"/>
            </a:br>
            <a:r>
              <a:rPr kumimoji="1" lang="ja-JP" altLang="en-US" dirty="0"/>
              <a:t>大脳白質病変の</a:t>
            </a:r>
            <a:r>
              <a:rPr lang="ja-JP" altLang="en-US" dirty="0"/>
              <a:t>グレード</a:t>
            </a:r>
            <a:r>
              <a:rPr kumimoji="1" lang="ja-JP" altLang="en-US" dirty="0"/>
              <a:t>予測</a:t>
            </a:r>
          </a:p>
        </p:txBody>
      </p:sp>
      <p:sp>
        <p:nvSpPr>
          <p:cNvPr id="3" name="字幕 2">
            <a:extLst>
              <a:ext uri="{FF2B5EF4-FFF2-40B4-BE49-F238E27FC236}">
                <a16:creationId xmlns:a16="http://schemas.microsoft.com/office/drawing/2014/main" id="{1E6CFA5C-CE3A-968A-F115-CADFBF3FDE02}"/>
              </a:ext>
            </a:extLst>
          </p:cNvPr>
          <p:cNvSpPr>
            <a:spLocks noGrp="1"/>
          </p:cNvSpPr>
          <p:nvPr>
            <p:ph type="subTitle" idx="1"/>
          </p:nvPr>
        </p:nvSpPr>
        <p:spPr/>
        <p:txBody>
          <a:bodyPr>
            <a:normAutofit/>
          </a:bodyPr>
          <a:lstStyle/>
          <a:p>
            <a:r>
              <a:rPr kumimoji="1" lang="ja-JP" altLang="en-US" dirty="0"/>
              <a:t>竹村典晃　新川裕也</a:t>
            </a:r>
            <a:r>
              <a:rPr kumimoji="1" lang="ja-JP" altLang="en-US" sz="1400" dirty="0"/>
              <a:t>　</a:t>
            </a:r>
            <a:r>
              <a:rPr kumimoji="1" lang="ja-JP" altLang="en-US" dirty="0"/>
              <a:t>石井一夫</a:t>
            </a:r>
            <a:endParaRPr kumimoji="1" lang="en-US" altLang="ja-JP" sz="1400" dirty="0"/>
          </a:p>
          <a:p>
            <a:r>
              <a:rPr kumimoji="1" lang="ja-JP" altLang="en-US" dirty="0"/>
              <a:t>公立諏訪東京理科大学　久留米大学</a:t>
            </a:r>
            <a:endParaRPr kumimoji="1" lang="en-US" altLang="ja-JP" dirty="0"/>
          </a:p>
        </p:txBody>
      </p:sp>
    </p:spTree>
    <p:extLst>
      <p:ext uri="{BB962C8B-B14F-4D97-AF65-F5344CB8AC3E}">
        <p14:creationId xmlns:p14="http://schemas.microsoft.com/office/powerpoint/2010/main" val="10565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D29604-50F7-BE98-1C2C-A2150FBB06A4}"/>
              </a:ext>
            </a:extLst>
          </p:cNvPr>
          <p:cNvSpPr>
            <a:spLocks noGrp="1"/>
          </p:cNvSpPr>
          <p:nvPr>
            <p:ph type="title"/>
          </p:nvPr>
        </p:nvSpPr>
        <p:spPr/>
        <p:txBody>
          <a:bodyPr/>
          <a:lstStyle/>
          <a:p>
            <a:r>
              <a:rPr kumimoji="1" lang="ja-JP" altLang="en-US" dirty="0"/>
              <a:t>背景</a:t>
            </a:r>
          </a:p>
        </p:txBody>
      </p:sp>
      <p:sp>
        <p:nvSpPr>
          <p:cNvPr id="3" name="コンテンツ プレースホルダー 2">
            <a:extLst>
              <a:ext uri="{FF2B5EF4-FFF2-40B4-BE49-F238E27FC236}">
                <a16:creationId xmlns:a16="http://schemas.microsoft.com/office/drawing/2014/main" id="{F73E88E0-BA6E-E7D0-B11C-5FB895BDBD08}"/>
              </a:ext>
            </a:extLst>
          </p:cNvPr>
          <p:cNvSpPr>
            <a:spLocks noGrp="1"/>
          </p:cNvSpPr>
          <p:nvPr>
            <p:ph idx="1"/>
          </p:nvPr>
        </p:nvSpPr>
        <p:spPr/>
        <p:txBody>
          <a:bodyPr/>
          <a:lstStyle/>
          <a:p>
            <a:r>
              <a:rPr kumimoji="1" lang="ja-JP" altLang="en-US" dirty="0"/>
              <a:t>大脳白質病変は，脳に起こる虚血性の変化であり，その最大のリスク因子は高血圧であるとされている．</a:t>
            </a:r>
            <a:endParaRPr kumimoji="1" lang="en-US" altLang="ja-JP" dirty="0"/>
          </a:p>
          <a:p>
            <a:r>
              <a:rPr kumimoji="1" lang="ja-JP" altLang="en-US" dirty="0"/>
              <a:t>脳卒中のリスク因子でもあり，大脳白質病変が見られた場合，血圧管理などにより，さらに進行しないよう対処することが重要である．</a:t>
            </a:r>
          </a:p>
        </p:txBody>
      </p:sp>
    </p:spTree>
    <p:extLst>
      <p:ext uri="{BB962C8B-B14F-4D97-AF65-F5344CB8AC3E}">
        <p14:creationId xmlns:p14="http://schemas.microsoft.com/office/powerpoint/2010/main" val="3551254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DF5AC6-A60D-1954-48C4-64678AA5BB3E}"/>
              </a:ext>
            </a:extLst>
          </p:cNvPr>
          <p:cNvSpPr>
            <a:spLocks noGrp="1"/>
          </p:cNvSpPr>
          <p:nvPr>
            <p:ph type="title"/>
          </p:nvPr>
        </p:nvSpPr>
        <p:spPr/>
        <p:txBody>
          <a:bodyPr/>
          <a:lstStyle/>
          <a:p>
            <a:r>
              <a:rPr kumimoji="1" lang="ja-JP" altLang="en-US" dirty="0"/>
              <a:t>目的</a:t>
            </a:r>
          </a:p>
        </p:txBody>
      </p:sp>
      <p:sp>
        <p:nvSpPr>
          <p:cNvPr id="3" name="コンテンツ プレースホルダー 2">
            <a:extLst>
              <a:ext uri="{FF2B5EF4-FFF2-40B4-BE49-F238E27FC236}">
                <a16:creationId xmlns:a16="http://schemas.microsoft.com/office/drawing/2014/main" id="{8C39DB67-147C-C25F-B35D-75062972CCF3}"/>
              </a:ext>
            </a:extLst>
          </p:cNvPr>
          <p:cNvSpPr>
            <a:spLocks noGrp="1"/>
          </p:cNvSpPr>
          <p:nvPr>
            <p:ph idx="1"/>
          </p:nvPr>
        </p:nvSpPr>
        <p:spPr/>
        <p:txBody>
          <a:bodyPr>
            <a:normAutofit/>
          </a:bodyPr>
          <a:lstStyle/>
          <a:p>
            <a:r>
              <a:rPr kumimoji="1" lang="en-US" altLang="ja-JP" dirty="0"/>
              <a:t>MRI</a:t>
            </a:r>
            <a:r>
              <a:rPr kumimoji="1" lang="ja-JP" altLang="en-US" dirty="0"/>
              <a:t>を用いた大脳白質病変の診断方法を確立</a:t>
            </a:r>
            <a:r>
              <a:rPr lang="ja-JP" altLang="en-US" dirty="0"/>
              <a:t>する．</a:t>
            </a:r>
            <a:endParaRPr lang="en-US" altLang="ja-JP" dirty="0"/>
          </a:p>
          <a:p>
            <a:r>
              <a:rPr kumimoji="1" lang="ja-JP" altLang="en-US" dirty="0"/>
              <a:t>健診データの検査項目との関連を調査する．</a:t>
            </a:r>
          </a:p>
        </p:txBody>
      </p:sp>
    </p:spTree>
    <p:extLst>
      <p:ext uri="{BB962C8B-B14F-4D97-AF65-F5344CB8AC3E}">
        <p14:creationId xmlns:p14="http://schemas.microsoft.com/office/powerpoint/2010/main" val="3099917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6D1BCE-437B-F978-F3A0-F625D7FF456B}"/>
              </a:ext>
            </a:extLst>
          </p:cNvPr>
          <p:cNvSpPr>
            <a:spLocks noGrp="1"/>
          </p:cNvSpPr>
          <p:nvPr>
            <p:ph type="title"/>
          </p:nvPr>
        </p:nvSpPr>
        <p:spPr/>
        <p:txBody>
          <a:bodyPr/>
          <a:lstStyle/>
          <a:p>
            <a:r>
              <a:rPr kumimoji="1" lang="ja-JP" altLang="en-US" dirty="0"/>
              <a:t>倫理的配慮</a:t>
            </a:r>
          </a:p>
        </p:txBody>
      </p:sp>
      <p:sp>
        <p:nvSpPr>
          <p:cNvPr id="3" name="コンテンツ プレースホルダー 2">
            <a:extLst>
              <a:ext uri="{FF2B5EF4-FFF2-40B4-BE49-F238E27FC236}">
                <a16:creationId xmlns:a16="http://schemas.microsoft.com/office/drawing/2014/main" id="{5A137286-F0C8-DC9E-46C0-AE8C6DDBD20B}"/>
              </a:ext>
            </a:extLst>
          </p:cNvPr>
          <p:cNvSpPr>
            <a:spLocks noGrp="1"/>
          </p:cNvSpPr>
          <p:nvPr>
            <p:ph idx="1"/>
          </p:nvPr>
        </p:nvSpPr>
        <p:spPr/>
        <p:txBody>
          <a:bodyPr/>
          <a:lstStyle/>
          <a:p>
            <a:r>
              <a:rPr kumimoji="1" lang="ja-JP" altLang="en-US" dirty="0"/>
              <a:t>本研究は，公立諏訪東京理科大学の倫理審査委員会の承認を得て実施した．患者の個人情報保護のため，第三者による連結不可能匿名化処理を行い，データはパスワード付き記録媒体へ保存し研究以外でのデータの使用は行っていない．</a:t>
            </a:r>
          </a:p>
        </p:txBody>
      </p:sp>
    </p:spTree>
    <p:extLst>
      <p:ext uri="{BB962C8B-B14F-4D97-AF65-F5344CB8AC3E}">
        <p14:creationId xmlns:p14="http://schemas.microsoft.com/office/powerpoint/2010/main" val="2175583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F3B73A-E775-5532-56C5-C31BA55767DC}"/>
              </a:ext>
            </a:extLst>
          </p:cNvPr>
          <p:cNvSpPr>
            <a:spLocks noGrp="1"/>
          </p:cNvSpPr>
          <p:nvPr>
            <p:ph type="title"/>
          </p:nvPr>
        </p:nvSpPr>
        <p:spPr/>
        <p:txBody>
          <a:bodyPr/>
          <a:lstStyle/>
          <a:p>
            <a:r>
              <a:rPr kumimoji="1" lang="ja-JP" altLang="en-US" dirty="0"/>
              <a:t>対象</a:t>
            </a:r>
          </a:p>
        </p:txBody>
      </p:sp>
      <p:sp>
        <p:nvSpPr>
          <p:cNvPr id="3" name="コンテンツ プレースホルダー 2">
            <a:extLst>
              <a:ext uri="{FF2B5EF4-FFF2-40B4-BE49-F238E27FC236}">
                <a16:creationId xmlns:a16="http://schemas.microsoft.com/office/drawing/2014/main" id="{08F14614-C758-D120-0597-0F529F2170FD}"/>
              </a:ext>
            </a:extLst>
          </p:cNvPr>
          <p:cNvSpPr>
            <a:spLocks noGrp="1"/>
          </p:cNvSpPr>
          <p:nvPr>
            <p:ph idx="1"/>
          </p:nvPr>
        </p:nvSpPr>
        <p:spPr/>
        <p:txBody>
          <a:bodyPr>
            <a:normAutofit/>
          </a:bodyPr>
          <a:lstStyle/>
          <a:p>
            <a:r>
              <a:rPr kumimoji="1" lang="en-US" altLang="ja-JP" dirty="0"/>
              <a:t>2016</a:t>
            </a:r>
            <a:r>
              <a:rPr kumimoji="1" lang="ja-JP" altLang="en-US" dirty="0"/>
              <a:t>年</a:t>
            </a:r>
            <a:r>
              <a:rPr kumimoji="1" lang="en-US" altLang="ja-JP" dirty="0"/>
              <a:t>4</a:t>
            </a:r>
            <a:r>
              <a:rPr kumimoji="1" lang="ja-JP" altLang="en-US" dirty="0"/>
              <a:t>月</a:t>
            </a:r>
            <a:r>
              <a:rPr kumimoji="1" lang="en-US" altLang="ja-JP" dirty="0"/>
              <a:t>1</a:t>
            </a:r>
            <a:r>
              <a:rPr kumimoji="1" lang="ja-JP" altLang="en-US" dirty="0"/>
              <a:t>日から</a:t>
            </a:r>
            <a:r>
              <a:rPr kumimoji="1" lang="en-US" altLang="ja-JP" dirty="0"/>
              <a:t>2017</a:t>
            </a:r>
            <a:r>
              <a:rPr kumimoji="1" lang="ja-JP" altLang="en-US" dirty="0"/>
              <a:t>年</a:t>
            </a:r>
            <a:r>
              <a:rPr kumimoji="1" lang="en-US" altLang="ja-JP" dirty="0"/>
              <a:t>10</a:t>
            </a:r>
            <a:r>
              <a:rPr kumimoji="1" lang="ja-JP" altLang="en-US" dirty="0"/>
              <a:t>月</a:t>
            </a:r>
            <a:r>
              <a:rPr kumimoji="1" lang="en-US" altLang="ja-JP" dirty="0"/>
              <a:t>31</a:t>
            </a:r>
            <a:r>
              <a:rPr kumimoji="1" lang="ja-JP" altLang="en-US" dirty="0"/>
              <a:t>日までに，一般社団法人巨樹の会新武雄病院で人間ドック脳ドックコースにおいて頭部</a:t>
            </a:r>
            <a:r>
              <a:rPr kumimoji="1" lang="en-US" altLang="ja-JP" dirty="0"/>
              <a:t>MRI</a:t>
            </a:r>
            <a:r>
              <a:rPr kumimoji="1" lang="ja-JP" altLang="en-US" dirty="0"/>
              <a:t>検査と血液検査を受けた</a:t>
            </a:r>
            <a:r>
              <a:rPr kumimoji="1" lang="en-US" altLang="ja-JP" dirty="0"/>
              <a:t>1146</a:t>
            </a:r>
            <a:r>
              <a:rPr kumimoji="1" lang="ja-JP" altLang="en-US" dirty="0"/>
              <a:t>名を対象とした．</a:t>
            </a:r>
          </a:p>
        </p:txBody>
      </p:sp>
    </p:spTree>
    <p:extLst>
      <p:ext uri="{BB962C8B-B14F-4D97-AF65-F5344CB8AC3E}">
        <p14:creationId xmlns:p14="http://schemas.microsoft.com/office/powerpoint/2010/main" val="3983800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E72532-791D-97E3-6449-E8F7ED2D137E}"/>
              </a:ext>
            </a:extLst>
          </p:cNvPr>
          <p:cNvSpPr>
            <a:spLocks noGrp="1"/>
          </p:cNvSpPr>
          <p:nvPr>
            <p:ph type="title"/>
          </p:nvPr>
        </p:nvSpPr>
        <p:spPr/>
        <p:txBody>
          <a:bodyPr/>
          <a:lstStyle/>
          <a:p>
            <a:r>
              <a:rPr kumimoji="1" lang="ja-JP" altLang="en-US" dirty="0"/>
              <a:t>患者背景</a:t>
            </a:r>
          </a:p>
        </p:txBody>
      </p:sp>
      <p:sp>
        <p:nvSpPr>
          <p:cNvPr id="3" name="コンテンツ プレースホルダー 2">
            <a:extLst>
              <a:ext uri="{FF2B5EF4-FFF2-40B4-BE49-F238E27FC236}">
                <a16:creationId xmlns:a16="http://schemas.microsoft.com/office/drawing/2014/main" id="{29380986-C6CD-40AA-C3C1-87287A137C40}"/>
              </a:ext>
            </a:extLst>
          </p:cNvPr>
          <p:cNvSpPr>
            <a:spLocks noGrp="1"/>
          </p:cNvSpPr>
          <p:nvPr>
            <p:ph idx="1"/>
          </p:nvPr>
        </p:nvSpPr>
        <p:spPr/>
        <p:txBody>
          <a:bodyPr/>
          <a:lstStyle/>
          <a:p>
            <a:endParaRPr kumimoji="1" lang="ja-JP" altLang="en-US" dirty="0"/>
          </a:p>
        </p:txBody>
      </p:sp>
      <p:pic>
        <p:nvPicPr>
          <p:cNvPr id="4" name="図 3" descr="テキスト&#10;&#10;自動的に生成された説明">
            <a:extLst>
              <a:ext uri="{FF2B5EF4-FFF2-40B4-BE49-F238E27FC236}">
                <a16:creationId xmlns:a16="http://schemas.microsoft.com/office/drawing/2014/main" id="{82046D43-48F9-4AB0-4E77-42D927F7EF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0633" y="1825625"/>
            <a:ext cx="6270734" cy="4216401"/>
          </a:xfrm>
          <a:prstGeom prst="rect">
            <a:avLst/>
          </a:prstGeom>
        </p:spPr>
      </p:pic>
      <p:sp>
        <p:nvSpPr>
          <p:cNvPr id="5" name="テキスト ボックス 4">
            <a:extLst>
              <a:ext uri="{FF2B5EF4-FFF2-40B4-BE49-F238E27FC236}">
                <a16:creationId xmlns:a16="http://schemas.microsoft.com/office/drawing/2014/main" id="{527E6971-6CED-535B-E0C0-CA5AF83BE05C}"/>
              </a:ext>
            </a:extLst>
          </p:cNvPr>
          <p:cNvSpPr txBox="1"/>
          <p:nvPr/>
        </p:nvSpPr>
        <p:spPr>
          <a:xfrm>
            <a:off x="838200" y="6176963"/>
            <a:ext cx="10515600" cy="369332"/>
          </a:xfrm>
          <a:prstGeom prst="rect">
            <a:avLst/>
          </a:prstGeom>
          <a:noFill/>
        </p:spPr>
        <p:txBody>
          <a:bodyPr wrap="square">
            <a:spAutoFit/>
          </a:bodyPr>
          <a:lstStyle/>
          <a:p>
            <a:pPr algn="ctr"/>
            <a:r>
              <a:rPr lang="ja-JP" altLang="en-US" dirty="0"/>
              <a:t>図</a:t>
            </a:r>
            <a:r>
              <a:rPr lang="en-US" altLang="ja-JP" dirty="0"/>
              <a:t>1</a:t>
            </a:r>
            <a:r>
              <a:rPr lang="ja-JP" altLang="en-US" dirty="0"/>
              <a:t>　本研究の対象</a:t>
            </a:r>
          </a:p>
        </p:txBody>
      </p:sp>
    </p:spTree>
    <p:extLst>
      <p:ext uri="{BB962C8B-B14F-4D97-AF65-F5344CB8AC3E}">
        <p14:creationId xmlns:p14="http://schemas.microsoft.com/office/powerpoint/2010/main" val="1549742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descr="テーブル&#10;&#10;自動的に生成された説明">
            <a:extLst>
              <a:ext uri="{FF2B5EF4-FFF2-40B4-BE49-F238E27FC236}">
                <a16:creationId xmlns:a16="http://schemas.microsoft.com/office/drawing/2014/main" id="{752FA41E-3C3F-BF20-296B-1E47903A0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212" y="261156"/>
            <a:ext cx="11071573" cy="5939938"/>
          </a:xfrm>
          <a:prstGeom prst="rect">
            <a:avLst/>
          </a:prstGeom>
        </p:spPr>
      </p:pic>
      <p:sp>
        <p:nvSpPr>
          <p:cNvPr id="3" name="テキスト ボックス 2">
            <a:extLst>
              <a:ext uri="{FF2B5EF4-FFF2-40B4-BE49-F238E27FC236}">
                <a16:creationId xmlns:a16="http://schemas.microsoft.com/office/drawing/2014/main" id="{30FF67C6-2E4D-58AA-D20B-ADFB65B386F4}"/>
              </a:ext>
            </a:extLst>
          </p:cNvPr>
          <p:cNvSpPr txBox="1"/>
          <p:nvPr/>
        </p:nvSpPr>
        <p:spPr>
          <a:xfrm>
            <a:off x="4924319" y="6227512"/>
            <a:ext cx="2343361" cy="369332"/>
          </a:xfrm>
          <a:prstGeom prst="rect">
            <a:avLst/>
          </a:prstGeom>
          <a:noFill/>
        </p:spPr>
        <p:txBody>
          <a:bodyPr wrap="square">
            <a:spAutoFit/>
          </a:bodyPr>
          <a:lstStyle/>
          <a:p>
            <a:pPr algn="ctr"/>
            <a:r>
              <a:rPr lang="ja-JP" altLang="en-US" dirty="0"/>
              <a:t>表</a:t>
            </a:r>
            <a:r>
              <a:rPr lang="en-US" altLang="ja-JP" dirty="0"/>
              <a:t>1</a:t>
            </a:r>
            <a:r>
              <a:rPr lang="ja-JP" altLang="en-US" dirty="0"/>
              <a:t>　患者背景</a:t>
            </a:r>
          </a:p>
        </p:txBody>
      </p:sp>
    </p:spTree>
    <p:extLst>
      <p:ext uri="{BB962C8B-B14F-4D97-AF65-F5344CB8AC3E}">
        <p14:creationId xmlns:p14="http://schemas.microsoft.com/office/powerpoint/2010/main" val="357710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85B2F9-6707-373F-9890-46CF4DE177F9}"/>
              </a:ext>
            </a:extLst>
          </p:cNvPr>
          <p:cNvSpPr>
            <a:spLocks noGrp="1"/>
          </p:cNvSpPr>
          <p:nvPr>
            <p:ph type="title"/>
          </p:nvPr>
        </p:nvSpPr>
        <p:spPr/>
        <p:txBody>
          <a:bodyPr/>
          <a:lstStyle/>
          <a:p>
            <a:r>
              <a:rPr lang="ja-JP" altLang="en-US" dirty="0"/>
              <a:t>大脳白質病変のグレード評価</a:t>
            </a:r>
            <a:endParaRPr kumimoji="1" lang="ja-JP" altLang="en-US" dirty="0"/>
          </a:p>
        </p:txBody>
      </p:sp>
      <p:sp>
        <p:nvSpPr>
          <p:cNvPr id="3" name="コンテンツ プレースホルダー 2">
            <a:extLst>
              <a:ext uri="{FF2B5EF4-FFF2-40B4-BE49-F238E27FC236}">
                <a16:creationId xmlns:a16="http://schemas.microsoft.com/office/drawing/2014/main" id="{BE679454-58A8-648E-F704-9287F9B5915E}"/>
              </a:ext>
            </a:extLst>
          </p:cNvPr>
          <p:cNvSpPr>
            <a:spLocks noGrp="1"/>
          </p:cNvSpPr>
          <p:nvPr>
            <p:ph idx="1"/>
          </p:nvPr>
        </p:nvSpPr>
        <p:spPr/>
        <p:txBody>
          <a:bodyPr/>
          <a:lstStyle/>
          <a:p>
            <a:r>
              <a:rPr kumimoji="1" lang="ja-JP" altLang="en-US" dirty="0"/>
              <a:t>大脳白質病変の</a:t>
            </a:r>
            <a:r>
              <a:rPr lang="ja-JP" altLang="en-US" dirty="0"/>
              <a:t>グレード</a:t>
            </a:r>
            <a:r>
              <a:rPr kumimoji="1" lang="en-US" altLang="ja-JP" dirty="0"/>
              <a:t>4</a:t>
            </a:r>
            <a:r>
              <a:rPr kumimoji="1" lang="ja-JP" altLang="en-US" dirty="0"/>
              <a:t>と</a:t>
            </a:r>
            <a:r>
              <a:rPr lang="ja-JP" altLang="en-US" dirty="0"/>
              <a:t>グレード</a:t>
            </a:r>
            <a:r>
              <a:rPr kumimoji="1" lang="en-US" altLang="ja-JP" dirty="0"/>
              <a:t>0</a:t>
            </a:r>
            <a:r>
              <a:rPr kumimoji="1" lang="ja-JP" altLang="en-US" dirty="0"/>
              <a:t>（白質病変なし）の違い</a:t>
            </a:r>
          </a:p>
        </p:txBody>
      </p:sp>
      <p:grpSp>
        <p:nvGrpSpPr>
          <p:cNvPr id="5" name="グループ化 4">
            <a:extLst>
              <a:ext uri="{FF2B5EF4-FFF2-40B4-BE49-F238E27FC236}">
                <a16:creationId xmlns:a16="http://schemas.microsoft.com/office/drawing/2014/main" id="{AA1A7310-4EDE-F5C7-1B77-8F0AC705C938}"/>
              </a:ext>
            </a:extLst>
          </p:cNvPr>
          <p:cNvGrpSpPr/>
          <p:nvPr/>
        </p:nvGrpSpPr>
        <p:grpSpPr>
          <a:xfrm>
            <a:off x="1719109" y="2678263"/>
            <a:ext cx="8753781" cy="3102008"/>
            <a:chOff x="1809270" y="2649688"/>
            <a:chExt cx="8753781" cy="3102008"/>
          </a:xfrm>
        </p:grpSpPr>
        <p:pic>
          <p:nvPicPr>
            <p:cNvPr id="19" name="図 18" descr="ゴーグルをつけた男性の白黒写真&#10;&#10;中程度の精度で自動的に生成された説明">
              <a:extLst>
                <a:ext uri="{FF2B5EF4-FFF2-40B4-BE49-F238E27FC236}">
                  <a16:creationId xmlns:a16="http://schemas.microsoft.com/office/drawing/2014/main" id="{926A75B9-A8FC-776B-8345-2AA2BC4BF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270" y="2649691"/>
              <a:ext cx="1461208" cy="1558622"/>
            </a:xfrm>
            <a:prstGeom prst="rect">
              <a:avLst/>
            </a:prstGeom>
          </p:spPr>
        </p:pic>
        <p:pic>
          <p:nvPicPr>
            <p:cNvPr id="21" name="図 20" descr="男, 写真, 座る, 立つ が含まれている画像&#10;&#10;自動的に生成された説明">
              <a:extLst>
                <a:ext uri="{FF2B5EF4-FFF2-40B4-BE49-F238E27FC236}">
                  <a16:creationId xmlns:a16="http://schemas.microsoft.com/office/drawing/2014/main" id="{3B18D5B1-0A35-4284-3AD7-8B89C482A0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6432" y="2649689"/>
              <a:ext cx="1461209" cy="1558623"/>
            </a:xfrm>
            <a:prstGeom prst="rect">
              <a:avLst/>
            </a:prstGeom>
          </p:spPr>
        </p:pic>
        <p:pic>
          <p:nvPicPr>
            <p:cNvPr id="23" name="図 22" descr="時計が付いている｜｜｜ｐ&#10;&#10;低い精度で自動的に生成された説明">
              <a:extLst>
                <a:ext uri="{FF2B5EF4-FFF2-40B4-BE49-F238E27FC236}">
                  <a16:creationId xmlns:a16="http://schemas.microsoft.com/office/drawing/2014/main" id="{BE6461B6-C820-1224-72FB-091EC02A8A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6703" y="2649690"/>
              <a:ext cx="1461209" cy="1558623"/>
            </a:xfrm>
            <a:prstGeom prst="rect">
              <a:avLst/>
            </a:prstGeom>
          </p:spPr>
        </p:pic>
        <p:pic>
          <p:nvPicPr>
            <p:cNvPr id="25" name="図 24" descr="Cgで描かれたコイン&#10;&#10;中程度の精度で自動的に生成された説明">
              <a:extLst>
                <a:ext uri="{FF2B5EF4-FFF2-40B4-BE49-F238E27FC236}">
                  <a16:creationId xmlns:a16="http://schemas.microsoft.com/office/drawing/2014/main" id="{357C1621-6D90-1239-A872-F50EE29037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4137" y="2649688"/>
              <a:ext cx="1461209" cy="1558623"/>
            </a:xfrm>
            <a:prstGeom prst="rect">
              <a:avLst/>
            </a:prstGeom>
          </p:spPr>
        </p:pic>
        <p:pic>
          <p:nvPicPr>
            <p:cNvPr id="29" name="図 28" descr="Cgで描かれたコイン&#10;&#10;低い精度で自動的に生成された説明">
              <a:extLst>
                <a:ext uri="{FF2B5EF4-FFF2-40B4-BE49-F238E27FC236}">
                  <a16:creationId xmlns:a16="http://schemas.microsoft.com/office/drawing/2014/main" id="{B26F44F6-0792-2DEF-038B-304709BD4B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1842" y="2649688"/>
              <a:ext cx="1461209" cy="1558623"/>
            </a:xfrm>
            <a:prstGeom prst="rect">
              <a:avLst/>
            </a:prstGeom>
          </p:spPr>
        </p:pic>
        <p:pic>
          <p:nvPicPr>
            <p:cNvPr id="31" name="図 30" descr="写真, 男, 記号, 座る が含まれている画像&#10;&#10;自動的に生成された説明">
              <a:extLst>
                <a:ext uri="{FF2B5EF4-FFF2-40B4-BE49-F238E27FC236}">
                  <a16:creationId xmlns:a16="http://schemas.microsoft.com/office/drawing/2014/main" id="{EC2EB7E6-5E68-3BA7-D4E3-9BC057DB6D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68997" y="2649690"/>
              <a:ext cx="1461210" cy="1558624"/>
            </a:xfrm>
            <a:prstGeom prst="rect">
              <a:avLst/>
            </a:prstGeom>
          </p:spPr>
        </p:pic>
        <p:pic>
          <p:nvPicPr>
            <p:cNvPr id="34" name="図 33" descr="ゴーグルをつけた男性の白黒写真&#10;&#10;中程度の精度で自動的に生成された説明">
              <a:extLst>
                <a:ext uri="{FF2B5EF4-FFF2-40B4-BE49-F238E27FC236}">
                  <a16:creationId xmlns:a16="http://schemas.microsoft.com/office/drawing/2014/main" id="{1EACFD77-2F93-83A5-D7F2-D503ABABDE7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09270" y="4189184"/>
              <a:ext cx="1461208" cy="1558622"/>
            </a:xfrm>
            <a:prstGeom prst="rect">
              <a:avLst/>
            </a:prstGeom>
          </p:spPr>
        </p:pic>
        <p:pic>
          <p:nvPicPr>
            <p:cNvPr id="36" name="図 35" descr="写真, 座る, ロケット, 男 が含まれている画像&#10;&#10;自動的に生成された説明">
              <a:extLst>
                <a:ext uri="{FF2B5EF4-FFF2-40B4-BE49-F238E27FC236}">
                  <a16:creationId xmlns:a16="http://schemas.microsoft.com/office/drawing/2014/main" id="{AE3D6C90-C61B-663B-50DB-E171CDF9ED4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270478" y="4189185"/>
              <a:ext cx="1464853" cy="1562510"/>
            </a:xfrm>
            <a:prstGeom prst="rect">
              <a:avLst/>
            </a:prstGeom>
          </p:spPr>
        </p:pic>
        <p:pic>
          <p:nvPicPr>
            <p:cNvPr id="38" name="図 37" descr="座る, 探す, 記号, 時計 が含まれている画像&#10;&#10;自動的に生成された説明">
              <a:extLst>
                <a:ext uri="{FF2B5EF4-FFF2-40B4-BE49-F238E27FC236}">
                  <a16:creationId xmlns:a16="http://schemas.microsoft.com/office/drawing/2014/main" id="{51BB749F-E6DA-8916-82AB-4407628AC81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35331" y="4196953"/>
              <a:ext cx="1457571" cy="1554742"/>
            </a:xfrm>
            <a:prstGeom prst="rect">
              <a:avLst/>
            </a:prstGeom>
          </p:spPr>
        </p:pic>
        <p:pic>
          <p:nvPicPr>
            <p:cNvPr id="40" name="図 39" descr="Cgで描かれたコイン&#10;&#10;中程度の精度で自動的に生成された説明">
              <a:extLst>
                <a:ext uri="{FF2B5EF4-FFF2-40B4-BE49-F238E27FC236}">
                  <a16:creationId xmlns:a16="http://schemas.microsoft.com/office/drawing/2014/main" id="{B13C5963-26EB-1D84-5533-6A732CC9754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91083" y="4193071"/>
              <a:ext cx="1461210" cy="1558624"/>
            </a:xfrm>
            <a:prstGeom prst="rect">
              <a:avLst/>
            </a:prstGeom>
          </p:spPr>
        </p:pic>
        <p:pic>
          <p:nvPicPr>
            <p:cNvPr id="42" name="図 41" descr="時計, 座る, 暗い, テーブル が含まれている画像&#10;&#10;自動的に生成された説明">
              <a:extLst>
                <a:ext uri="{FF2B5EF4-FFF2-40B4-BE49-F238E27FC236}">
                  <a16:creationId xmlns:a16="http://schemas.microsoft.com/office/drawing/2014/main" id="{87F8D077-AE61-F401-9FEA-94BE99F1176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52293" y="4193070"/>
              <a:ext cx="1461211" cy="1558625"/>
            </a:xfrm>
            <a:prstGeom prst="rect">
              <a:avLst/>
            </a:prstGeom>
          </p:spPr>
        </p:pic>
        <p:pic>
          <p:nvPicPr>
            <p:cNvPr id="44" name="図 43" descr="Cgで描かれたコイン&#10;&#10;中程度の精度で自動的に生成された説明">
              <a:extLst>
                <a:ext uri="{FF2B5EF4-FFF2-40B4-BE49-F238E27FC236}">
                  <a16:creationId xmlns:a16="http://schemas.microsoft.com/office/drawing/2014/main" id="{86B76A75-D3E5-8EDF-859D-6E82026DD06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100361" y="4193072"/>
              <a:ext cx="1461210" cy="1558624"/>
            </a:xfrm>
            <a:prstGeom prst="rect">
              <a:avLst/>
            </a:prstGeom>
          </p:spPr>
        </p:pic>
      </p:grpSp>
      <p:sp>
        <p:nvSpPr>
          <p:cNvPr id="4" name="テキスト ボックス 3">
            <a:extLst>
              <a:ext uri="{FF2B5EF4-FFF2-40B4-BE49-F238E27FC236}">
                <a16:creationId xmlns:a16="http://schemas.microsoft.com/office/drawing/2014/main" id="{A3C75B52-6F63-124F-8732-EE90E9DE5A16}"/>
              </a:ext>
            </a:extLst>
          </p:cNvPr>
          <p:cNvSpPr txBox="1"/>
          <p:nvPr/>
        </p:nvSpPr>
        <p:spPr>
          <a:xfrm>
            <a:off x="838199" y="6223383"/>
            <a:ext cx="10515599" cy="369332"/>
          </a:xfrm>
          <a:prstGeom prst="rect">
            <a:avLst/>
          </a:prstGeom>
          <a:noFill/>
        </p:spPr>
        <p:txBody>
          <a:bodyPr wrap="square">
            <a:spAutoFit/>
          </a:bodyPr>
          <a:lstStyle/>
          <a:p>
            <a:pPr algn="ctr"/>
            <a:r>
              <a:rPr lang="ja-JP" altLang="en-US" dirty="0"/>
              <a:t>図</a:t>
            </a:r>
            <a:r>
              <a:rPr lang="en-US" altLang="ja-JP" dirty="0"/>
              <a:t>2</a:t>
            </a:r>
            <a:r>
              <a:rPr lang="ja-JP" altLang="en-US" dirty="0"/>
              <a:t>　典型的な大脳白質病変の有無</a:t>
            </a:r>
          </a:p>
        </p:txBody>
      </p:sp>
    </p:spTree>
    <p:extLst>
      <p:ext uri="{BB962C8B-B14F-4D97-AF65-F5344CB8AC3E}">
        <p14:creationId xmlns:p14="http://schemas.microsoft.com/office/powerpoint/2010/main" val="3190073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85B2F9-6707-373F-9890-46CF4DE177F9}"/>
              </a:ext>
            </a:extLst>
          </p:cNvPr>
          <p:cNvSpPr>
            <a:spLocks noGrp="1"/>
          </p:cNvSpPr>
          <p:nvPr>
            <p:ph type="title"/>
          </p:nvPr>
        </p:nvSpPr>
        <p:spPr/>
        <p:txBody>
          <a:bodyPr/>
          <a:lstStyle/>
          <a:p>
            <a:r>
              <a:rPr kumimoji="1" lang="en-US" altLang="ja-JP" dirty="0"/>
              <a:t>MRI</a:t>
            </a:r>
            <a:r>
              <a:rPr kumimoji="1" lang="ja-JP" altLang="en-US" dirty="0"/>
              <a:t>の撮影方法</a:t>
            </a:r>
          </a:p>
        </p:txBody>
      </p:sp>
      <p:sp>
        <p:nvSpPr>
          <p:cNvPr id="6" name="テキスト ボックス 5">
            <a:extLst>
              <a:ext uri="{FF2B5EF4-FFF2-40B4-BE49-F238E27FC236}">
                <a16:creationId xmlns:a16="http://schemas.microsoft.com/office/drawing/2014/main" id="{9C7D4C8E-5288-0810-CE3D-BF9671BA3A29}"/>
              </a:ext>
            </a:extLst>
          </p:cNvPr>
          <p:cNvSpPr txBox="1"/>
          <p:nvPr/>
        </p:nvSpPr>
        <p:spPr>
          <a:xfrm>
            <a:off x="7994932" y="5489134"/>
            <a:ext cx="1912703" cy="523220"/>
          </a:xfrm>
          <a:prstGeom prst="rect">
            <a:avLst/>
          </a:prstGeom>
          <a:noFill/>
        </p:spPr>
        <p:txBody>
          <a:bodyPr wrap="none" rtlCol="0">
            <a:spAutoFit/>
          </a:bodyPr>
          <a:lstStyle/>
          <a:p>
            <a:pPr algn="ctr"/>
            <a:r>
              <a:rPr lang="en-US" altLang="ja-JP" sz="2800" dirty="0"/>
              <a:t>FLAIR</a:t>
            </a:r>
            <a:r>
              <a:rPr lang="ja-JP" altLang="en-US" sz="2800" dirty="0"/>
              <a:t>画像</a:t>
            </a:r>
            <a:endParaRPr lang="en-US" altLang="ja-JP" sz="2800" dirty="0"/>
          </a:p>
        </p:txBody>
      </p:sp>
      <p:sp>
        <p:nvSpPr>
          <p:cNvPr id="8" name="テキスト ボックス 7">
            <a:extLst>
              <a:ext uri="{FF2B5EF4-FFF2-40B4-BE49-F238E27FC236}">
                <a16:creationId xmlns:a16="http://schemas.microsoft.com/office/drawing/2014/main" id="{C4541613-9C24-94FE-E551-5C8003EB8ADE}"/>
              </a:ext>
            </a:extLst>
          </p:cNvPr>
          <p:cNvSpPr txBox="1"/>
          <p:nvPr/>
        </p:nvSpPr>
        <p:spPr>
          <a:xfrm>
            <a:off x="2148419" y="5489134"/>
            <a:ext cx="2169886" cy="523220"/>
          </a:xfrm>
          <a:prstGeom prst="rect">
            <a:avLst/>
          </a:prstGeom>
          <a:noFill/>
        </p:spPr>
        <p:txBody>
          <a:bodyPr wrap="square" rtlCol="0">
            <a:spAutoFit/>
          </a:bodyPr>
          <a:lstStyle/>
          <a:p>
            <a:pPr algn="ctr"/>
            <a:r>
              <a:rPr kumimoji="1" lang="en-US" altLang="ja-JP" sz="2800" dirty="0"/>
              <a:t>T1</a:t>
            </a:r>
            <a:r>
              <a:rPr kumimoji="1" lang="ja-JP" altLang="en-US" sz="2800" dirty="0"/>
              <a:t>強調画像</a:t>
            </a:r>
            <a:endParaRPr kumimoji="1" lang="en-US" altLang="ja-JP" sz="2800" dirty="0"/>
          </a:p>
        </p:txBody>
      </p:sp>
      <p:sp>
        <p:nvSpPr>
          <p:cNvPr id="9" name="テキスト ボックス 8">
            <a:extLst>
              <a:ext uri="{FF2B5EF4-FFF2-40B4-BE49-F238E27FC236}">
                <a16:creationId xmlns:a16="http://schemas.microsoft.com/office/drawing/2014/main" id="{1081D14F-C985-9EBE-81D6-BC82CCEFF494}"/>
              </a:ext>
            </a:extLst>
          </p:cNvPr>
          <p:cNvSpPr txBox="1"/>
          <p:nvPr/>
        </p:nvSpPr>
        <p:spPr>
          <a:xfrm>
            <a:off x="5008841" y="5489134"/>
            <a:ext cx="2169886" cy="523220"/>
          </a:xfrm>
          <a:prstGeom prst="rect">
            <a:avLst/>
          </a:prstGeom>
          <a:noFill/>
        </p:spPr>
        <p:txBody>
          <a:bodyPr wrap="square" rtlCol="0">
            <a:spAutoFit/>
          </a:bodyPr>
          <a:lstStyle/>
          <a:p>
            <a:pPr algn="ctr"/>
            <a:r>
              <a:rPr lang="en-US" altLang="ja-JP" sz="2800" dirty="0"/>
              <a:t>T2</a:t>
            </a:r>
            <a:r>
              <a:rPr lang="ja-JP" altLang="en-US" sz="2800" dirty="0"/>
              <a:t>強調画像</a:t>
            </a:r>
            <a:endParaRPr lang="en-US" altLang="ja-JP" sz="1200" dirty="0">
              <a:solidFill>
                <a:schemeClr val="bg1"/>
              </a:solidFill>
            </a:endParaRPr>
          </a:p>
        </p:txBody>
      </p:sp>
      <p:sp>
        <p:nvSpPr>
          <p:cNvPr id="3" name="テキスト ボックス 2">
            <a:extLst>
              <a:ext uri="{FF2B5EF4-FFF2-40B4-BE49-F238E27FC236}">
                <a16:creationId xmlns:a16="http://schemas.microsoft.com/office/drawing/2014/main" id="{734385E6-3F47-8143-2128-F51AA6D01160}"/>
              </a:ext>
            </a:extLst>
          </p:cNvPr>
          <p:cNvSpPr txBox="1"/>
          <p:nvPr/>
        </p:nvSpPr>
        <p:spPr>
          <a:xfrm>
            <a:off x="838200" y="6227512"/>
            <a:ext cx="10515600" cy="369332"/>
          </a:xfrm>
          <a:prstGeom prst="rect">
            <a:avLst/>
          </a:prstGeom>
          <a:noFill/>
        </p:spPr>
        <p:txBody>
          <a:bodyPr wrap="square">
            <a:spAutoFit/>
          </a:bodyPr>
          <a:lstStyle/>
          <a:p>
            <a:pPr algn="ctr"/>
            <a:r>
              <a:rPr lang="ja-JP" altLang="en-US" dirty="0"/>
              <a:t>図</a:t>
            </a:r>
            <a:r>
              <a:rPr lang="en-US" altLang="ja-JP" dirty="0"/>
              <a:t>3</a:t>
            </a:r>
            <a:r>
              <a:rPr lang="ja-JP" altLang="en-US" dirty="0"/>
              <a:t>　撮影方法別の</a:t>
            </a:r>
            <a:r>
              <a:rPr lang="en-US" altLang="ja-JP" dirty="0"/>
              <a:t>MRI</a:t>
            </a:r>
            <a:endParaRPr lang="ja-JP" altLang="en-US" dirty="0"/>
          </a:p>
        </p:txBody>
      </p:sp>
      <p:sp>
        <p:nvSpPr>
          <p:cNvPr id="10" name="コンテンツ プレースホルダー 9">
            <a:extLst>
              <a:ext uri="{FF2B5EF4-FFF2-40B4-BE49-F238E27FC236}">
                <a16:creationId xmlns:a16="http://schemas.microsoft.com/office/drawing/2014/main" id="{D942AA44-B190-5494-D319-BD2B65F52D68}"/>
              </a:ext>
            </a:extLst>
          </p:cNvPr>
          <p:cNvSpPr>
            <a:spLocks noGrp="1"/>
          </p:cNvSpPr>
          <p:nvPr>
            <p:ph idx="1"/>
          </p:nvPr>
        </p:nvSpPr>
        <p:spPr/>
        <p:txBody>
          <a:bodyPr/>
          <a:lstStyle/>
          <a:p>
            <a:r>
              <a:rPr lang="ja-JP" altLang="en-US" dirty="0"/>
              <a:t>撮影方法による</a:t>
            </a:r>
            <a:r>
              <a:rPr lang="en-US" altLang="ja-JP" dirty="0"/>
              <a:t>MRI</a:t>
            </a:r>
            <a:r>
              <a:rPr lang="ja-JP" altLang="en-US" dirty="0"/>
              <a:t>画像の違い</a:t>
            </a:r>
          </a:p>
        </p:txBody>
      </p:sp>
      <p:grpSp>
        <p:nvGrpSpPr>
          <p:cNvPr id="14" name="グループ化 13">
            <a:extLst>
              <a:ext uri="{FF2B5EF4-FFF2-40B4-BE49-F238E27FC236}">
                <a16:creationId xmlns:a16="http://schemas.microsoft.com/office/drawing/2014/main" id="{F15D524D-18A3-0A6E-13A9-545CC3324FD0}"/>
              </a:ext>
            </a:extLst>
          </p:cNvPr>
          <p:cNvGrpSpPr/>
          <p:nvPr/>
        </p:nvGrpSpPr>
        <p:grpSpPr>
          <a:xfrm>
            <a:off x="1807535" y="2441134"/>
            <a:ext cx="8572498" cy="3048000"/>
            <a:chOff x="1807535" y="2116014"/>
            <a:chExt cx="8572498" cy="3048000"/>
          </a:xfrm>
        </p:grpSpPr>
        <p:pic>
          <p:nvPicPr>
            <p:cNvPr id="4" name="図 3" descr="男, 座る, 持つ, 暗い が含まれている画像&#10;&#10;自動的に生成された説明">
              <a:extLst>
                <a:ext uri="{FF2B5EF4-FFF2-40B4-BE49-F238E27FC236}">
                  <a16:creationId xmlns:a16="http://schemas.microsoft.com/office/drawing/2014/main" id="{3984E1E6-BB60-3478-E86E-017B22532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7535" y="2116014"/>
              <a:ext cx="2857500" cy="3048000"/>
            </a:xfrm>
            <a:prstGeom prst="rect">
              <a:avLst/>
            </a:prstGeom>
          </p:spPr>
        </p:pic>
        <p:pic>
          <p:nvPicPr>
            <p:cNvPr id="5" name="図 4" descr="時計が付いている｜｜｜ｐ&#10;&#10;低い精度で自動的に生成された説明">
              <a:extLst>
                <a:ext uri="{FF2B5EF4-FFF2-40B4-BE49-F238E27FC236}">
                  <a16:creationId xmlns:a16="http://schemas.microsoft.com/office/drawing/2014/main" id="{A8E9A009-E270-7231-12A7-ED39792B4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5034" y="2116014"/>
              <a:ext cx="2857500" cy="3048000"/>
            </a:xfrm>
            <a:prstGeom prst="rect">
              <a:avLst/>
            </a:prstGeom>
          </p:spPr>
        </p:pic>
        <p:pic>
          <p:nvPicPr>
            <p:cNvPr id="12" name="コンテンツ プレースホルダー 10" descr="男, 写真, 座る, 立つ が含まれている画像&#10;&#10;自動的に生成された説明">
              <a:extLst>
                <a:ext uri="{FF2B5EF4-FFF2-40B4-BE49-F238E27FC236}">
                  <a16:creationId xmlns:a16="http://schemas.microsoft.com/office/drawing/2014/main" id="{CB4B8F3F-9FF1-E148-85B2-24B37FC9D4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2533" y="2116014"/>
              <a:ext cx="2857500" cy="3048000"/>
            </a:xfrm>
            <a:prstGeom prst="rect">
              <a:avLst/>
            </a:prstGeom>
          </p:spPr>
        </p:pic>
      </p:grpSp>
    </p:spTree>
    <p:extLst>
      <p:ext uri="{BB962C8B-B14F-4D97-AF65-F5344CB8AC3E}">
        <p14:creationId xmlns:p14="http://schemas.microsoft.com/office/powerpoint/2010/main" val="3629859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04346-1832-B152-DBFC-9ABA6C00DD39}"/>
              </a:ext>
            </a:extLst>
          </p:cNvPr>
          <p:cNvSpPr>
            <a:spLocks noGrp="1"/>
          </p:cNvSpPr>
          <p:nvPr>
            <p:ph type="title"/>
          </p:nvPr>
        </p:nvSpPr>
        <p:spPr/>
        <p:txBody>
          <a:bodyPr/>
          <a:lstStyle/>
          <a:p>
            <a:r>
              <a:rPr kumimoji="1" lang="ja-JP" altLang="en-US" dirty="0"/>
              <a:t>本研究におけるアキシャル</a:t>
            </a:r>
            <a:r>
              <a:rPr lang="en-US" altLang="ja-JP" dirty="0"/>
              <a:t>(</a:t>
            </a:r>
            <a:r>
              <a:rPr kumimoji="1" lang="en-US" altLang="ja-JP" dirty="0"/>
              <a:t>axial)</a:t>
            </a:r>
            <a:r>
              <a:rPr kumimoji="1" lang="ja-JP" altLang="en-US" dirty="0"/>
              <a:t>の定義</a:t>
            </a:r>
          </a:p>
        </p:txBody>
      </p:sp>
      <p:sp>
        <p:nvSpPr>
          <p:cNvPr id="3" name="コンテンツ プレースホルダー 2">
            <a:extLst>
              <a:ext uri="{FF2B5EF4-FFF2-40B4-BE49-F238E27FC236}">
                <a16:creationId xmlns:a16="http://schemas.microsoft.com/office/drawing/2014/main" id="{1F35EE19-F341-78F0-6301-2991195915F1}"/>
              </a:ext>
            </a:extLst>
          </p:cNvPr>
          <p:cNvSpPr>
            <a:spLocks noGrp="1"/>
          </p:cNvSpPr>
          <p:nvPr>
            <p:ph idx="1"/>
          </p:nvPr>
        </p:nvSpPr>
        <p:spPr>
          <a:xfrm>
            <a:off x="838200" y="1825625"/>
            <a:ext cx="11061631" cy="1325563"/>
          </a:xfrm>
        </p:spPr>
        <p:txBody>
          <a:bodyPr>
            <a:normAutofit fontScale="77500" lnSpcReduction="20000"/>
          </a:bodyPr>
          <a:lstStyle/>
          <a:p>
            <a:r>
              <a:rPr kumimoji="1" lang="en-US" altLang="ja-JP" dirty="0"/>
              <a:t>CT</a:t>
            </a:r>
            <a:r>
              <a:rPr kumimoji="1" lang="ja-JP" altLang="en-US" dirty="0"/>
              <a:t>や</a:t>
            </a:r>
            <a:r>
              <a:rPr kumimoji="1" lang="en-US" altLang="ja-JP" dirty="0"/>
              <a:t>MRI</a:t>
            </a:r>
            <a:r>
              <a:rPr kumimoji="1" lang="ja-JP" altLang="en-US" dirty="0"/>
              <a:t>などにおいて，横断面で撮影した複数枚のスライス画像をアキシャルという．</a:t>
            </a:r>
            <a:endParaRPr kumimoji="1" lang="en-US" altLang="ja-JP" dirty="0"/>
          </a:p>
          <a:p>
            <a:r>
              <a:rPr kumimoji="1" lang="ja-JP" altLang="en-US" dirty="0"/>
              <a:t>一人の患者につき</a:t>
            </a:r>
            <a:r>
              <a:rPr kumimoji="1" lang="en-US" altLang="ja-JP" dirty="0"/>
              <a:t>25</a:t>
            </a:r>
            <a:r>
              <a:rPr kumimoji="1" lang="ja-JP" altLang="en-US" dirty="0"/>
              <a:t>枚程度の横断画像になっている．</a:t>
            </a:r>
            <a:endParaRPr kumimoji="1" lang="en-US" altLang="ja-JP" dirty="0"/>
          </a:p>
          <a:p>
            <a:r>
              <a:rPr kumimoji="1" lang="ja-JP" altLang="en-US" dirty="0"/>
              <a:t>本研究では，その</a:t>
            </a:r>
            <a:r>
              <a:rPr kumimoji="1" lang="en-US" altLang="ja-JP" dirty="0"/>
              <a:t>1</a:t>
            </a:r>
            <a:r>
              <a:rPr kumimoji="1" lang="ja-JP" altLang="en-US" dirty="0"/>
              <a:t>枚を</a:t>
            </a:r>
            <a:r>
              <a:rPr kumimoji="1" lang="en-US" altLang="ja-JP" dirty="0"/>
              <a:t>1</a:t>
            </a:r>
            <a:r>
              <a:rPr kumimoji="1" lang="ja-JP" altLang="en-US" dirty="0"/>
              <a:t>アキシャルとして，実験を行った．</a:t>
            </a:r>
          </a:p>
        </p:txBody>
      </p:sp>
      <p:sp>
        <p:nvSpPr>
          <p:cNvPr id="36" name="テキスト ボックス 35">
            <a:extLst>
              <a:ext uri="{FF2B5EF4-FFF2-40B4-BE49-F238E27FC236}">
                <a16:creationId xmlns:a16="http://schemas.microsoft.com/office/drawing/2014/main" id="{56196DBC-C695-CC93-7550-B2DC86727342}"/>
              </a:ext>
            </a:extLst>
          </p:cNvPr>
          <p:cNvSpPr txBox="1"/>
          <p:nvPr/>
        </p:nvSpPr>
        <p:spPr>
          <a:xfrm>
            <a:off x="838200" y="6227512"/>
            <a:ext cx="10515600" cy="369332"/>
          </a:xfrm>
          <a:prstGeom prst="rect">
            <a:avLst/>
          </a:prstGeom>
          <a:noFill/>
        </p:spPr>
        <p:txBody>
          <a:bodyPr wrap="square">
            <a:spAutoFit/>
          </a:bodyPr>
          <a:lstStyle/>
          <a:p>
            <a:pPr algn="ctr"/>
            <a:r>
              <a:rPr lang="ja-JP" altLang="en-US" dirty="0"/>
              <a:t>図</a:t>
            </a:r>
            <a:r>
              <a:rPr lang="en-US" altLang="ja-JP" dirty="0"/>
              <a:t>4</a:t>
            </a:r>
            <a:r>
              <a:rPr lang="ja-JP" altLang="en-US" dirty="0"/>
              <a:t>　撮影方法の違いによる判別性能の変化</a:t>
            </a:r>
          </a:p>
        </p:txBody>
      </p:sp>
      <p:grpSp>
        <p:nvGrpSpPr>
          <p:cNvPr id="58" name="グループ化 57">
            <a:extLst>
              <a:ext uri="{FF2B5EF4-FFF2-40B4-BE49-F238E27FC236}">
                <a16:creationId xmlns:a16="http://schemas.microsoft.com/office/drawing/2014/main" id="{79F3C87A-C066-F38E-C244-AD709B4FA639}"/>
              </a:ext>
            </a:extLst>
          </p:cNvPr>
          <p:cNvGrpSpPr/>
          <p:nvPr/>
        </p:nvGrpSpPr>
        <p:grpSpPr>
          <a:xfrm>
            <a:off x="238790" y="3271506"/>
            <a:ext cx="11714420" cy="2703137"/>
            <a:chOff x="238790" y="3271506"/>
            <a:chExt cx="11714420" cy="2703137"/>
          </a:xfrm>
        </p:grpSpPr>
        <p:pic>
          <p:nvPicPr>
            <p:cNvPr id="4" name="コンテンツ プレースホルダー 10" descr="建物, 探す, 暗い, 部屋 が含まれている画像&#10;&#10;自動的に生成された説明">
              <a:extLst>
                <a:ext uri="{FF2B5EF4-FFF2-40B4-BE49-F238E27FC236}">
                  <a16:creationId xmlns:a16="http://schemas.microsoft.com/office/drawing/2014/main" id="{F7648DD5-42BD-FE37-AF7E-B1D7694EC2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034" y="3643822"/>
              <a:ext cx="922359" cy="983850"/>
            </a:xfrm>
            <a:prstGeom prst="rect">
              <a:avLst/>
            </a:prstGeom>
          </p:spPr>
        </p:pic>
        <p:pic>
          <p:nvPicPr>
            <p:cNvPr id="5" name="図 4" descr="爬虫類, カメ, 暗い, 写真 が含まれている画像&#10;&#10;自動的に生成された説明">
              <a:extLst>
                <a:ext uri="{FF2B5EF4-FFF2-40B4-BE49-F238E27FC236}">
                  <a16:creationId xmlns:a16="http://schemas.microsoft.com/office/drawing/2014/main" id="{C0501FF6-707B-F75B-36BA-AE4A1F37F3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9393" y="3643822"/>
              <a:ext cx="922359" cy="983850"/>
            </a:xfrm>
            <a:prstGeom prst="rect">
              <a:avLst/>
            </a:prstGeom>
          </p:spPr>
        </p:pic>
        <p:pic>
          <p:nvPicPr>
            <p:cNvPr id="6" name="図 5" descr="座る, 写真, テーブル, 暗い が含まれている画像&#10;&#10;自動的に生成された説明">
              <a:extLst>
                <a:ext uri="{FF2B5EF4-FFF2-40B4-BE49-F238E27FC236}">
                  <a16:creationId xmlns:a16="http://schemas.microsoft.com/office/drawing/2014/main" id="{FA27BB36-9272-C9F3-6C6E-EA6C11D4F7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16351" y="3643822"/>
              <a:ext cx="922359" cy="983850"/>
            </a:xfrm>
            <a:prstGeom prst="rect">
              <a:avLst/>
            </a:prstGeom>
          </p:spPr>
        </p:pic>
        <p:pic>
          <p:nvPicPr>
            <p:cNvPr id="7" name="図 6" descr="白い背景に刷っている男性の白黒写真&#10;&#10;低い精度で自動的に生成された説明">
              <a:extLst>
                <a:ext uri="{FF2B5EF4-FFF2-40B4-BE49-F238E27FC236}">
                  <a16:creationId xmlns:a16="http://schemas.microsoft.com/office/drawing/2014/main" id="{3DB01690-3FD0-1826-D35F-CE95F610EE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13309" y="3643822"/>
              <a:ext cx="922359" cy="983850"/>
            </a:xfrm>
            <a:prstGeom prst="rect">
              <a:avLst/>
            </a:prstGeom>
          </p:spPr>
        </p:pic>
        <p:pic>
          <p:nvPicPr>
            <p:cNvPr id="8" name="図 7" descr="写真, 座る, 持つ, ケーキ が含まれている画像&#10;&#10;自動的に生成された説明">
              <a:extLst>
                <a:ext uri="{FF2B5EF4-FFF2-40B4-BE49-F238E27FC236}">
                  <a16:creationId xmlns:a16="http://schemas.microsoft.com/office/drawing/2014/main" id="{C35731B8-EE10-89D7-09F1-E47E95A588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30076" y="3643822"/>
              <a:ext cx="922359" cy="983850"/>
            </a:xfrm>
            <a:prstGeom prst="rect">
              <a:avLst/>
            </a:prstGeom>
          </p:spPr>
        </p:pic>
        <p:pic>
          <p:nvPicPr>
            <p:cNvPr id="9" name="図 8" descr="ゴーグルをつけた男性の白黒写真&#10;&#10;中程度の精度で自動的に生成された説明">
              <a:extLst>
                <a:ext uri="{FF2B5EF4-FFF2-40B4-BE49-F238E27FC236}">
                  <a16:creationId xmlns:a16="http://schemas.microsoft.com/office/drawing/2014/main" id="{D7E1093F-E696-FCC9-ECAC-D0E196EA24C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52436" y="3643822"/>
              <a:ext cx="922359" cy="983850"/>
            </a:xfrm>
            <a:prstGeom prst="rect">
              <a:avLst/>
            </a:prstGeom>
          </p:spPr>
        </p:pic>
        <p:pic>
          <p:nvPicPr>
            <p:cNvPr id="10" name="図 9" descr="屋内, 座る, 写真, 建物 が含まれている画像&#10;&#10;自動的に生成された説明">
              <a:extLst>
                <a:ext uri="{FF2B5EF4-FFF2-40B4-BE49-F238E27FC236}">
                  <a16:creationId xmlns:a16="http://schemas.microsoft.com/office/drawing/2014/main" id="{B634F34A-C159-A189-492C-B07BA6313D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74796" y="3643822"/>
              <a:ext cx="922359" cy="983850"/>
            </a:xfrm>
            <a:prstGeom prst="rect">
              <a:avLst/>
            </a:prstGeom>
          </p:spPr>
        </p:pic>
        <p:pic>
          <p:nvPicPr>
            <p:cNvPr id="11" name="図 10" descr="写真, 座る, 建物, 記号 が含まれている画像&#10;&#10;自動的に生成された説明">
              <a:extLst>
                <a:ext uri="{FF2B5EF4-FFF2-40B4-BE49-F238E27FC236}">
                  <a16:creationId xmlns:a16="http://schemas.microsoft.com/office/drawing/2014/main" id="{B6299A7B-EFD9-8B83-B43F-00B5FD5423A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97155" y="3643822"/>
              <a:ext cx="922359" cy="983850"/>
            </a:xfrm>
            <a:prstGeom prst="rect">
              <a:avLst/>
            </a:prstGeom>
          </p:spPr>
        </p:pic>
        <p:pic>
          <p:nvPicPr>
            <p:cNvPr id="12" name="図 11" descr="写真, 記号, 座る, 男 が含まれている画像&#10;&#10;自動的に生成された説明">
              <a:extLst>
                <a:ext uri="{FF2B5EF4-FFF2-40B4-BE49-F238E27FC236}">
                  <a16:creationId xmlns:a16="http://schemas.microsoft.com/office/drawing/2014/main" id="{41309D81-2087-1869-5A6F-C549AF41B5C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19514" y="3643822"/>
              <a:ext cx="922359" cy="983850"/>
            </a:xfrm>
            <a:prstGeom prst="rect">
              <a:avLst/>
            </a:prstGeom>
          </p:spPr>
        </p:pic>
        <p:pic>
          <p:nvPicPr>
            <p:cNvPr id="13" name="図 12" descr="写真, 男, 記号, 座る が含まれている画像&#10;&#10;自動的に生成された説明">
              <a:extLst>
                <a:ext uri="{FF2B5EF4-FFF2-40B4-BE49-F238E27FC236}">
                  <a16:creationId xmlns:a16="http://schemas.microsoft.com/office/drawing/2014/main" id="{A8D4C4E6-A8B0-612E-2538-C9CA784801B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41873" y="3643822"/>
              <a:ext cx="922359" cy="983850"/>
            </a:xfrm>
            <a:prstGeom prst="rect">
              <a:avLst/>
            </a:prstGeom>
          </p:spPr>
        </p:pic>
        <p:pic>
          <p:nvPicPr>
            <p:cNvPr id="14" name="図 13" descr="写真, 男, 座る, 記号 が含まれている画像&#10;&#10;自動的に生成された説明">
              <a:extLst>
                <a:ext uri="{FF2B5EF4-FFF2-40B4-BE49-F238E27FC236}">
                  <a16:creationId xmlns:a16="http://schemas.microsoft.com/office/drawing/2014/main" id="{D1C24930-835E-9C62-73F7-A6567AE8C66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064232" y="3643822"/>
              <a:ext cx="922359" cy="983850"/>
            </a:xfrm>
            <a:prstGeom prst="rect">
              <a:avLst/>
            </a:prstGeom>
          </p:spPr>
        </p:pic>
        <p:pic>
          <p:nvPicPr>
            <p:cNvPr id="15" name="図 14" descr="男, 写真, 持つ, フロント が含まれている画像&#10;&#10;自動的に生成された説明">
              <a:extLst>
                <a:ext uri="{FF2B5EF4-FFF2-40B4-BE49-F238E27FC236}">
                  <a16:creationId xmlns:a16="http://schemas.microsoft.com/office/drawing/2014/main" id="{3183E9DB-2D85-EE30-C394-E711E87EDA9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19393" y="4990793"/>
              <a:ext cx="922359" cy="983850"/>
            </a:xfrm>
            <a:prstGeom prst="rect">
              <a:avLst/>
            </a:prstGeom>
          </p:spPr>
        </p:pic>
        <p:pic>
          <p:nvPicPr>
            <p:cNvPr id="16" name="図 15" descr="時計が付いている｜｜｜ｐ&#10;&#10;低い精度で自動的に生成された説明">
              <a:extLst>
                <a:ext uri="{FF2B5EF4-FFF2-40B4-BE49-F238E27FC236}">
                  <a16:creationId xmlns:a16="http://schemas.microsoft.com/office/drawing/2014/main" id="{721C1ED2-BFDC-D26C-0AE0-198228579CB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41753" y="4990793"/>
              <a:ext cx="922359" cy="983850"/>
            </a:xfrm>
            <a:prstGeom prst="rect">
              <a:avLst/>
            </a:prstGeom>
          </p:spPr>
        </p:pic>
        <p:pic>
          <p:nvPicPr>
            <p:cNvPr id="17" name="図 16" descr="時計が付いている｜｜｜ｐ&#10;&#10;低い精度で自動的に生成された説明">
              <a:extLst>
                <a:ext uri="{FF2B5EF4-FFF2-40B4-BE49-F238E27FC236}">
                  <a16:creationId xmlns:a16="http://schemas.microsoft.com/office/drawing/2014/main" id="{37794A59-18C9-C341-A426-7CEC24C5457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4112" y="4990793"/>
              <a:ext cx="922359" cy="983850"/>
            </a:xfrm>
            <a:prstGeom prst="rect">
              <a:avLst/>
            </a:prstGeom>
          </p:spPr>
        </p:pic>
        <p:pic>
          <p:nvPicPr>
            <p:cNvPr id="18" name="図 17" descr="時計が付いている｜｜｜ｐ&#10;&#10;低い精度で自動的に生成された説明">
              <a:extLst>
                <a:ext uri="{FF2B5EF4-FFF2-40B4-BE49-F238E27FC236}">
                  <a16:creationId xmlns:a16="http://schemas.microsoft.com/office/drawing/2014/main" id="{5D5ADAE5-584D-1B88-C2B4-D28BDDB01DD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586471" y="4990793"/>
              <a:ext cx="922359" cy="983850"/>
            </a:xfrm>
            <a:prstGeom prst="rect">
              <a:avLst/>
            </a:prstGeom>
          </p:spPr>
        </p:pic>
        <p:pic>
          <p:nvPicPr>
            <p:cNvPr id="19" name="図 18" descr="男, 写真, 座る, 立つ が含まれている画像&#10;&#10;自動的に生成された説明">
              <a:extLst>
                <a:ext uri="{FF2B5EF4-FFF2-40B4-BE49-F238E27FC236}">
                  <a16:creationId xmlns:a16="http://schemas.microsoft.com/office/drawing/2014/main" id="{B6AF84E3-EC96-EC41-FEFE-5D87FA444BE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508830" y="4990793"/>
              <a:ext cx="922359" cy="983850"/>
            </a:xfrm>
            <a:prstGeom prst="rect">
              <a:avLst/>
            </a:prstGeom>
          </p:spPr>
        </p:pic>
        <p:pic>
          <p:nvPicPr>
            <p:cNvPr id="20" name="図 19" descr="時計, 男, 座る, 持つ が含まれている画像&#10;&#10;自動的に生成された説明">
              <a:extLst>
                <a:ext uri="{FF2B5EF4-FFF2-40B4-BE49-F238E27FC236}">
                  <a16:creationId xmlns:a16="http://schemas.microsoft.com/office/drawing/2014/main" id="{5AC6150F-E7BA-48D0-BB35-CEF419FAC141}"/>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431185" y="4990793"/>
              <a:ext cx="922359" cy="983850"/>
            </a:xfrm>
            <a:prstGeom prst="rect">
              <a:avLst/>
            </a:prstGeom>
          </p:spPr>
        </p:pic>
        <p:pic>
          <p:nvPicPr>
            <p:cNvPr id="21" name="図 20" descr="Cgで描かれたコイン&#10;&#10;中程度の精度で自動的に生成された説明">
              <a:extLst>
                <a:ext uri="{FF2B5EF4-FFF2-40B4-BE49-F238E27FC236}">
                  <a16:creationId xmlns:a16="http://schemas.microsoft.com/office/drawing/2014/main" id="{8DB9DA23-DE50-50C8-13D5-02ABF35C5253}"/>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341415" y="4990793"/>
              <a:ext cx="922359" cy="983850"/>
            </a:xfrm>
            <a:prstGeom prst="rect">
              <a:avLst/>
            </a:prstGeom>
          </p:spPr>
        </p:pic>
        <p:pic>
          <p:nvPicPr>
            <p:cNvPr id="22" name="図 21" descr="Cgで描かれたコイン&#10;&#10;低い精度で自動的に生成された説明">
              <a:extLst>
                <a:ext uri="{FF2B5EF4-FFF2-40B4-BE49-F238E27FC236}">
                  <a16:creationId xmlns:a16="http://schemas.microsoft.com/office/drawing/2014/main" id="{CE222D4C-570F-6CBB-1BDC-9E9FD2A04A7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263774" y="4990793"/>
              <a:ext cx="922359" cy="983850"/>
            </a:xfrm>
            <a:prstGeom prst="rect">
              <a:avLst/>
            </a:prstGeom>
          </p:spPr>
        </p:pic>
        <p:pic>
          <p:nvPicPr>
            <p:cNvPr id="23" name="図 22" descr="Cgで描かれたコイン&#10;&#10;低い精度で自動的に生成された説明">
              <a:extLst>
                <a:ext uri="{FF2B5EF4-FFF2-40B4-BE49-F238E27FC236}">
                  <a16:creationId xmlns:a16="http://schemas.microsoft.com/office/drawing/2014/main" id="{80953A49-718C-FA44-8594-5119BCFB2A85}"/>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9186133" y="4990793"/>
              <a:ext cx="922359" cy="983850"/>
            </a:xfrm>
            <a:prstGeom prst="rect">
              <a:avLst/>
            </a:prstGeom>
          </p:spPr>
        </p:pic>
        <p:pic>
          <p:nvPicPr>
            <p:cNvPr id="24" name="図 23" descr="Cgで描かれたコイン&#10;&#10;低い精度で自動的に生成された説明">
              <a:extLst>
                <a:ext uri="{FF2B5EF4-FFF2-40B4-BE49-F238E27FC236}">
                  <a16:creationId xmlns:a16="http://schemas.microsoft.com/office/drawing/2014/main" id="{7322E5AD-EAFD-F386-E1C6-5C085B129E0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108492" y="4990793"/>
              <a:ext cx="922359" cy="983850"/>
            </a:xfrm>
            <a:prstGeom prst="rect">
              <a:avLst/>
            </a:prstGeom>
          </p:spPr>
        </p:pic>
        <p:pic>
          <p:nvPicPr>
            <p:cNvPr id="25" name="図 24" descr="黒い背景とぼやけた写真&#10;&#10;低い精度で自動的に生成された説明">
              <a:extLst>
                <a:ext uri="{FF2B5EF4-FFF2-40B4-BE49-F238E27FC236}">
                  <a16:creationId xmlns:a16="http://schemas.microsoft.com/office/drawing/2014/main" id="{03C2EF4B-EC28-C31E-EA64-73BB5CF90C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1030851" y="4990793"/>
              <a:ext cx="922359" cy="983850"/>
            </a:xfrm>
            <a:prstGeom prst="rect">
              <a:avLst/>
            </a:prstGeom>
          </p:spPr>
        </p:pic>
        <p:sp>
          <p:nvSpPr>
            <p:cNvPr id="26" name="テキスト ボックス 25">
              <a:extLst>
                <a:ext uri="{FF2B5EF4-FFF2-40B4-BE49-F238E27FC236}">
                  <a16:creationId xmlns:a16="http://schemas.microsoft.com/office/drawing/2014/main" id="{368A8A12-C696-D02C-6B73-5C66B6D97367}"/>
                </a:ext>
              </a:extLst>
            </p:cNvPr>
            <p:cNvSpPr txBox="1"/>
            <p:nvPr/>
          </p:nvSpPr>
          <p:spPr>
            <a:xfrm>
              <a:off x="6669681"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17</a:t>
              </a:r>
              <a:endParaRPr lang="ja-JP" altLang="en-US" dirty="0">
                <a:latin typeface="Times New Roman" panose="02020603050405020304" pitchFamily="18" charset="0"/>
                <a:cs typeface="Times New Roman" panose="02020603050405020304" pitchFamily="18" charset="0"/>
              </a:endParaRPr>
            </a:p>
          </p:txBody>
        </p:sp>
        <p:sp>
          <p:nvSpPr>
            <p:cNvPr id="27" name="テキスト ボックス 26">
              <a:extLst>
                <a:ext uri="{FF2B5EF4-FFF2-40B4-BE49-F238E27FC236}">
                  <a16:creationId xmlns:a16="http://schemas.microsoft.com/office/drawing/2014/main" id="{7B29277C-8032-5CF2-05C6-7784FDC90A40}"/>
                </a:ext>
              </a:extLst>
            </p:cNvPr>
            <p:cNvSpPr txBox="1"/>
            <p:nvPr/>
          </p:nvSpPr>
          <p:spPr>
            <a:xfrm>
              <a:off x="1094964" y="3272358"/>
              <a:ext cx="526954"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a:t>
              </a:r>
              <a:endParaRPr lang="ja-JP" altLang="en-US" dirty="0">
                <a:latin typeface="Times New Roman" panose="02020603050405020304" pitchFamily="18" charset="0"/>
                <a:cs typeface="Times New Roman" panose="02020603050405020304" pitchFamily="18" charset="0"/>
              </a:endParaRPr>
            </a:p>
          </p:txBody>
        </p:sp>
        <p:sp>
          <p:nvSpPr>
            <p:cNvPr id="28" name="テキスト ボックス 27">
              <a:extLst>
                <a:ext uri="{FF2B5EF4-FFF2-40B4-BE49-F238E27FC236}">
                  <a16:creationId xmlns:a16="http://schemas.microsoft.com/office/drawing/2014/main" id="{4B207BDF-137F-4E09-6087-1AA677E82BE7}"/>
                </a:ext>
              </a:extLst>
            </p:cNvPr>
            <p:cNvSpPr txBox="1"/>
            <p:nvPr/>
          </p:nvSpPr>
          <p:spPr>
            <a:xfrm>
              <a:off x="2077994" y="3271506"/>
              <a:ext cx="405156"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a:t>
              </a:r>
              <a:endParaRPr lang="ja-JP" altLang="en-US" dirty="0">
                <a:latin typeface="Times New Roman" panose="02020603050405020304" pitchFamily="18" charset="0"/>
                <a:cs typeface="Times New Roman" panose="02020603050405020304" pitchFamily="18" charset="0"/>
              </a:endParaRPr>
            </a:p>
          </p:txBody>
        </p:sp>
        <p:sp>
          <p:nvSpPr>
            <p:cNvPr id="29" name="テキスト ボックス 28">
              <a:extLst>
                <a:ext uri="{FF2B5EF4-FFF2-40B4-BE49-F238E27FC236}">
                  <a16:creationId xmlns:a16="http://schemas.microsoft.com/office/drawing/2014/main" id="{7C7AB088-77BE-E215-186F-EB8599BD6759}"/>
                </a:ext>
              </a:extLst>
            </p:cNvPr>
            <p:cNvSpPr txBox="1"/>
            <p:nvPr/>
          </p:nvSpPr>
          <p:spPr>
            <a:xfrm>
              <a:off x="3000349" y="3271506"/>
              <a:ext cx="354358"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3</a:t>
              </a:r>
              <a:endParaRPr lang="ja-JP" altLang="en-US" dirty="0">
                <a:latin typeface="Times New Roman" panose="02020603050405020304" pitchFamily="18" charset="0"/>
                <a:cs typeface="Times New Roman" panose="02020603050405020304" pitchFamily="18" charset="0"/>
              </a:endParaRPr>
            </a:p>
          </p:txBody>
        </p:sp>
        <p:sp>
          <p:nvSpPr>
            <p:cNvPr id="30" name="テキスト ボックス 29">
              <a:extLst>
                <a:ext uri="{FF2B5EF4-FFF2-40B4-BE49-F238E27FC236}">
                  <a16:creationId xmlns:a16="http://schemas.microsoft.com/office/drawing/2014/main" id="{EF65A62C-036D-90F9-F540-BF3039E4F2CB}"/>
                </a:ext>
              </a:extLst>
            </p:cNvPr>
            <p:cNvSpPr txBox="1"/>
            <p:nvPr/>
          </p:nvSpPr>
          <p:spPr>
            <a:xfrm>
              <a:off x="3851041"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4</a:t>
              </a:r>
              <a:endParaRPr lang="ja-JP" altLang="en-US" dirty="0">
                <a:latin typeface="Times New Roman" panose="02020603050405020304" pitchFamily="18" charset="0"/>
                <a:cs typeface="Times New Roman" panose="02020603050405020304" pitchFamily="18" charset="0"/>
              </a:endParaRPr>
            </a:p>
          </p:txBody>
        </p:sp>
        <p:sp>
          <p:nvSpPr>
            <p:cNvPr id="31" name="テキスト ボックス 30">
              <a:extLst>
                <a:ext uri="{FF2B5EF4-FFF2-40B4-BE49-F238E27FC236}">
                  <a16:creationId xmlns:a16="http://schemas.microsoft.com/office/drawing/2014/main" id="{7E65307D-0B98-5674-0AD1-20CC41605BB9}"/>
                </a:ext>
              </a:extLst>
            </p:cNvPr>
            <p:cNvSpPr txBox="1"/>
            <p:nvPr/>
          </p:nvSpPr>
          <p:spPr>
            <a:xfrm>
              <a:off x="7592040"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18</a:t>
              </a:r>
              <a:endParaRPr lang="ja-JP" altLang="en-US" dirty="0">
                <a:latin typeface="Times New Roman" panose="02020603050405020304" pitchFamily="18" charset="0"/>
                <a:cs typeface="Times New Roman" panose="02020603050405020304" pitchFamily="18" charset="0"/>
              </a:endParaRPr>
            </a:p>
          </p:txBody>
        </p:sp>
        <p:sp>
          <p:nvSpPr>
            <p:cNvPr id="32" name="テキスト ボックス 31">
              <a:extLst>
                <a:ext uri="{FF2B5EF4-FFF2-40B4-BE49-F238E27FC236}">
                  <a16:creationId xmlns:a16="http://schemas.microsoft.com/office/drawing/2014/main" id="{891C13EC-5734-3B22-F846-7D676B3297D4}"/>
                </a:ext>
              </a:extLst>
            </p:cNvPr>
            <p:cNvSpPr txBox="1"/>
            <p:nvPr/>
          </p:nvSpPr>
          <p:spPr>
            <a:xfrm>
              <a:off x="8507388"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19</a:t>
              </a:r>
              <a:endParaRPr lang="ja-JP" altLang="en-US" dirty="0">
                <a:latin typeface="Times New Roman" panose="02020603050405020304" pitchFamily="18" charset="0"/>
                <a:cs typeface="Times New Roman" panose="02020603050405020304" pitchFamily="18" charset="0"/>
              </a:endParaRPr>
            </a:p>
          </p:txBody>
        </p:sp>
        <p:sp>
          <p:nvSpPr>
            <p:cNvPr id="33" name="テキスト ボックス 32">
              <a:extLst>
                <a:ext uri="{FF2B5EF4-FFF2-40B4-BE49-F238E27FC236}">
                  <a16:creationId xmlns:a16="http://schemas.microsoft.com/office/drawing/2014/main" id="{218808C0-399D-297B-80F1-31CEB5614AE8}"/>
                </a:ext>
              </a:extLst>
            </p:cNvPr>
            <p:cNvSpPr txBox="1"/>
            <p:nvPr/>
          </p:nvSpPr>
          <p:spPr>
            <a:xfrm>
              <a:off x="9429746"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20</a:t>
              </a:r>
              <a:endParaRPr lang="ja-JP" altLang="en-US" dirty="0">
                <a:latin typeface="Times New Roman" panose="02020603050405020304" pitchFamily="18" charset="0"/>
                <a:cs typeface="Times New Roman" panose="02020603050405020304" pitchFamily="18" charset="0"/>
              </a:endParaRPr>
            </a:p>
          </p:txBody>
        </p:sp>
        <p:sp>
          <p:nvSpPr>
            <p:cNvPr id="34" name="テキスト ボックス 33">
              <a:extLst>
                <a:ext uri="{FF2B5EF4-FFF2-40B4-BE49-F238E27FC236}">
                  <a16:creationId xmlns:a16="http://schemas.microsoft.com/office/drawing/2014/main" id="{53A8AE5E-ACED-63EB-D4F8-D835FE18344E}"/>
                </a:ext>
              </a:extLst>
            </p:cNvPr>
            <p:cNvSpPr txBox="1"/>
            <p:nvPr/>
          </p:nvSpPr>
          <p:spPr>
            <a:xfrm>
              <a:off x="1030135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21</a:t>
              </a:r>
              <a:endParaRPr lang="ja-JP" altLang="en-US" dirty="0">
                <a:latin typeface="Times New Roman" panose="02020603050405020304" pitchFamily="18" charset="0"/>
                <a:cs typeface="Times New Roman" panose="02020603050405020304" pitchFamily="18" charset="0"/>
              </a:endParaRPr>
            </a:p>
          </p:txBody>
        </p:sp>
        <p:sp>
          <p:nvSpPr>
            <p:cNvPr id="35" name="テキスト ボックス 34">
              <a:extLst>
                <a:ext uri="{FF2B5EF4-FFF2-40B4-BE49-F238E27FC236}">
                  <a16:creationId xmlns:a16="http://schemas.microsoft.com/office/drawing/2014/main" id="{C35ED787-6255-3824-B809-4CF624CB656A}"/>
                </a:ext>
              </a:extLst>
            </p:cNvPr>
            <p:cNvSpPr txBox="1"/>
            <p:nvPr/>
          </p:nvSpPr>
          <p:spPr>
            <a:xfrm>
              <a:off x="11274467"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22</a:t>
              </a:r>
              <a:endParaRPr lang="ja-JP" altLang="en-US" dirty="0">
                <a:latin typeface="Times New Roman" panose="02020603050405020304" pitchFamily="18" charset="0"/>
                <a:cs typeface="Times New Roman" panose="02020603050405020304" pitchFamily="18" charset="0"/>
              </a:endParaRPr>
            </a:p>
          </p:txBody>
        </p:sp>
        <p:sp>
          <p:nvSpPr>
            <p:cNvPr id="37" name="テキスト ボックス 36">
              <a:extLst>
                <a:ext uri="{FF2B5EF4-FFF2-40B4-BE49-F238E27FC236}">
                  <a16:creationId xmlns:a16="http://schemas.microsoft.com/office/drawing/2014/main" id="{57DDE96B-5063-1D26-2E80-C5A37B83E504}"/>
                </a:ext>
              </a:extLst>
            </p:cNvPr>
            <p:cNvSpPr txBox="1"/>
            <p:nvPr/>
          </p:nvSpPr>
          <p:spPr>
            <a:xfrm>
              <a:off x="238790" y="3271506"/>
              <a:ext cx="65712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axial</a:t>
              </a:r>
              <a:endParaRPr lang="ja-JP" altLang="en-US" dirty="0">
                <a:latin typeface="Times New Roman" panose="02020603050405020304" pitchFamily="18" charset="0"/>
                <a:cs typeface="Times New Roman" panose="02020603050405020304" pitchFamily="18" charset="0"/>
              </a:endParaRPr>
            </a:p>
          </p:txBody>
        </p:sp>
        <p:sp>
          <p:nvSpPr>
            <p:cNvPr id="40" name="正方形/長方形 39">
              <a:extLst>
                <a:ext uri="{FF2B5EF4-FFF2-40B4-BE49-F238E27FC236}">
                  <a16:creationId xmlns:a16="http://schemas.microsoft.com/office/drawing/2014/main" id="{0B469624-95AB-A438-7720-D561881790D7}"/>
                </a:ext>
              </a:extLst>
            </p:cNvPr>
            <p:cNvSpPr/>
            <p:nvPr/>
          </p:nvSpPr>
          <p:spPr>
            <a:xfrm>
              <a:off x="1824273" y="4990793"/>
              <a:ext cx="4612918" cy="9838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1" name="テキスト ボックス 40">
              <a:extLst>
                <a:ext uri="{FF2B5EF4-FFF2-40B4-BE49-F238E27FC236}">
                  <a16:creationId xmlns:a16="http://schemas.microsoft.com/office/drawing/2014/main" id="{6D18C81C-7B5E-A77A-92FC-872132D551A7}"/>
                </a:ext>
              </a:extLst>
            </p:cNvPr>
            <p:cNvSpPr txBox="1"/>
            <p:nvPr/>
          </p:nvSpPr>
          <p:spPr>
            <a:xfrm>
              <a:off x="4786275"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5</a:t>
              </a:r>
              <a:endParaRPr lang="ja-JP" altLang="en-US" dirty="0">
                <a:latin typeface="Times New Roman" panose="02020603050405020304" pitchFamily="18" charset="0"/>
                <a:cs typeface="Times New Roman" panose="02020603050405020304" pitchFamily="18" charset="0"/>
              </a:endParaRPr>
            </a:p>
          </p:txBody>
        </p:sp>
        <p:sp>
          <p:nvSpPr>
            <p:cNvPr id="42" name="テキスト ボックス 41">
              <a:extLst>
                <a:ext uri="{FF2B5EF4-FFF2-40B4-BE49-F238E27FC236}">
                  <a16:creationId xmlns:a16="http://schemas.microsoft.com/office/drawing/2014/main" id="{6639809E-15B4-4B86-D827-1C484DDFE00F}"/>
                </a:ext>
              </a:extLst>
            </p:cNvPr>
            <p:cNvSpPr txBox="1"/>
            <p:nvPr/>
          </p:nvSpPr>
          <p:spPr>
            <a:xfrm>
              <a:off x="5706946"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6</a:t>
              </a:r>
              <a:endParaRPr lang="ja-JP" altLang="en-US" dirty="0">
                <a:latin typeface="Times New Roman" panose="02020603050405020304" pitchFamily="18" charset="0"/>
                <a:cs typeface="Times New Roman" panose="02020603050405020304" pitchFamily="18" charset="0"/>
              </a:endParaRPr>
            </a:p>
          </p:txBody>
        </p:sp>
        <p:sp>
          <p:nvSpPr>
            <p:cNvPr id="44" name="テキスト ボックス 43">
              <a:extLst>
                <a:ext uri="{FF2B5EF4-FFF2-40B4-BE49-F238E27FC236}">
                  <a16:creationId xmlns:a16="http://schemas.microsoft.com/office/drawing/2014/main" id="{7FE1766B-BC3A-75F3-F5F2-15AA994B26BB}"/>
                </a:ext>
              </a:extLst>
            </p:cNvPr>
            <p:cNvSpPr txBox="1"/>
            <p:nvPr/>
          </p:nvSpPr>
          <p:spPr>
            <a:xfrm>
              <a:off x="6632029"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7</a:t>
              </a:r>
              <a:endParaRPr lang="ja-JP" altLang="en-US" dirty="0">
                <a:latin typeface="Times New Roman" panose="02020603050405020304" pitchFamily="18" charset="0"/>
                <a:cs typeface="Times New Roman" panose="02020603050405020304" pitchFamily="18" charset="0"/>
              </a:endParaRPr>
            </a:p>
          </p:txBody>
        </p:sp>
        <p:sp>
          <p:nvSpPr>
            <p:cNvPr id="45" name="テキスト ボックス 44">
              <a:extLst>
                <a:ext uri="{FF2B5EF4-FFF2-40B4-BE49-F238E27FC236}">
                  <a16:creationId xmlns:a16="http://schemas.microsoft.com/office/drawing/2014/main" id="{FADF607F-11E0-994E-7FD7-7763EA051519}"/>
                </a:ext>
              </a:extLst>
            </p:cNvPr>
            <p:cNvSpPr txBox="1"/>
            <p:nvPr/>
          </p:nvSpPr>
          <p:spPr>
            <a:xfrm>
              <a:off x="7538884"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8</a:t>
              </a:r>
              <a:endParaRPr lang="ja-JP" altLang="en-US" dirty="0">
                <a:latin typeface="Times New Roman" panose="02020603050405020304" pitchFamily="18" charset="0"/>
                <a:cs typeface="Times New Roman" panose="02020603050405020304" pitchFamily="18" charset="0"/>
              </a:endParaRPr>
            </a:p>
          </p:txBody>
        </p:sp>
        <p:sp>
          <p:nvSpPr>
            <p:cNvPr id="46" name="テキスト ボックス 45">
              <a:extLst>
                <a:ext uri="{FF2B5EF4-FFF2-40B4-BE49-F238E27FC236}">
                  <a16:creationId xmlns:a16="http://schemas.microsoft.com/office/drawing/2014/main" id="{B77E3C85-246A-98EF-3459-39E9C9DDC79E}"/>
                </a:ext>
              </a:extLst>
            </p:cNvPr>
            <p:cNvSpPr txBox="1"/>
            <p:nvPr/>
          </p:nvSpPr>
          <p:spPr>
            <a:xfrm>
              <a:off x="8471156"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9</a:t>
              </a:r>
              <a:endParaRPr lang="ja-JP" altLang="en-US" dirty="0">
                <a:latin typeface="Times New Roman" panose="02020603050405020304" pitchFamily="18" charset="0"/>
                <a:cs typeface="Times New Roman" panose="02020603050405020304" pitchFamily="18" charset="0"/>
              </a:endParaRPr>
            </a:p>
          </p:txBody>
        </p:sp>
        <p:sp>
          <p:nvSpPr>
            <p:cNvPr id="47" name="テキスト ボックス 46">
              <a:extLst>
                <a:ext uri="{FF2B5EF4-FFF2-40B4-BE49-F238E27FC236}">
                  <a16:creationId xmlns:a16="http://schemas.microsoft.com/office/drawing/2014/main" id="{03E0D2F0-D2C9-DCEE-F836-F61E535200AC}"/>
                </a:ext>
              </a:extLst>
            </p:cNvPr>
            <p:cNvSpPr txBox="1"/>
            <p:nvPr/>
          </p:nvSpPr>
          <p:spPr>
            <a:xfrm>
              <a:off x="9409352"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10</a:t>
              </a:r>
              <a:endParaRPr lang="ja-JP" altLang="en-US" dirty="0">
                <a:latin typeface="Times New Roman" panose="02020603050405020304" pitchFamily="18" charset="0"/>
                <a:cs typeface="Times New Roman" panose="02020603050405020304" pitchFamily="18" charset="0"/>
              </a:endParaRPr>
            </a:p>
          </p:txBody>
        </p:sp>
        <p:sp>
          <p:nvSpPr>
            <p:cNvPr id="50" name="テキスト ボックス 49">
              <a:extLst>
                <a:ext uri="{FF2B5EF4-FFF2-40B4-BE49-F238E27FC236}">
                  <a16:creationId xmlns:a16="http://schemas.microsoft.com/office/drawing/2014/main" id="{CFC05F1D-9DDB-CC35-097E-45752726D490}"/>
                </a:ext>
              </a:extLst>
            </p:cNvPr>
            <p:cNvSpPr txBox="1"/>
            <p:nvPr/>
          </p:nvSpPr>
          <p:spPr>
            <a:xfrm>
              <a:off x="10304367"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11</a:t>
              </a:r>
              <a:endParaRPr lang="ja-JP" altLang="en-US" dirty="0">
                <a:latin typeface="Times New Roman" panose="02020603050405020304" pitchFamily="18" charset="0"/>
                <a:cs typeface="Times New Roman" panose="02020603050405020304" pitchFamily="18" charset="0"/>
              </a:endParaRPr>
            </a:p>
          </p:txBody>
        </p:sp>
        <p:sp>
          <p:nvSpPr>
            <p:cNvPr id="51" name="テキスト ボックス 50">
              <a:extLst>
                <a:ext uri="{FF2B5EF4-FFF2-40B4-BE49-F238E27FC236}">
                  <a16:creationId xmlns:a16="http://schemas.microsoft.com/office/drawing/2014/main" id="{CD25D421-D6BF-1B30-78EA-4ABCA00FFCCB}"/>
                </a:ext>
              </a:extLst>
            </p:cNvPr>
            <p:cNvSpPr txBox="1"/>
            <p:nvPr/>
          </p:nvSpPr>
          <p:spPr>
            <a:xfrm>
              <a:off x="574741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16</a:t>
              </a:r>
              <a:endParaRPr lang="ja-JP" altLang="en-US" dirty="0">
                <a:latin typeface="Times New Roman" panose="02020603050405020304" pitchFamily="18" charset="0"/>
                <a:cs typeface="Times New Roman" panose="02020603050405020304" pitchFamily="18" charset="0"/>
              </a:endParaRPr>
            </a:p>
          </p:txBody>
        </p:sp>
        <p:sp>
          <p:nvSpPr>
            <p:cNvPr id="52" name="テキスト ボックス 51">
              <a:extLst>
                <a:ext uri="{FF2B5EF4-FFF2-40B4-BE49-F238E27FC236}">
                  <a16:creationId xmlns:a16="http://schemas.microsoft.com/office/drawing/2014/main" id="{DBCC9BCC-0EFD-8EA8-8E9A-6E39C85D645B}"/>
                </a:ext>
              </a:extLst>
            </p:cNvPr>
            <p:cNvSpPr txBox="1"/>
            <p:nvPr/>
          </p:nvSpPr>
          <p:spPr>
            <a:xfrm>
              <a:off x="480269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15</a:t>
              </a:r>
              <a:endParaRPr lang="ja-JP" altLang="en-US" dirty="0">
                <a:latin typeface="Times New Roman" panose="02020603050405020304" pitchFamily="18" charset="0"/>
                <a:cs typeface="Times New Roman" panose="02020603050405020304" pitchFamily="18" charset="0"/>
              </a:endParaRPr>
            </a:p>
          </p:txBody>
        </p:sp>
        <p:sp>
          <p:nvSpPr>
            <p:cNvPr id="53" name="テキスト ボックス 52">
              <a:extLst>
                <a:ext uri="{FF2B5EF4-FFF2-40B4-BE49-F238E27FC236}">
                  <a16:creationId xmlns:a16="http://schemas.microsoft.com/office/drawing/2014/main" id="{50ACBC94-FD51-2DBA-73D8-6B9F8A7DD814}"/>
                </a:ext>
              </a:extLst>
            </p:cNvPr>
            <p:cNvSpPr txBox="1"/>
            <p:nvPr/>
          </p:nvSpPr>
          <p:spPr>
            <a:xfrm>
              <a:off x="3888684"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14</a:t>
              </a:r>
              <a:endParaRPr lang="ja-JP" altLang="en-US" dirty="0">
                <a:latin typeface="Times New Roman" panose="02020603050405020304" pitchFamily="18" charset="0"/>
                <a:cs typeface="Times New Roman" panose="02020603050405020304" pitchFamily="18" charset="0"/>
              </a:endParaRPr>
            </a:p>
          </p:txBody>
        </p:sp>
        <p:sp>
          <p:nvSpPr>
            <p:cNvPr id="54" name="テキスト ボックス 53">
              <a:extLst>
                <a:ext uri="{FF2B5EF4-FFF2-40B4-BE49-F238E27FC236}">
                  <a16:creationId xmlns:a16="http://schemas.microsoft.com/office/drawing/2014/main" id="{A53BE0B2-8D64-D093-334A-1EBE87DD8D97}"/>
                </a:ext>
              </a:extLst>
            </p:cNvPr>
            <p:cNvSpPr txBox="1"/>
            <p:nvPr/>
          </p:nvSpPr>
          <p:spPr>
            <a:xfrm>
              <a:off x="297333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13</a:t>
              </a:r>
              <a:endParaRPr lang="ja-JP" altLang="en-US" dirty="0">
                <a:latin typeface="Times New Roman" panose="02020603050405020304" pitchFamily="18" charset="0"/>
                <a:cs typeface="Times New Roman" panose="02020603050405020304" pitchFamily="18" charset="0"/>
              </a:endParaRPr>
            </a:p>
          </p:txBody>
        </p:sp>
        <p:sp>
          <p:nvSpPr>
            <p:cNvPr id="55" name="テキスト ボックス 54">
              <a:extLst>
                <a:ext uri="{FF2B5EF4-FFF2-40B4-BE49-F238E27FC236}">
                  <a16:creationId xmlns:a16="http://schemas.microsoft.com/office/drawing/2014/main" id="{1352C89F-AD78-3C51-F60E-33E8264DBB28}"/>
                </a:ext>
              </a:extLst>
            </p:cNvPr>
            <p:cNvSpPr txBox="1"/>
            <p:nvPr/>
          </p:nvSpPr>
          <p:spPr>
            <a:xfrm>
              <a:off x="2094720"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12</a:t>
              </a:r>
              <a:endParaRPr lang="ja-JP"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75749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C39833-4B6F-81BB-5AD3-CA67B4A54D1D}"/>
              </a:ext>
            </a:extLst>
          </p:cNvPr>
          <p:cNvSpPr>
            <a:spLocks noGrp="1"/>
          </p:cNvSpPr>
          <p:nvPr>
            <p:ph type="title"/>
          </p:nvPr>
        </p:nvSpPr>
        <p:spPr/>
        <p:txBody>
          <a:bodyPr/>
          <a:lstStyle/>
          <a:p>
            <a:r>
              <a:rPr kumimoji="1" lang="ja-JP" altLang="en-US" dirty="0"/>
              <a:t>方法</a:t>
            </a:r>
          </a:p>
        </p:txBody>
      </p:sp>
      <p:sp>
        <p:nvSpPr>
          <p:cNvPr id="3" name="コンテンツ プレースホルダー 2">
            <a:extLst>
              <a:ext uri="{FF2B5EF4-FFF2-40B4-BE49-F238E27FC236}">
                <a16:creationId xmlns:a16="http://schemas.microsoft.com/office/drawing/2014/main" id="{084F9C19-6D63-0352-E1C5-FF5E4B429772}"/>
              </a:ext>
            </a:extLst>
          </p:cNvPr>
          <p:cNvSpPr>
            <a:spLocks noGrp="1"/>
          </p:cNvSpPr>
          <p:nvPr>
            <p:ph idx="1"/>
          </p:nvPr>
        </p:nvSpPr>
        <p:spPr/>
        <p:txBody>
          <a:bodyPr/>
          <a:lstStyle/>
          <a:p>
            <a:r>
              <a:rPr kumimoji="1" lang="ja-JP" altLang="en-US" dirty="0"/>
              <a:t>畳み込みニューラルネットワークを用いて，アキシャルの取り方や，</a:t>
            </a:r>
            <a:r>
              <a:rPr kumimoji="1" lang="en-US" altLang="ja-JP" dirty="0"/>
              <a:t>MRI</a:t>
            </a:r>
            <a:r>
              <a:rPr kumimoji="1" lang="ja-JP" altLang="en-US" dirty="0"/>
              <a:t>画像の撮影方法の違いによる大脳白質病変のグレード判別精度の変化を検証した．</a:t>
            </a:r>
            <a:endParaRPr kumimoji="1" lang="en-US" altLang="ja-JP" dirty="0"/>
          </a:p>
          <a:p>
            <a:r>
              <a:rPr kumimoji="1" lang="ja-JP" altLang="en-US" dirty="0"/>
              <a:t>検査項目との関連性調査として，大脳白質病変のリスク因子である高血圧の傾向を共起ネットワーク図で示し，大脳白質病変の進行度との関係を調査した．</a:t>
            </a:r>
            <a:endParaRPr kumimoji="1" lang="en-US" altLang="ja-JP" dirty="0"/>
          </a:p>
        </p:txBody>
      </p:sp>
    </p:spTree>
    <p:extLst>
      <p:ext uri="{BB962C8B-B14F-4D97-AF65-F5344CB8AC3E}">
        <p14:creationId xmlns:p14="http://schemas.microsoft.com/office/powerpoint/2010/main" val="672221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4EA918-070D-2303-494F-7EABEE3C7B6F}"/>
              </a:ext>
            </a:extLst>
          </p:cNvPr>
          <p:cNvSpPr>
            <a:spLocks noGrp="1"/>
          </p:cNvSpPr>
          <p:nvPr>
            <p:ph type="title"/>
          </p:nvPr>
        </p:nvSpPr>
        <p:spPr/>
        <p:txBody>
          <a:bodyPr/>
          <a:lstStyle/>
          <a:p>
            <a:r>
              <a:rPr kumimoji="1" lang="ja-JP" altLang="en-US" dirty="0"/>
              <a:t>方法</a:t>
            </a:r>
          </a:p>
        </p:txBody>
      </p:sp>
      <p:sp>
        <p:nvSpPr>
          <p:cNvPr id="3" name="コンテンツ プレースホルダー 2">
            <a:extLst>
              <a:ext uri="{FF2B5EF4-FFF2-40B4-BE49-F238E27FC236}">
                <a16:creationId xmlns:a16="http://schemas.microsoft.com/office/drawing/2014/main" id="{857D187B-965A-E605-8690-31E5E57F2C01}"/>
              </a:ext>
            </a:extLst>
          </p:cNvPr>
          <p:cNvSpPr>
            <a:spLocks noGrp="1"/>
          </p:cNvSpPr>
          <p:nvPr>
            <p:ph idx="1"/>
          </p:nvPr>
        </p:nvSpPr>
        <p:spPr/>
        <p:txBody>
          <a:bodyPr>
            <a:normAutofit fontScale="92500" lnSpcReduction="10000"/>
          </a:bodyPr>
          <a:lstStyle/>
          <a:p>
            <a:r>
              <a:rPr kumimoji="1" lang="ja-JP" altLang="en-US" dirty="0"/>
              <a:t>大脳白質病変は脳室周囲に見られることが多く，眼球寄りや頭頂部寄りの部分などでは，高度の大脳白質病変</a:t>
            </a:r>
            <a:r>
              <a:rPr lang="ja-JP" altLang="en-US" dirty="0"/>
              <a:t>を有する</a:t>
            </a:r>
            <a:r>
              <a:rPr kumimoji="1" lang="ja-JP" altLang="en-US" dirty="0"/>
              <a:t>患者でも，病変は現れない（図</a:t>
            </a:r>
            <a:r>
              <a:rPr lang="en-US" altLang="ja-JP" dirty="0"/>
              <a:t>2</a:t>
            </a:r>
            <a:r>
              <a:rPr kumimoji="1" lang="ja-JP" altLang="en-US" dirty="0"/>
              <a:t>）．</a:t>
            </a:r>
            <a:endParaRPr kumimoji="1" lang="en-US" altLang="ja-JP" dirty="0"/>
          </a:p>
          <a:p>
            <a:r>
              <a:rPr kumimoji="1" lang="ja-JP" altLang="en-US" dirty="0"/>
              <a:t>畳み込みニューラルネットワーク</a:t>
            </a:r>
            <a:r>
              <a:rPr lang="ja-JP" altLang="en-US" dirty="0"/>
              <a:t>の</a:t>
            </a:r>
            <a:r>
              <a:rPr kumimoji="1" lang="ja-JP" altLang="en-US" dirty="0"/>
              <a:t>学習データに，病変がみられない範囲の画像を用いると，精度に影響が出る懸念がある．</a:t>
            </a:r>
            <a:endParaRPr kumimoji="1" lang="en-US" altLang="ja-JP" dirty="0"/>
          </a:p>
          <a:p>
            <a:r>
              <a:rPr kumimoji="1" lang="ja-JP" altLang="en-US" dirty="0"/>
              <a:t>学習と評価に用いるアキシャルの</a:t>
            </a:r>
            <a:r>
              <a:rPr lang="ja-JP" altLang="en-US" dirty="0"/>
              <a:t>位置と数を変更した</a:t>
            </a:r>
            <a:r>
              <a:rPr kumimoji="1" lang="ja-JP" altLang="en-US" dirty="0"/>
              <a:t>．</a:t>
            </a:r>
            <a:endParaRPr kumimoji="1" lang="en-US" altLang="ja-JP" dirty="0"/>
          </a:p>
          <a:p>
            <a:r>
              <a:rPr kumimoji="1" lang="ja-JP" altLang="en-US" dirty="0"/>
              <a:t>脳ドックのガイドライン</a:t>
            </a:r>
            <a:r>
              <a:rPr kumimoji="1" lang="en-US" altLang="ja-JP" dirty="0"/>
              <a:t>2019</a:t>
            </a:r>
            <a:r>
              <a:rPr kumimoji="1" lang="ja-JP" altLang="en-US" dirty="0"/>
              <a:t>において，</a:t>
            </a:r>
            <a:r>
              <a:rPr kumimoji="1" lang="en-US" altLang="ja-JP" dirty="0"/>
              <a:t>MRI</a:t>
            </a:r>
            <a:r>
              <a:rPr kumimoji="1" lang="ja-JP" altLang="en-US" dirty="0"/>
              <a:t>画像診断は，</a:t>
            </a:r>
            <a:r>
              <a:rPr kumimoji="1" lang="en-US" altLang="ja-JP" dirty="0"/>
              <a:t>T1</a:t>
            </a:r>
            <a:r>
              <a:rPr kumimoji="1" lang="ja-JP" altLang="en-US" dirty="0"/>
              <a:t>強調画像，</a:t>
            </a:r>
            <a:r>
              <a:rPr kumimoji="1" lang="en-US" altLang="ja-JP" dirty="0"/>
              <a:t>T2</a:t>
            </a:r>
            <a:r>
              <a:rPr kumimoji="1" lang="ja-JP" altLang="en-US" dirty="0"/>
              <a:t>強調画像，ならびに</a:t>
            </a:r>
            <a:r>
              <a:rPr kumimoji="1" lang="en-US" altLang="ja-JP" dirty="0"/>
              <a:t>FLAIR</a:t>
            </a:r>
            <a:r>
              <a:rPr kumimoji="1" lang="ja-JP" altLang="en-US" dirty="0"/>
              <a:t>画像またはプロトン密度強調画像の</a:t>
            </a:r>
            <a:r>
              <a:rPr kumimoji="1" lang="en-US" altLang="ja-JP" dirty="0"/>
              <a:t>3</a:t>
            </a:r>
            <a:r>
              <a:rPr kumimoji="1" lang="ja-JP" altLang="en-US" dirty="0"/>
              <a:t>種併用を必須としている．</a:t>
            </a:r>
          </a:p>
          <a:p>
            <a:r>
              <a:rPr kumimoji="1" lang="ja-JP" altLang="en-US" dirty="0"/>
              <a:t>学習と評価に用いる画像を，</a:t>
            </a:r>
            <a:r>
              <a:rPr kumimoji="1" lang="en-US" altLang="ja-JP" dirty="0"/>
              <a:t>T1</a:t>
            </a:r>
            <a:r>
              <a:rPr kumimoji="1" lang="ja-JP" altLang="en-US" dirty="0"/>
              <a:t>強調画像，</a:t>
            </a:r>
            <a:r>
              <a:rPr kumimoji="1" lang="en-US" altLang="ja-JP" dirty="0"/>
              <a:t>T2</a:t>
            </a:r>
            <a:r>
              <a:rPr kumimoji="1" lang="ja-JP" altLang="en-US" dirty="0"/>
              <a:t>強調画像，</a:t>
            </a:r>
            <a:r>
              <a:rPr kumimoji="1" lang="en-US" altLang="ja-JP" dirty="0"/>
              <a:t>FLAIR</a:t>
            </a:r>
            <a:r>
              <a:rPr kumimoji="1" lang="ja-JP" altLang="en-US" dirty="0"/>
              <a:t>画像の</a:t>
            </a:r>
            <a:r>
              <a:rPr kumimoji="1" lang="en-US" altLang="ja-JP" dirty="0"/>
              <a:t>3</a:t>
            </a:r>
            <a:r>
              <a:rPr kumimoji="1" lang="ja-JP" altLang="en-US" dirty="0"/>
              <a:t>種類</a:t>
            </a:r>
            <a:r>
              <a:rPr lang="ja-JP" altLang="en-US" dirty="0"/>
              <a:t>の画像の組み合わせを変えた．</a:t>
            </a:r>
            <a:endParaRPr kumimoji="1" lang="ja-JP" altLang="en-US" dirty="0"/>
          </a:p>
        </p:txBody>
      </p:sp>
    </p:spTree>
    <p:extLst>
      <p:ext uri="{BB962C8B-B14F-4D97-AF65-F5344CB8AC3E}">
        <p14:creationId xmlns:p14="http://schemas.microsoft.com/office/powerpoint/2010/main" val="3446741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E48CA2-27BC-588A-93C5-E12C1B43121C}"/>
              </a:ext>
            </a:extLst>
          </p:cNvPr>
          <p:cNvSpPr>
            <a:spLocks noGrp="1"/>
          </p:cNvSpPr>
          <p:nvPr>
            <p:ph type="title"/>
          </p:nvPr>
        </p:nvSpPr>
        <p:spPr/>
        <p:txBody>
          <a:bodyPr/>
          <a:lstStyle/>
          <a:p>
            <a:r>
              <a:rPr kumimoji="1" lang="ja-JP" altLang="en-US" dirty="0"/>
              <a:t>方法</a:t>
            </a:r>
          </a:p>
        </p:txBody>
      </p:sp>
      <p:sp>
        <p:nvSpPr>
          <p:cNvPr id="3" name="コンテンツ プレースホルダー 2">
            <a:extLst>
              <a:ext uri="{FF2B5EF4-FFF2-40B4-BE49-F238E27FC236}">
                <a16:creationId xmlns:a16="http://schemas.microsoft.com/office/drawing/2014/main" id="{2440F201-DDB6-ADA0-6E14-F888BE258BC9}"/>
              </a:ext>
            </a:extLst>
          </p:cNvPr>
          <p:cNvSpPr>
            <a:spLocks noGrp="1"/>
          </p:cNvSpPr>
          <p:nvPr>
            <p:ph idx="1"/>
          </p:nvPr>
        </p:nvSpPr>
        <p:spPr/>
        <p:txBody>
          <a:bodyPr/>
          <a:lstStyle/>
          <a:p>
            <a:r>
              <a:rPr lang="ja-JP" altLang="en-US" dirty="0"/>
              <a:t>データセット</a:t>
            </a:r>
            <a:endParaRPr kumimoji="1" lang="ja-JP" altLang="en-US" dirty="0"/>
          </a:p>
        </p:txBody>
      </p:sp>
      <p:graphicFrame>
        <p:nvGraphicFramePr>
          <p:cNvPr id="4" name="表 3">
            <a:extLst>
              <a:ext uri="{FF2B5EF4-FFF2-40B4-BE49-F238E27FC236}">
                <a16:creationId xmlns:a16="http://schemas.microsoft.com/office/drawing/2014/main" id="{097A0EA4-DD50-8A2D-698C-42A544C831DA}"/>
              </a:ext>
            </a:extLst>
          </p:cNvPr>
          <p:cNvGraphicFramePr>
            <a:graphicFrameLocks noGrp="1"/>
          </p:cNvGraphicFramePr>
          <p:nvPr>
            <p:extLst>
              <p:ext uri="{D42A27DB-BD31-4B8C-83A1-F6EECF244321}">
                <p14:modId xmlns:p14="http://schemas.microsoft.com/office/powerpoint/2010/main" val="1550725941"/>
              </p:ext>
            </p:extLst>
          </p:nvPr>
        </p:nvGraphicFramePr>
        <p:xfrm>
          <a:off x="3276600" y="2607324"/>
          <a:ext cx="5638800" cy="2787939"/>
        </p:xfrm>
        <a:graphic>
          <a:graphicData uri="http://schemas.openxmlformats.org/drawingml/2006/table">
            <a:tbl>
              <a:tblPr firstRow="1" firstCol="1" lastRow="1">
                <a:tableStyleId>{9D7B26C5-4107-4FEC-AEDC-1716B250A1EF}</a:tableStyleId>
              </a:tblPr>
              <a:tblGrid>
                <a:gridCol w="748030">
                  <a:extLst>
                    <a:ext uri="{9D8B030D-6E8A-4147-A177-3AD203B41FA5}">
                      <a16:colId xmlns:a16="http://schemas.microsoft.com/office/drawing/2014/main" val="976137953"/>
                    </a:ext>
                  </a:extLst>
                </a:gridCol>
                <a:gridCol w="811530">
                  <a:extLst>
                    <a:ext uri="{9D8B030D-6E8A-4147-A177-3AD203B41FA5}">
                      <a16:colId xmlns:a16="http://schemas.microsoft.com/office/drawing/2014/main" val="2927738241"/>
                    </a:ext>
                  </a:extLst>
                </a:gridCol>
                <a:gridCol w="811530">
                  <a:extLst>
                    <a:ext uri="{9D8B030D-6E8A-4147-A177-3AD203B41FA5}">
                      <a16:colId xmlns:a16="http://schemas.microsoft.com/office/drawing/2014/main" val="1593565575"/>
                    </a:ext>
                  </a:extLst>
                </a:gridCol>
                <a:gridCol w="900430">
                  <a:extLst>
                    <a:ext uri="{9D8B030D-6E8A-4147-A177-3AD203B41FA5}">
                      <a16:colId xmlns:a16="http://schemas.microsoft.com/office/drawing/2014/main" val="474328921"/>
                    </a:ext>
                  </a:extLst>
                </a:gridCol>
                <a:gridCol w="2367280">
                  <a:extLst>
                    <a:ext uri="{9D8B030D-6E8A-4147-A177-3AD203B41FA5}">
                      <a16:colId xmlns:a16="http://schemas.microsoft.com/office/drawing/2014/main" val="2121834948"/>
                    </a:ext>
                  </a:extLst>
                </a:gridCol>
              </a:tblGrid>
              <a:tr h="398277">
                <a:tc>
                  <a:txBody>
                    <a:bodyPr/>
                    <a:lstStyle/>
                    <a:p>
                      <a:pPr algn="ctr"/>
                      <a:r>
                        <a:rPr kumimoji="1" lang="en-US" altLang="ja-JP" b="0" dirty="0">
                          <a:latin typeface="Times New Roman" panose="02020603050405020304" pitchFamily="18" charset="0"/>
                          <a:cs typeface="Times New Roman" panose="02020603050405020304" pitchFamily="18" charset="0"/>
                        </a:rPr>
                        <a:t>grade</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kumimoji="1" lang="en-US" altLang="ja-JP" b="0" dirty="0">
                          <a:latin typeface="Times New Roman" panose="02020603050405020304" pitchFamily="18" charset="0"/>
                          <a:cs typeface="Times New Roman" panose="02020603050405020304" pitchFamily="18" charset="0"/>
                        </a:rPr>
                        <a:t>T1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kumimoji="1" lang="en-US" altLang="ja-JP" b="0" dirty="0">
                          <a:latin typeface="Times New Roman" panose="02020603050405020304" pitchFamily="18" charset="0"/>
                          <a:cs typeface="Times New Roman" panose="02020603050405020304" pitchFamily="18" charset="0"/>
                        </a:rPr>
                        <a:t>T2</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kumimoji="1" lang="en-US" altLang="ja-JP" b="0" dirty="0">
                          <a:latin typeface="Times New Roman" panose="02020603050405020304" pitchFamily="18" charset="0"/>
                          <a:cs typeface="Times New Roman" panose="02020603050405020304" pitchFamily="18" charset="0"/>
                        </a:rPr>
                        <a:t>FLAIR</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kumimoji="1" lang="en-US" altLang="ja-JP" b="0" dirty="0">
                          <a:latin typeface="Times New Roman" panose="02020603050405020304" pitchFamily="18" charset="0"/>
                          <a:cs typeface="Times New Roman" panose="02020603050405020304" pitchFamily="18" charset="0"/>
                        </a:rPr>
                        <a:t>The number of patients</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347335465"/>
                  </a:ext>
                </a:extLst>
              </a:tr>
              <a:tr h="398277">
                <a:tc>
                  <a:txBody>
                    <a:bodyPr/>
                    <a:lstStyle/>
                    <a:p>
                      <a:pPr algn="ctr"/>
                      <a:r>
                        <a:rPr kumimoji="1" lang="en-US" altLang="ja-JP" b="0" dirty="0">
                          <a:latin typeface="Times New Roman" panose="02020603050405020304" pitchFamily="18" charset="0"/>
                          <a:cs typeface="Times New Roman" panose="02020603050405020304" pitchFamily="18" charset="0"/>
                        </a:rPr>
                        <a:t>0</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12739</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12753</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12752</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551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99525692"/>
                  </a:ext>
                </a:extLst>
              </a:tr>
              <a:tr h="398277">
                <a:tc>
                  <a:txBody>
                    <a:bodyPr/>
                    <a:lstStyle/>
                    <a:p>
                      <a:pPr algn="ctr"/>
                      <a:r>
                        <a:rPr kumimoji="1" lang="en-US" altLang="ja-JP" b="0" dirty="0">
                          <a:latin typeface="Times New Roman" panose="02020603050405020304" pitchFamily="18" charset="0"/>
                          <a:cs typeface="Times New Roman" panose="02020603050405020304" pitchFamily="18" charset="0"/>
                        </a:rPr>
                        <a:t>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10222</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10223</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10212</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441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456818068"/>
                  </a:ext>
                </a:extLst>
              </a:tr>
              <a:tr h="398277">
                <a:tc>
                  <a:txBody>
                    <a:bodyPr/>
                    <a:lstStyle/>
                    <a:p>
                      <a:pPr algn="ctr"/>
                      <a:r>
                        <a:rPr kumimoji="1" lang="en-US" altLang="ja-JP" b="0" dirty="0">
                          <a:latin typeface="Times New Roman" panose="02020603050405020304" pitchFamily="18" charset="0"/>
                          <a:cs typeface="Times New Roman" panose="02020603050405020304" pitchFamily="18" charset="0"/>
                        </a:rPr>
                        <a:t>2</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2430</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2430</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2430</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107</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574823513"/>
                  </a:ext>
                </a:extLst>
              </a:tr>
              <a:tr h="398277">
                <a:tc>
                  <a:txBody>
                    <a:bodyPr/>
                    <a:lstStyle/>
                    <a:p>
                      <a:pPr algn="ctr"/>
                      <a:r>
                        <a:rPr kumimoji="1" lang="en-US" altLang="ja-JP" b="0" dirty="0">
                          <a:latin typeface="Times New Roman" panose="02020603050405020304" pitchFamily="18" charset="0"/>
                          <a:cs typeface="Times New Roman" panose="02020603050405020304" pitchFamily="18" charset="0"/>
                        </a:rPr>
                        <a:t>3</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898</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898</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899</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39</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4079969612"/>
                  </a:ext>
                </a:extLst>
              </a:tr>
              <a:tr h="398277">
                <a:tc>
                  <a:txBody>
                    <a:bodyPr/>
                    <a:lstStyle/>
                    <a:p>
                      <a:pPr algn="ctr"/>
                      <a:r>
                        <a:rPr kumimoji="1" lang="en-US" altLang="ja-JP" b="0" dirty="0">
                          <a:latin typeface="Times New Roman" panose="02020603050405020304" pitchFamily="18" charset="0"/>
                          <a:cs typeface="Times New Roman" panose="02020603050405020304" pitchFamily="18" charset="0"/>
                        </a:rPr>
                        <a:t>4</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181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181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181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8</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3255677576"/>
                  </a:ext>
                </a:extLst>
              </a:tr>
              <a:tr h="398277">
                <a:tc>
                  <a:txBody>
                    <a:bodyPr/>
                    <a:lstStyle/>
                    <a:p>
                      <a:pPr algn="ctr"/>
                      <a:r>
                        <a:rPr kumimoji="1" lang="en-US" altLang="ja-JP" b="0" dirty="0">
                          <a:latin typeface="Times New Roman" panose="02020603050405020304" pitchFamily="18" charset="0"/>
                          <a:cs typeface="Times New Roman" panose="02020603050405020304" pitchFamily="18" charset="0"/>
                        </a:rPr>
                        <a:t>all</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b="0" dirty="0">
                          <a:latin typeface="Times New Roman" panose="02020603050405020304" pitchFamily="18" charset="0"/>
                          <a:cs typeface="Times New Roman" panose="02020603050405020304" pitchFamily="18" charset="0"/>
                        </a:rPr>
                        <a:t>26471</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26485</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r"/>
                      <a:r>
                        <a:rPr kumimoji="1" lang="en-US" altLang="ja-JP" b="0" dirty="0">
                          <a:latin typeface="Times New Roman" panose="02020603050405020304" pitchFamily="18" charset="0"/>
                          <a:cs typeface="Times New Roman" panose="02020603050405020304" pitchFamily="18" charset="0"/>
                        </a:rPr>
                        <a:t>26473</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b="0" dirty="0">
                          <a:latin typeface="Times New Roman" panose="02020603050405020304" pitchFamily="18" charset="0"/>
                          <a:cs typeface="Times New Roman" panose="02020603050405020304" pitchFamily="18" charset="0"/>
                        </a:rPr>
                        <a:t>1146</a:t>
                      </a:r>
                      <a:endParaRPr kumimoji="1" lang="ja-JP" altLang="en-US" b="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4277490859"/>
                  </a:ext>
                </a:extLst>
              </a:tr>
            </a:tbl>
          </a:graphicData>
        </a:graphic>
      </p:graphicFrame>
      <p:sp>
        <p:nvSpPr>
          <p:cNvPr id="5" name="テキスト ボックス 4">
            <a:extLst>
              <a:ext uri="{FF2B5EF4-FFF2-40B4-BE49-F238E27FC236}">
                <a16:creationId xmlns:a16="http://schemas.microsoft.com/office/drawing/2014/main" id="{C0BE52E9-57DD-8EF0-444D-A6C65EA60DB3}"/>
              </a:ext>
            </a:extLst>
          </p:cNvPr>
          <p:cNvSpPr txBox="1"/>
          <p:nvPr/>
        </p:nvSpPr>
        <p:spPr>
          <a:xfrm>
            <a:off x="3276600" y="5395263"/>
            <a:ext cx="5638800" cy="369332"/>
          </a:xfrm>
          <a:prstGeom prst="rect">
            <a:avLst/>
          </a:prstGeom>
          <a:noFill/>
        </p:spPr>
        <p:txBody>
          <a:bodyPr wrap="square">
            <a:spAutoFit/>
          </a:bodyPr>
          <a:lstStyle/>
          <a:p>
            <a:pPr algn="ctr"/>
            <a:r>
              <a:rPr lang="ja-JP" altLang="en-US" dirty="0"/>
              <a:t>表</a:t>
            </a:r>
            <a:r>
              <a:rPr lang="en-US" altLang="ja-JP" dirty="0"/>
              <a:t>2</a:t>
            </a:r>
            <a:r>
              <a:rPr lang="ja-JP" altLang="en-US" dirty="0"/>
              <a:t>　グレード別の画像の枚数</a:t>
            </a:r>
          </a:p>
        </p:txBody>
      </p:sp>
    </p:spTree>
    <p:extLst>
      <p:ext uri="{BB962C8B-B14F-4D97-AF65-F5344CB8AC3E}">
        <p14:creationId xmlns:p14="http://schemas.microsoft.com/office/powerpoint/2010/main" val="3723500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D03C83-E9CE-7241-D38B-77D1D9CDD633}"/>
              </a:ext>
            </a:extLst>
          </p:cNvPr>
          <p:cNvSpPr>
            <a:spLocks noGrp="1"/>
          </p:cNvSpPr>
          <p:nvPr>
            <p:ph type="title"/>
          </p:nvPr>
        </p:nvSpPr>
        <p:spPr/>
        <p:txBody>
          <a:bodyPr/>
          <a:lstStyle/>
          <a:p>
            <a:r>
              <a:rPr lang="ja-JP" altLang="en-US" dirty="0"/>
              <a:t>共起ネットワーク図</a:t>
            </a:r>
            <a:endParaRPr kumimoji="1" lang="ja-JP" altLang="en-US" dirty="0"/>
          </a:p>
        </p:txBody>
      </p:sp>
      <p:sp>
        <p:nvSpPr>
          <p:cNvPr id="3" name="コンテンツ プレースホルダー 2">
            <a:extLst>
              <a:ext uri="{FF2B5EF4-FFF2-40B4-BE49-F238E27FC236}">
                <a16:creationId xmlns:a16="http://schemas.microsoft.com/office/drawing/2014/main" id="{6508723E-41D8-8E6D-A534-FA022C4139C7}"/>
              </a:ext>
            </a:extLst>
          </p:cNvPr>
          <p:cNvSpPr>
            <a:spLocks noGrp="1"/>
          </p:cNvSpPr>
          <p:nvPr>
            <p:ph idx="1"/>
          </p:nvPr>
        </p:nvSpPr>
        <p:spPr/>
        <p:txBody>
          <a:bodyPr/>
          <a:lstStyle/>
          <a:p>
            <a:pPr marL="0" indent="0">
              <a:buNone/>
            </a:pPr>
            <a:r>
              <a:rPr kumimoji="1" lang="ja-JP" altLang="en-US" dirty="0"/>
              <a:t>健診データとの関連性調査では</a:t>
            </a:r>
            <a:endParaRPr kumimoji="1" lang="en-US" altLang="ja-JP" dirty="0"/>
          </a:p>
          <a:p>
            <a:r>
              <a:rPr kumimoji="1" lang="ja-JP" altLang="en-US" dirty="0"/>
              <a:t>糖尿病</a:t>
            </a:r>
            <a:endParaRPr lang="en-US" altLang="ja-JP" dirty="0"/>
          </a:p>
          <a:p>
            <a:r>
              <a:rPr kumimoji="1" lang="ja-JP" altLang="en-US" dirty="0"/>
              <a:t>脂質異常症</a:t>
            </a:r>
            <a:endParaRPr kumimoji="1" lang="en-US" altLang="ja-JP" dirty="0"/>
          </a:p>
          <a:p>
            <a:r>
              <a:rPr kumimoji="1" lang="ja-JP" altLang="en-US" dirty="0"/>
              <a:t>肥満</a:t>
            </a:r>
            <a:endParaRPr lang="en-US" altLang="ja-JP" dirty="0"/>
          </a:p>
          <a:p>
            <a:r>
              <a:rPr kumimoji="1" lang="ja-JP" altLang="en-US" dirty="0"/>
              <a:t>高血圧（正常血圧，正常高値血圧，高値血圧，</a:t>
            </a:r>
            <a:r>
              <a:rPr kumimoji="1" lang="en-US" altLang="ja-JP" dirty="0"/>
              <a:t>I</a:t>
            </a:r>
            <a:r>
              <a:rPr kumimoji="1" lang="ja-JP" altLang="en-US" dirty="0"/>
              <a:t>度高血圧，</a:t>
            </a:r>
            <a:r>
              <a:rPr kumimoji="1" lang="en-US" altLang="ja-JP" dirty="0"/>
              <a:t>II</a:t>
            </a:r>
            <a:r>
              <a:rPr kumimoji="1" lang="ja-JP" altLang="en-US" dirty="0"/>
              <a:t>度高血圧，</a:t>
            </a:r>
            <a:r>
              <a:rPr kumimoji="1" lang="en-US" altLang="ja-JP" dirty="0"/>
              <a:t>III</a:t>
            </a:r>
            <a:r>
              <a:rPr kumimoji="1" lang="ja-JP" altLang="en-US" dirty="0"/>
              <a:t>度高血圧，（孤立性）収縮期高血圧）</a:t>
            </a:r>
            <a:endParaRPr kumimoji="1" lang="en-US" altLang="ja-JP" dirty="0"/>
          </a:p>
          <a:p>
            <a:pPr marL="0" indent="0">
              <a:buNone/>
            </a:pPr>
            <a:r>
              <a:rPr kumimoji="1" lang="ja-JP" altLang="en-US" dirty="0"/>
              <a:t>の</a:t>
            </a:r>
            <a:r>
              <a:rPr kumimoji="1" lang="en-US" altLang="ja-JP" dirty="0"/>
              <a:t>10</a:t>
            </a:r>
            <a:r>
              <a:rPr kumimoji="1" lang="ja-JP" altLang="en-US" dirty="0"/>
              <a:t>項目と，大脳白質病変のグレード</a:t>
            </a:r>
            <a:r>
              <a:rPr kumimoji="1" lang="en-US" altLang="ja-JP" dirty="0"/>
              <a:t>0</a:t>
            </a:r>
            <a:r>
              <a:rPr kumimoji="1" lang="ja-JP" altLang="en-US" dirty="0"/>
              <a:t>～</a:t>
            </a:r>
            <a:r>
              <a:rPr kumimoji="1" lang="en-US" altLang="ja-JP" dirty="0"/>
              <a:t>4</a:t>
            </a:r>
            <a:r>
              <a:rPr kumimoji="1" lang="ja-JP" altLang="en-US" dirty="0"/>
              <a:t>の計</a:t>
            </a:r>
            <a:r>
              <a:rPr kumimoji="1" lang="en-US" altLang="ja-JP" dirty="0"/>
              <a:t>15</a:t>
            </a:r>
            <a:r>
              <a:rPr kumimoji="1" lang="ja-JP" altLang="en-US" dirty="0"/>
              <a:t>項目を</a:t>
            </a:r>
            <a:r>
              <a:rPr lang="ja-JP" altLang="en-US" dirty="0"/>
              <a:t>，</a:t>
            </a:r>
            <a:r>
              <a:rPr kumimoji="1" lang="ja-JP" altLang="en-US" dirty="0"/>
              <a:t>共起ネットワーク図で可視化した．</a:t>
            </a:r>
          </a:p>
        </p:txBody>
      </p:sp>
    </p:spTree>
    <p:extLst>
      <p:ext uri="{BB962C8B-B14F-4D97-AF65-F5344CB8AC3E}">
        <p14:creationId xmlns:p14="http://schemas.microsoft.com/office/powerpoint/2010/main" val="3611812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037578-E251-BD44-6BDA-D007DE654474}"/>
              </a:ext>
            </a:extLst>
          </p:cNvPr>
          <p:cNvSpPr>
            <a:spLocks noGrp="1"/>
          </p:cNvSpPr>
          <p:nvPr>
            <p:ph type="title"/>
          </p:nvPr>
        </p:nvSpPr>
        <p:spPr/>
        <p:txBody>
          <a:bodyPr/>
          <a:lstStyle/>
          <a:p>
            <a:r>
              <a:rPr lang="ja-JP" altLang="en-US" dirty="0"/>
              <a:t>共起ネットワーク図</a:t>
            </a:r>
            <a:endParaRPr kumimoji="1" lang="ja-JP" altLang="en-US" dirty="0"/>
          </a:p>
        </p:txBody>
      </p:sp>
      <p:sp>
        <p:nvSpPr>
          <p:cNvPr id="3" name="コンテンツ プレースホルダー 2">
            <a:extLst>
              <a:ext uri="{FF2B5EF4-FFF2-40B4-BE49-F238E27FC236}">
                <a16:creationId xmlns:a16="http://schemas.microsoft.com/office/drawing/2014/main" id="{1F4CC201-BA24-E734-2C9F-C16B3EA5E96A}"/>
              </a:ext>
            </a:extLst>
          </p:cNvPr>
          <p:cNvSpPr>
            <a:spLocks noGrp="1"/>
          </p:cNvSpPr>
          <p:nvPr>
            <p:ph idx="1"/>
          </p:nvPr>
        </p:nvSpPr>
        <p:spPr/>
        <p:txBody>
          <a:bodyPr/>
          <a:lstStyle/>
          <a:p>
            <a:r>
              <a:rPr lang="ja-JP" altLang="en-US" dirty="0"/>
              <a:t>患者一人につき，</a:t>
            </a:r>
            <a:r>
              <a:rPr kumimoji="1" lang="ja-JP" altLang="en-US" dirty="0"/>
              <a:t>糖尿病，脂質異常症，肥満，高血圧（７項目）のうち，罹患している病名を単語でテキスト化する．</a:t>
            </a:r>
            <a:endParaRPr kumimoji="1" lang="en-US" altLang="ja-JP" dirty="0"/>
          </a:p>
          <a:p>
            <a:r>
              <a:rPr kumimoji="1" lang="ja-JP" altLang="en-US" dirty="0"/>
              <a:t>全ての患者について文を作成し，単語の出現数や，特定の単語の組み合わせの出現率によって，共起関係が形成される．</a:t>
            </a:r>
            <a:endParaRPr kumimoji="1" lang="en-US" altLang="ja-JP" dirty="0"/>
          </a:p>
          <a:p>
            <a:r>
              <a:rPr lang="ja-JP" altLang="en-US" dirty="0"/>
              <a:t>罹患している患者が多い疾患ほど，ノードが大きく，エッジの距離が短く表現される．</a:t>
            </a:r>
            <a:endParaRPr kumimoji="1" lang="en-US" altLang="ja-JP" dirty="0"/>
          </a:p>
          <a:p>
            <a:endParaRPr kumimoji="1" lang="en-US" altLang="ja-JP" dirty="0"/>
          </a:p>
        </p:txBody>
      </p:sp>
    </p:spTree>
    <p:extLst>
      <p:ext uri="{BB962C8B-B14F-4D97-AF65-F5344CB8AC3E}">
        <p14:creationId xmlns:p14="http://schemas.microsoft.com/office/powerpoint/2010/main" val="3274323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AFE6EB-62F5-9B2E-2307-091CA6D624C7}"/>
              </a:ext>
            </a:extLst>
          </p:cNvPr>
          <p:cNvSpPr>
            <a:spLocks noGrp="1"/>
          </p:cNvSpPr>
          <p:nvPr>
            <p:ph type="title"/>
          </p:nvPr>
        </p:nvSpPr>
        <p:spPr/>
        <p:txBody>
          <a:bodyPr/>
          <a:lstStyle/>
          <a:p>
            <a:r>
              <a:rPr kumimoji="1" lang="ja-JP" altLang="en-US" dirty="0"/>
              <a:t>結果</a:t>
            </a:r>
          </a:p>
        </p:txBody>
      </p:sp>
      <p:sp>
        <p:nvSpPr>
          <p:cNvPr id="3" name="コンテンツ プレースホルダー 2">
            <a:extLst>
              <a:ext uri="{FF2B5EF4-FFF2-40B4-BE49-F238E27FC236}">
                <a16:creationId xmlns:a16="http://schemas.microsoft.com/office/drawing/2014/main" id="{2307E7C5-A005-FF91-C57C-6136497DEF90}"/>
              </a:ext>
            </a:extLst>
          </p:cNvPr>
          <p:cNvSpPr>
            <a:spLocks noGrp="1"/>
          </p:cNvSpPr>
          <p:nvPr>
            <p:ph idx="1"/>
          </p:nvPr>
        </p:nvSpPr>
        <p:spPr>
          <a:xfrm>
            <a:off x="838200" y="1825625"/>
            <a:ext cx="10285325" cy="4351338"/>
          </a:xfrm>
        </p:spPr>
        <p:txBody>
          <a:bodyPr>
            <a:normAutofit/>
          </a:bodyPr>
          <a:lstStyle/>
          <a:p>
            <a:r>
              <a:rPr kumimoji="1" lang="en-US" altLang="ja-JP" dirty="0"/>
              <a:t>FLAIR</a:t>
            </a:r>
            <a:r>
              <a:rPr kumimoji="1" lang="ja-JP" altLang="en-US" dirty="0"/>
              <a:t>画像のみ</a:t>
            </a:r>
            <a:endParaRPr kumimoji="1" lang="en-US" altLang="ja-JP" dirty="0"/>
          </a:p>
          <a:p>
            <a:r>
              <a:rPr lang="en-US" altLang="ja-JP" dirty="0"/>
              <a:t>axial</a:t>
            </a:r>
            <a:r>
              <a:rPr lang="ja-JP" altLang="en-US" dirty="0"/>
              <a:t> </a:t>
            </a:r>
            <a:r>
              <a:rPr lang="en-US" altLang="ja-JP" dirty="0"/>
              <a:t>:</a:t>
            </a:r>
            <a:r>
              <a:rPr lang="ja-JP" altLang="en-US" dirty="0"/>
              <a:t> </a:t>
            </a:r>
            <a:r>
              <a:rPr lang="en-US" altLang="ja-JP" dirty="0"/>
              <a:t>12-15</a:t>
            </a:r>
          </a:p>
          <a:p>
            <a:endParaRPr kumimoji="1" lang="en-US" altLang="ja-JP" dirty="0"/>
          </a:p>
        </p:txBody>
      </p:sp>
      <p:sp>
        <p:nvSpPr>
          <p:cNvPr id="6" name="テキスト ボックス 5">
            <a:extLst>
              <a:ext uri="{FF2B5EF4-FFF2-40B4-BE49-F238E27FC236}">
                <a16:creationId xmlns:a16="http://schemas.microsoft.com/office/drawing/2014/main" id="{243113C1-F861-DF84-8851-056F81F5424E}"/>
              </a:ext>
            </a:extLst>
          </p:cNvPr>
          <p:cNvSpPr txBox="1"/>
          <p:nvPr/>
        </p:nvSpPr>
        <p:spPr>
          <a:xfrm>
            <a:off x="5300703" y="6311900"/>
            <a:ext cx="5822823" cy="369332"/>
          </a:xfrm>
          <a:prstGeom prst="rect">
            <a:avLst/>
          </a:prstGeom>
          <a:noFill/>
        </p:spPr>
        <p:txBody>
          <a:bodyPr wrap="square">
            <a:spAutoFit/>
          </a:bodyPr>
          <a:lstStyle/>
          <a:p>
            <a:pPr algn="ctr"/>
            <a:r>
              <a:rPr kumimoji="1" lang="ja-JP" altLang="en-US" dirty="0"/>
              <a:t>図</a:t>
            </a:r>
            <a:r>
              <a:rPr kumimoji="1" lang="en-US" altLang="ja-JP" dirty="0"/>
              <a:t>5</a:t>
            </a:r>
            <a:r>
              <a:rPr kumimoji="1" lang="ja-JP" altLang="en-US" dirty="0"/>
              <a:t>　画像サイズの変更による性能変化</a:t>
            </a:r>
            <a:endParaRPr lang="ja-JP" altLang="en-US" dirty="0"/>
          </a:p>
        </p:txBody>
      </p:sp>
      <p:pic>
        <p:nvPicPr>
          <p:cNvPr id="5" name="図 4" descr="グラフ, 散布図&#10;&#10;自動的に生成された説明">
            <a:extLst>
              <a:ext uri="{FF2B5EF4-FFF2-40B4-BE49-F238E27FC236}">
                <a16:creationId xmlns:a16="http://schemas.microsoft.com/office/drawing/2014/main" id="{07AABEDF-F6CC-CFCC-BAF5-2CBD1FB5FA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0703" y="1825625"/>
            <a:ext cx="5822822" cy="4351338"/>
          </a:xfrm>
          <a:prstGeom prst="rect">
            <a:avLst/>
          </a:prstGeom>
        </p:spPr>
      </p:pic>
    </p:spTree>
    <p:extLst>
      <p:ext uri="{BB962C8B-B14F-4D97-AF65-F5344CB8AC3E}">
        <p14:creationId xmlns:p14="http://schemas.microsoft.com/office/powerpoint/2010/main" val="1844732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F0B9EEAA-848C-861B-7965-9A381CC10469}"/>
              </a:ext>
            </a:extLst>
          </p:cNvPr>
          <p:cNvSpPr>
            <a:spLocks noGrp="1"/>
          </p:cNvSpPr>
          <p:nvPr>
            <p:ph idx="1"/>
          </p:nvPr>
        </p:nvSpPr>
        <p:spPr>
          <a:xfrm>
            <a:off x="838200" y="1825625"/>
            <a:ext cx="10515600" cy="4351338"/>
          </a:xfrm>
        </p:spPr>
        <p:txBody>
          <a:bodyPr/>
          <a:lstStyle/>
          <a:p>
            <a:endParaRPr lang="ja-JP" altLang="en-US" dirty="0"/>
          </a:p>
        </p:txBody>
      </p:sp>
      <p:sp>
        <p:nvSpPr>
          <p:cNvPr id="2" name="タイトル 1">
            <a:extLst>
              <a:ext uri="{FF2B5EF4-FFF2-40B4-BE49-F238E27FC236}">
                <a16:creationId xmlns:a16="http://schemas.microsoft.com/office/drawing/2014/main" id="{4EF931D6-D3ED-087D-04CD-F68C132FC127}"/>
              </a:ext>
            </a:extLst>
          </p:cNvPr>
          <p:cNvSpPr>
            <a:spLocks noGrp="1"/>
          </p:cNvSpPr>
          <p:nvPr>
            <p:ph type="title"/>
          </p:nvPr>
        </p:nvSpPr>
        <p:spPr/>
        <p:txBody>
          <a:bodyPr/>
          <a:lstStyle/>
          <a:p>
            <a:r>
              <a:rPr kumimoji="1" lang="ja-JP" altLang="en-US" dirty="0"/>
              <a:t>結果</a:t>
            </a:r>
          </a:p>
        </p:txBody>
      </p:sp>
      <p:sp>
        <p:nvSpPr>
          <p:cNvPr id="6" name="テキスト ボックス 5">
            <a:extLst>
              <a:ext uri="{FF2B5EF4-FFF2-40B4-BE49-F238E27FC236}">
                <a16:creationId xmlns:a16="http://schemas.microsoft.com/office/drawing/2014/main" id="{EBFB6620-AF92-7BCA-BB84-3ED2AAC88527}"/>
              </a:ext>
            </a:extLst>
          </p:cNvPr>
          <p:cNvSpPr txBox="1"/>
          <p:nvPr/>
        </p:nvSpPr>
        <p:spPr>
          <a:xfrm>
            <a:off x="838200" y="6176963"/>
            <a:ext cx="5379720" cy="369332"/>
          </a:xfrm>
          <a:prstGeom prst="rect">
            <a:avLst/>
          </a:prstGeom>
          <a:noFill/>
        </p:spPr>
        <p:txBody>
          <a:bodyPr wrap="square">
            <a:spAutoFit/>
          </a:bodyPr>
          <a:lstStyle/>
          <a:p>
            <a:pPr algn="ctr"/>
            <a:r>
              <a:rPr lang="ja-JP" altLang="en-US" dirty="0"/>
              <a:t>図</a:t>
            </a:r>
            <a:r>
              <a:rPr lang="en-US" altLang="ja-JP" dirty="0"/>
              <a:t>6</a:t>
            </a:r>
            <a:r>
              <a:rPr lang="ja-JP" altLang="en-US" dirty="0"/>
              <a:t>　</a:t>
            </a:r>
            <a:r>
              <a:rPr lang="en-US" altLang="ja-JP" dirty="0"/>
              <a:t>axial</a:t>
            </a:r>
            <a:r>
              <a:rPr lang="ja-JP" altLang="en-US" dirty="0"/>
              <a:t>の変更</a:t>
            </a:r>
          </a:p>
        </p:txBody>
      </p:sp>
      <p:pic>
        <p:nvPicPr>
          <p:cNvPr id="8" name="図 7" descr="グラフ, 折れ線グラフ&#10;&#10;自動的に生成された説明">
            <a:extLst>
              <a:ext uri="{FF2B5EF4-FFF2-40B4-BE49-F238E27FC236}">
                <a16:creationId xmlns:a16="http://schemas.microsoft.com/office/drawing/2014/main" id="{282B9BC9-03D8-7A73-E911-5EE86D3B80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25625"/>
            <a:ext cx="5379720" cy="4344913"/>
          </a:xfrm>
          <a:prstGeom prst="rect">
            <a:avLst/>
          </a:prstGeom>
        </p:spPr>
      </p:pic>
      <p:pic>
        <p:nvPicPr>
          <p:cNvPr id="9" name="図 8" descr="グラフ&#10;&#10;自動的に生成された説明">
            <a:extLst>
              <a:ext uri="{FF2B5EF4-FFF2-40B4-BE49-F238E27FC236}">
                <a16:creationId xmlns:a16="http://schemas.microsoft.com/office/drawing/2014/main" id="{1CE44835-7220-864C-223E-1E08DA8A8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1603" y="2868817"/>
            <a:ext cx="3664673" cy="2112440"/>
          </a:xfrm>
          <a:prstGeom prst="rect">
            <a:avLst/>
          </a:prstGeom>
        </p:spPr>
      </p:pic>
      <p:sp>
        <p:nvSpPr>
          <p:cNvPr id="7" name="テキスト ボックス 6">
            <a:extLst>
              <a:ext uri="{FF2B5EF4-FFF2-40B4-BE49-F238E27FC236}">
                <a16:creationId xmlns:a16="http://schemas.microsoft.com/office/drawing/2014/main" id="{B5A7BF58-D3A3-EDA0-8DE5-99593AF7517C}"/>
              </a:ext>
            </a:extLst>
          </p:cNvPr>
          <p:cNvSpPr txBox="1"/>
          <p:nvPr/>
        </p:nvSpPr>
        <p:spPr>
          <a:xfrm>
            <a:off x="6831604" y="4981257"/>
            <a:ext cx="3664672" cy="369332"/>
          </a:xfrm>
          <a:prstGeom prst="rect">
            <a:avLst/>
          </a:prstGeom>
          <a:noFill/>
        </p:spPr>
        <p:txBody>
          <a:bodyPr wrap="square">
            <a:spAutoFit/>
          </a:bodyPr>
          <a:lstStyle/>
          <a:p>
            <a:pPr algn="ctr"/>
            <a:r>
              <a:rPr kumimoji="1" lang="ja-JP" altLang="en-US" dirty="0"/>
              <a:t>表</a:t>
            </a:r>
            <a:r>
              <a:rPr lang="en-US" altLang="ja-JP" dirty="0"/>
              <a:t>3</a:t>
            </a:r>
            <a:r>
              <a:rPr kumimoji="1" lang="ja-JP" altLang="en-US" dirty="0"/>
              <a:t>　</a:t>
            </a:r>
            <a:r>
              <a:rPr kumimoji="1" lang="en-US" altLang="ja-JP" dirty="0"/>
              <a:t>range</a:t>
            </a:r>
            <a:r>
              <a:rPr kumimoji="1" lang="ja-JP" altLang="en-US" dirty="0"/>
              <a:t>別の性能</a:t>
            </a:r>
          </a:p>
        </p:txBody>
      </p:sp>
    </p:spTree>
    <p:extLst>
      <p:ext uri="{BB962C8B-B14F-4D97-AF65-F5344CB8AC3E}">
        <p14:creationId xmlns:p14="http://schemas.microsoft.com/office/powerpoint/2010/main" val="4180929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04346-1832-B152-DBFC-9ABA6C00DD39}"/>
              </a:ext>
            </a:extLst>
          </p:cNvPr>
          <p:cNvSpPr>
            <a:spLocks noGrp="1"/>
          </p:cNvSpPr>
          <p:nvPr>
            <p:ph type="title"/>
          </p:nvPr>
        </p:nvSpPr>
        <p:spPr/>
        <p:txBody>
          <a:bodyPr/>
          <a:lstStyle/>
          <a:p>
            <a:r>
              <a:rPr kumimoji="1" lang="ja-JP" altLang="en-US" dirty="0"/>
              <a:t>本研究におけるアキシャル</a:t>
            </a:r>
            <a:r>
              <a:rPr lang="en-US" altLang="ja-JP" dirty="0"/>
              <a:t>(</a:t>
            </a:r>
            <a:r>
              <a:rPr kumimoji="1" lang="en-US" altLang="ja-JP" dirty="0"/>
              <a:t>axial)</a:t>
            </a:r>
            <a:r>
              <a:rPr kumimoji="1" lang="ja-JP" altLang="en-US" dirty="0"/>
              <a:t>の定義</a:t>
            </a:r>
          </a:p>
        </p:txBody>
      </p:sp>
      <p:sp>
        <p:nvSpPr>
          <p:cNvPr id="3" name="コンテンツ プレースホルダー 2">
            <a:extLst>
              <a:ext uri="{FF2B5EF4-FFF2-40B4-BE49-F238E27FC236}">
                <a16:creationId xmlns:a16="http://schemas.microsoft.com/office/drawing/2014/main" id="{1F35EE19-F341-78F0-6301-2991195915F1}"/>
              </a:ext>
            </a:extLst>
          </p:cNvPr>
          <p:cNvSpPr>
            <a:spLocks noGrp="1"/>
          </p:cNvSpPr>
          <p:nvPr>
            <p:ph idx="1"/>
          </p:nvPr>
        </p:nvSpPr>
        <p:spPr>
          <a:xfrm>
            <a:off x="838200" y="1825625"/>
            <a:ext cx="11061631" cy="1325563"/>
          </a:xfrm>
        </p:spPr>
        <p:txBody>
          <a:bodyPr>
            <a:normAutofit fontScale="77500" lnSpcReduction="20000"/>
          </a:bodyPr>
          <a:lstStyle/>
          <a:p>
            <a:r>
              <a:rPr kumimoji="1" lang="en-US" altLang="ja-JP" dirty="0"/>
              <a:t>CT</a:t>
            </a:r>
            <a:r>
              <a:rPr kumimoji="1" lang="ja-JP" altLang="en-US" dirty="0"/>
              <a:t>や</a:t>
            </a:r>
            <a:r>
              <a:rPr kumimoji="1" lang="en-US" altLang="ja-JP" dirty="0"/>
              <a:t>MRI</a:t>
            </a:r>
            <a:r>
              <a:rPr kumimoji="1" lang="ja-JP" altLang="en-US" dirty="0"/>
              <a:t>などにおいて，横断面で撮影した複数枚のスライス画像をアキシャルという．</a:t>
            </a:r>
            <a:endParaRPr kumimoji="1" lang="en-US" altLang="ja-JP" dirty="0"/>
          </a:p>
          <a:p>
            <a:r>
              <a:rPr kumimoji="1" lang="ja-JP" altLang="en-US" dirty="0"/>
              <a:t>一人の患者につき</a:t>
            </a:r>
            <a:r>
              <a:rPr kumimoji="1" lang="en-US" altLang="ja-JP" dirty="0"/>
              <a:t>25</a:t>
            </a:r>
            <a:r>
              <a:rPr kumimoji="1" lang="ja-JP" altLang="en-US" dirty="0"/>
              <a:t>枚程度の横断画像になっている．</a:t>
            </a:r>
            <a:endParaRPr kumimoji="1" lang="en-US" altLang="ja-JP" dirty="0"/>
          </a:p>
          <a:p>
            <a:r>
              <a:rPr kumimoji="1" lang="ja-JP" altLang="en-US" dirty="0"/>
              <a:t>本研究では，その</a:t>
            </a:r>
            <a:r>
              <a:rPr kumimoji="1" lang="en-US" altLang="ja-JP" dirty="0"/>
              <a:t>1</a:t>
            </a:r>
            <a:r>
              <a:rPr kumimoji="1" lang="ja-JP" altLang="en-US" dirty="0"/>
              <a:t>枚を</a:t>
            </a:r>
            <a:r>
              <a:rPr kumimoji="1" lang="en-US" altLang="ja-JP" dirty="0"/>
              <a:t>1</a:t>
            </a:r>
            <a:r>
              <a:rPr kumimoji="1" lang="ja-JP" altLang="en-US" dirty="0"/>
              <a:t>アキシャルとして，実験を行った．</a:t>
            </a:r>
          </a:p>
        </p:txBody>
      </p:sp>
      <p:sp>
        <p:nvSpPr>
          <p:cNvPr id="36" name="テキスト ボックス 35">
            <a:extLst>
              <a:ext uri="{FF2B5EF4-FFF2-40B4-BE49-F238E27FC236}">
                <a16:creationId xmlns:a16="http://schemas.microsoft.com/office/drawing/2014/main" id="{56196DBC-C695-CC93-7550-B2DC86727342}"/>
              </a:ext>
            </a:extLst>
          </p:cNvPr>
          <p:cNvSpPr txBox="1"/>
          <p:nvPr/>
        </p:nvSpPr>
        <p:spPr>
          <a:xfrm>
            <a:off x="838200" y="6227512"/>
            <a:ext cx="10515600" cy="369332"/>
          </a:xfrm>
          <a:prstGeom prst="rect">
            <a:avLst/>
          </a:prstGeom>
          <a:noFill/>
        </p:spPr>
        <p:txBody>
          <a:bodyPr wrap="square">
            <a:spAutoFit/>
          </a:bodyPr>
          <a:lstStyle/>
          <a:p>
            <a:pPr algn="ctr"/>
            <a:r>
              <a:rPr lang="ja-JP" altLang="en-US" dirty="0"/>
              <a:t>図</a:t>
            </a:r>
            <a:r>
              <a:rPr lang="en-US" altLang="ja-JP" dirty="0"/>
              <a:t>4</a:t>
            </a:r>
            <a:r>
              <a:rPr lang="ja-JP" altLang="en-US" dirty="0"/>
              <a:t>　撮影方法の違いによる判別性能の変化</a:t>
            </a:r>
          </a:p>
        </p:txBody>
      </p:sp>
      <p:grpSp>
        <p:nvGrpSpPr>
          <p:cNvPr id="58" name="グループ化 57">
            <a:extLst>
              <a:ext uri="{FF2B5EF4-FFF2-40B4-BE49-F238E27FC236}">
                <a16:creationId xmlns:a16="http://schemas.microsoft.com/office/drawing/2014/main" id="{79F3C87A-C066-F38E-C244-AD709B4FA639}"/>
              </a:ext>
            </a:extLst>
          </p:cNvPr>
          <p:cNvGrpSpPr/>
          <p:nvPr/>
        </p:nvGrpSpPr>
        <p:grpSpPr>
          <a:xfrm>
            <a:off x="238790" y="3271506"/>
            <a:ext cx="11714420" cy="2703137"/>
            <a:chOff x="238790" y="3271506"/>
            <a:chExt cx="11714420" cy="2703137"/>
          </a:xfrm>
        </p:grpSpPr>
        <p:pic>
          <p:nvPicPr>
            <p:cNvPr id="4" name="コンテンツ プレースホルダー 10" descr="建物, 探す, 暗い, 部屋 が含まれている画像&#10;&#10;自動的に生成された説明">
              <a:extLst>
                <a:ext uri="{FF2B5EF4-FFF2-40B4-BE49-F238E27FC236}">
                  <a16:creationId xmlns:a16="http://schemas.microsoft.com/office/drawing/2014/main" id="{F7648DD5-42BD-FE37-AF7E-B1D7694EC2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034" y="3643822"/>
              <a:ext cx="922359" cy="983850"/>
            </a:xfrm>
            <a:prstGeom prst="rect">
              <a:avLst/>
            </a:prstGeom>
          </p:spPr>
        </p:pic>
        <p:pic>
          <p:nvPicPr>
            <p:cNvPr id="5" name="図 4" descr="爬虫類, カメ, 暗い, 写真 が含まれている画像&#10;&#10;自動的に生成された説明">
              <a:extLst>
                <a:ext uri="{FF2B5EF4-FFF2-40B4-BE49-F238E27FC236}">
                  <a16:creationId xmlns:a16="http://schemas.microsoft.com/office/drawing/2014/main" id="{C0501FF6-707B-F75B-36BA-AE4A1F37F3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9393" y="3643822"/>
              <a:ext cx="922359" cy="983850"/>
            </a:xfrm>
            <a:prstGeom prst="rect">
              <a:avLst/>
            </a:prstGeom>
          </p:spPr>
        </p:pic>
        <p:pic>
          <p:nvPicPr>
            <p:cNvPr id="6" name="図 5" descr="座る, 写真, テーブル, 暗い が含まれている画像&#10;&#10;自動的に生成された説明">
              <a:extLst>
                <a:ext uri="{FF2B5EF4-FFF2-40B4-BE49-F238E27FC236}">
                  <a16:creationId xmlns:a16="http://schemas.microsoft.com/office/drawing/2014/main" id="{FA27BB36-9272-C9F3-6C6E-EA6C11D4F7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16351" y="3643822"/>
              <a:ext cx="922359" cy="983850"/>
            </a:xfrm>
            <a:prstGeom prst="rect">
              <a:avLst/>
            </a:prstGeom>
          </p:spPr>
        </p:pic>
        <p:pic>
          <p:nvPicPr>
            <p:cNvPr id="7" name="図 6" descr="白い背景に刷っている男性の白黒写真&#10;&#10;低い精度で自動的に生成された説明">
              <a:extLst>
                <a:ext uri="{FF2B5EF4-FFF2-40B4-BE49-F238E27FC236}">
                  <a16:creationId xmlns:a16="http://schemas.microsoft.com/office/drawing/2014/main" id="{3DB01690-3FD0-1826-D35F-CE95F610EE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13309" y="3643822"/>
              <a:ext cx="922359" cy="983850"/>
            </a:xfrm>
            <a:prstGeom prst="rect">
              <a:avLst/>
            </a:prstGeom>
          </p:spPr>
        </p:pic>
        <p:pic>
          <p:nvPicPr>
            <p:cNvPr id="8" name="図 7" descr="写真, 座る, 持つ, ケーキ が含まれている画像&#10;&#10;自動的に生成された説明">
              <a:extLst>
                <a:ext uri="{FF2B5EF4-FFF2-40B4-BE49-F238E27FC236}">
                  <a16:creationId xmlns:a16="http://schemas.microsoft.com/office/drawing/2014/main" id="{C35731B8-EE10-89D7-09F1-E47E95A588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30076" y="3643822"/>
              <a:ext cx="922359" cy="983850"/>
            </a:xfrm>
            <a:prstGeom prst="rect">
              <a:avLst/>
            </a:prstGeom>
          </p:spPr>
        </p:pic>
        <p:pic>
          <p:nvPicPr>
            <p:cNvPr id="9" name="図 8" descr="ゴーグルをつけた男性の白黒写真&#10;&#10;中程度の精度で自動的に生成された説明">
              <a:extLst>
                <a:ext uri="{FF2B5EF4-FFF2-40B4-BE49-F238E27FC236}">
                  <a16:creationId xmlns:a16="http://schemas.microsoft.com/office/drawing/2014/main" id="{D7E1093F-E696-FCC9-ECAC-D0E196EA24C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52436" y="3643822"/>
              <a:ext cx="922359" cy="983850"/>
            </a:xfrm>
            <a:prstGeom prst="rect">
              <a:avLst/>
            </a:prstGeom>
          </p:spPr>
        </p:pic>
        <p:pic>
          <p:nvPicPr>
            <p:cNvPr id="10" name="図 9" descr="屋内, 座る, 写真, 建物 が含まれている画像&#10;&#10;自動的に生成された説明">
              <a:extLst>
                <a:ext uri="{FF2B5EF4-FFF2-40B4-BE49-F238E27FC236}">
                  <a16:creationId xmlns:a16="http://schemas.microsoft.com/office/drawing/2014/main" id="{B634F34A-C159-A189-492C-B07BA6313D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74796" y="3643822"/>
              <a:ext cx="922359" cy="983850"/>
            </a:xfrm>
            <a:prstGeom prst="rect">
              <a:avLst/>
            </a:prstGeom>
          </p:spPr>
        </p:pic>
        <p:pic>
          <p:nvPicPr>
            <p:cNvPr id="11" name="図 10" descr="写真, 座る, 建物, 記号 が含まれている画像&#10;&#10;自動的に生成された説明">
              <a:extLst>
                <a:ext uri="{FF2B5EF4-FFF2-40B4-BE49-F238E27FC236}">
                  <a16:creationId xmlns:a16="http://schemas.microsoft.com/office/drawing/2014/main" id="{B6299A7B-EFD9-8B83-B43F-00B5FD5423A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97155" y="3643822"/>
              <a:ext cx="922359" cy="983850"/>
            </a:xfrm>
            <a:prstGeom prst="rect">
              <a:avLst/>
            </a:prstGeom>
          </p:spPr>
        </p:pic>
        <p:pic>
          <p:nvPicPr>
            <p:cNvPr id="12" name="図 11" descr="写真, 記号, 座る, 男 が含まれている画像&#10;&#10;自動的に生成された説明">
              <a:extLst>
                <a:ext uri="{FF2B5EF4-FFF2-40B4-BE49-F238E27FC236}">
                  <a16:creationId xmlns:a16="http://schemas.microsoft.com/office/drawing/2014/main" id="{41309D81-2087-1869-5A6F-C549AF41B5C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19514" y="3643822"/>
              <a:ext cx="922359" cy="983850"/>
            </a:xfrm>
            <a:prstGeom prst="rect">
              <a:avLst/>
            </a:prstGeom>
          </p:spPr>
        </p:pic>
        <p:pic>
          <p:nvPicPr>
            <p:cNvPr id="13" name="図 12" descr="写真, 男, 記号, 座る が含まれている画像&#10;&#10;自動的に生成された説明">
              <a:extLst>
                <a:ext uri="{FF2B5EF4-FFF2-40B4-BE49-F238E27FC236}">
                  <a16:creationId xmlns:a16="http://schemas.microsoft.com/office/drawing/2014/main" id="{A8D4C4E6-A8B0-612E-2538-C9CA784801B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41873" y="3643822"/>
              <a:ext cx="922359" cy="983850"/>
            </a:xfrm>
            <a:prstGeom prst="rect">
              <a:avLst/>
            </a:prstGeom>
          </p:spPr>
        </p:pic>
        <p:pic>
          <p:nvPicPr>
            <p:cNvPr id="14" name="図 13" descr="写真, 男, 座る, 記号 が含まれている画像&#10;&#10;自動的に生成された説明">
              <a:extLst>
                <a:ext uri="{FF2B5EF4-FFF2-40B4-BE49-F238E27FC236}">
                  <a16:creationId xmlns:a16="http://schemas.microsoft.com/office/drawing/2014/main" id="{D1C24930-835E-9C62-73F7-A6567AE8C66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064232" y="3643822"/>
              <a:ext cx="922359" cy="983850"/>
            </a:xfrm>
            <a:prstGeom prst="rect">
              <a:avLst/>
            </a:prstGeom>
          </p:spPr>
        </p:pic>
        <p:pic>
          <p:nvPicPr>
            <p:cNvPr id="15" name="図 14" descr="男, 写真, 持つ, フロント が含まれている画像&#10;&#10;自動的に生成された説明">
              <a:extLst>
                <a:ext uri="{FF2B5EF4-FFF2-40B4-BE49-F238E27FC236}">
                  <a16:creationId xmlns:a16="http://schemas.microsoft.com/office/drawing/2014/main" id="{3183E9DB-2D85-EE30-C394-E711E87EDA9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19393" y="4990793"/>
              <a:ext cx="922359" cy="983850"/>
            </a:xfrm>
            <a:prstGeom prst="rect">
              <a:avLst/>
            </a:prstGeom>
          </p:spPr>
        </p:pic>
        <p:pic>
          <p:nvPicPr>
            <p:cNvPr id="16" name="図 15" descr="時計が付いている｜｜｜ｐ&#10;&#10;低い精度で自動的に生成された説明">
              <a:extLst>
                <a:ext uri="{FF2B5EF4-FFF2-40B4-BE49-F238E27FC236}">
                  <a16:creationId xmlns:a16="http://schemas.microsoft.com/office/drawing/2014/main" id="{721C1ED2-BFDC-D26C-0AE0-198228579CB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41753" y="4990793"/>
              <a:ext cx="922359" cy="983850"/>
            </a:xfrm>
            <a:prstGeom prst="rect">
              <a:avLst/>
            </a:prstGeom>
          </p:spPr>
        </p:pic>
        <p:pic>
          <p:nvPicPr>
            <p:cNvPr id="17" name="図 16" descr="時計が付いている｜｜｜ｐ&#10;&#10;低い精度で自動的に生成された説明">
              <a:extLst>
                <a:ext uri="{FF2B5EF4-FFF2-40B4-BE49-F238E27FC236}">
                  <a16:creationId xmlns:a16="http://schemas.microsoft.com/office/drawing/2014/main" id="{37794A59-18C9-C341-A426-7CEC24C5457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4112" y="4990793"/>
              <a:ext cx="922359" cy="983850"/>
            </a:xfrm>
            <a:prstGeom prst="rect">
              <a:avLst/>
            </a:prstGeom>
          </p:spPr>
        </p:pic>
        <p:pic>
          <p:nvPicPr>
            <p:cNvPr id="18" name="図 17" descr="時計が付いている｜｜｜ｐ&#10;&#10;低い精度で自動的に生成された説明">
              <a:extLst>
                <a:ext uri="{FF2B5EF4-FFF2-40B4-BE49-F238E27FC236}">
                  <a16:creationId xmlns:a16="http://schemas.microsoft.com/office/drawing/2014/main" id="{5D5ADAE5-584D-1B88-C2B4-D28BDDB01DD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586471" y="4990793"/>
              <a:ext cx="922359" cy="983850"/>
            </a:xfrm>
            <a:prstGeom prst="rect">
              <a:avLst/>
            </a:prstGeom>
          </p:spPr>
        </p:pic>
        <p:pic>
          <p:nvPicPr>
            <p:cNvPr id="19" name="図 18" descr="男, 写真, 座る, 立つ が含まれている画像&#10;&#10;自動的に生成された説明">
              <a:extLst>
                <a:ext uri="{FF2B5EF4-FFF2-40B4-BE49-F238E27FC236}">
                  <a16:creationId xmlns:a16="http://schemas.microsoft.com/office/drawing/2014/main" id="{B6AF84E3-EC96-EC41-FEFE-5D87FA444BE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508830" y="4990793"/>
              <a:ext cx="922359" cy="983850"/>
            </a:xfrm>
            <a:prstGeom prst="rect">
              <a:avLst/>
            </a:prstGeom>
          </p:spPr>
        </p:pic>
        <p:pic>
          <p:nvPicPr>
            <p:cNvPr id="20" name="図 19" descr="時計, 男, 座る, 持つ が含まれている画像&#10;&#10;自動的に生成された説明">
              <a:extLst>
                <a:ext uri="{FF2B5EF4-FFF2-40B4-BE49-F238E27FC236}">
                  <a16:creationId xmlns:a16="http://schemas.microsoft.com/office/drawing/2014/main" id="{5AC6150F-E7BA-48D0-BB35-CEF419FAC141}"/>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431185" y="4990793"/>
              <a:ext cx="922359" cy="983850"/>
            </a:xfrm>
            <a:prstGeom prst="rect">
              <a:avLst/>
            </a:prstGeom>
          </p:spPr>
        </p:pic>
        <p:pic>
          <p:nvPicPr>
            <p:cNvPr id="21" name="図 20" descr="Cgで描かれたコイン&#10;&#10;中程度の精度で自動的に生成された説明">
              <a:extLst>
                <a:ext uri="{FF2B5EF4-FFF2-40B4-BE49-F238E27FC236}">
                  <a16:creationId xmlns:a16="http://schemas.microsoft.com/office/drawing/2014/main" id="{8DB9DA23-DE50-50C8-13D5-02ABF35C5253}"/>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7341415" y="4990793"/>
              <a:ext cx="922359" cy="983850"/>
            </a:xfrm>
            <a:prstGeom prst="rect">
              <a:avLst/>
            </a:prstGeom>
          </p:spPr>
        </p:pic>
        <p:pic>
          <p:nvPicPr>
            <p:cNvPr id="22" name="図 21" descr="Cgで描かれたコイン&#10;&#10;低い精度で自動的に生成された説明">
              <a:extLst>
                <a:ext uri="{FF2B5EF4-FFF2-40B4-BE49-F238E27FC236}">
                  <a16:creationId xmlns:a16="http://schemas.microsoft.com/office/drawing/2014/main" id="{CE222D4C-570F-6CBB-1BDC-9E9FD2A04A7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263774" y="4990793"/>
              <a:ext cx="922359" cy="983850"/>
            </a:xfrm>
            <a:prstGeom prst="rect">
              <a:avLst/>
            </a:prstGeom>
          </p:spPr>
        </p:pic>
        <p:pic>
          <p:nvPicPr>
            <p:cNvPr id="23" name="図 22" descr="Cgで描かれたコイン&#10;&#10;低い精度で自動的に生成された説明">
              <a:extLst>
                <a:ext uri="{FF2B5EF4-FFF2-40B4-BE49-F238E27FC236}">
                  <a16:creationId xmlns:a16="http://schemas.microsoft.com/office/drawing/2014/main" id="{80953A49-718C-FA44-8594-5119BCFB2A85}"/>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9186133" y="4990793"/>
              <a:ext cx="922359" cy="983850"/>
            </a:xfrm>
            <a:prstGeom prst="rect">
              <a:avLst/>
            </a:prstGeom>
          </p:spPr>
        </p:pic>
        <p:pic>
          <p:nvPicPr>
            <p:cNvPr id="24" name="図 23" descr="Cgで描かれたコイン&#10;&#10;低い精度で自動的に生成された説明">
              <a:extLst>
                <a:ext uri="{FF2B5EF4-FFF2-40B4-BE49-F238E27FC236}">
                  <a16:creationId xmlns:a16="http://schemas.microsoft.com/office/drawing/2014/main" id="{7322E5AD-EAFD-F386-E1C6-5C085B129E0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108492" y="4990793"/>
              <a:ext cx="922359" cy="983850"/>
            </a:xfrm>
            <a:prstGeom prst="rect">
              <a:avLst/>
            </a:prstGeom>
          </p:spPr>
        </p:pic>
        <p:pic>
          <p:nvPicPr>
            <p:cNvPr id="25" name="図 24" descr="黒い背景とぼやけた写真&#10;&#10;低い精度で自動的に生成された説明">
              <a:extLst>
                <a:ext uri="{FF2B5EF4-FFF2-40B4-BE49-F238E27FC236}">
                  <a16:creationId xmlns:a16="http://schemas.microsoft.com/office/drawing/2014/main" id="{03C2EF4B-EC28-C31E-EA64-73BB5CF90C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1030851" y="4990793"/>
              <a:ext cx="922359" cy="983850"/>
            </a:xfrm>
            <a:prstGeom prst="rect">
              <a:avLst/>
            </a:prstGeom>
          </p:spPr>
        </p:pic>
        <p:sp>
          <p:nvSpPr>
            <p:cNvPr id="26" name="テキスト ボックス 25">
              <a:extLst>
                <a:ext uri="{FF2B5EF4-FFF2-40B4-BE49-F238E27FC236}">
                  <a16:creationId xmlns:a16="http://schemas.microsoft.com/office/drawing/2014/main" id="{368A8A12-C696-D02C-6B73-5C66B6D97367}"/>
                </a:ext>
              </a:extLst>
            </p:cNvPr>
            <p:cNvSpPr txBox="1"/>
            <p:nvPr/>
          </p:nvSpPr>
          <p:spPr>
            <a:xfrm>
              <a:off x="6669681"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17</a:t>
              </a:r>
              <a:endParaRPr lang="ja-JP" altLang="en-US" dirty="0">
                <a:latin typeface="Times New Roman" panose="02020603050405020304" pitchFamily="18" charset="0"/>
                <a:cs typeface="Times New Roman" panose="02020603050405020304" pitchFamily="18" charset="0"/>
              </a:endParaRPr>
            </a:p>
          </p:txBody>
        </p:sp>
        <p:sp>
          <p:nvSpPr>
            <p:cNvPr id="27" name="テキスト ボックス 26">
              <a:extLst>
                <a:ext uri="{FF2B5EF4-FFF2-40B4-BE49-F238E27FC236}">
                  <a16:creationId xmlns:a16="http://schemas.microsoft.com/office/drawing/2014/main" id="{7B29277C-8032-5CF2-05C6-7784FDC90A40}"/>
                </a:ext>
              </a:extLst>
            </p:cNvPr>
            <p:cNvSpPr txBox="1"/>
            <p:nvPr/>
          </p:nvSpPr>
          <p:spPr>
            <a:xfrm>
              <a:off x="1094964" y="3272358"/>
              <a:ext cx="526954"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a:t>
              </a:r>
              <a:endParaRPr lang="ja-JP" altLang="en-US" dirty="0">
                <a:latin typeface="Times New Roman" panose="02020603050405020304" pitchFamily="18" charset="0"/>
                <a:cs typeface="Times New Roman" panose="02020603050405020304" pitchFamily="18" charset="0"/>
              </a:endParaRPr>
            </a:p>
          </p:txBody>
        </p:sp>
        <p:sp>
          <p:nvSpPr>
            <p:cNvPr id="28" name="テキスト ボックス 27">
              <a:extLst>
                <a:ext uri="{FF2B5EF4-FFF2-40B4-BE49-F238E27FC236}">
                  <a16:creationId xmlns:a16="http://schemas.microsoft.com/office/drawing/2014/main" id="{4B207BDF-137F-4E09-6087-1AA677E82BE7}"/>
                </a:ext>
              </a:extLst>
            </p:cNvPr>
            <p:cNvSpPr txBox="1"/>
            <p:nvPr/>
          </p:nvSpPr>
          <p:spPr>
            <a:xfrm>
              <a:off x="2077994" y="3271506"/>
              <a:ext cx="405156"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a:t>
              </a:r>
              <a:endParaRPr lang="ja-JP" altLang="en-US" dirty="0">
                <a:latin typeface="Times New Roman" panose="02020603050405020304" pitchFamily="18" charset="0"/>
                <a:cs typeface="Times New Roman" panose="02020603050405020304" pitchFamily="18" charset="0"/>
              </a:endParaRPr>
            </a:p>
          </p:txBody>
        </p:sp>
        <p:sp>
          <p:nvSpPr>
            <p:cNvPr id="29" name="テキスト ボックス 28">
              <a:extLst>
                <a:ext uri="{FF2B5EF4-FFF2-40B4-BE49-F238E27FC236}">
                  <a16:creationId xmlns:a16="http://schemas.microsoft.com/office/drawing/2014/main" id="{7C7AB088-77BE-E215-186F-EB8599BD6759}"/>
                </a:ext>
              </a:extLst>
            </p:cNvPr>
            <p:cNvSpPr txBox="1"/>
            <p:nvPr/>
          </p:nvSpPr>
          <p:spPr>
            <a:xfrm>
              <a:off x="3000349" y="3271506"/>
              <a:ext cx="354358"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3</a:t>
              </a:r>
              <a:endParaRPr lang="ja-JP" altLang="en-US" dirty="0">
                <a:latin typeface="Times New Roman" panose="02020603050405020304" pitchFamily="18" charset="0"/>
                <a:cs typeface="Times New Roman" panose="02020603050405020304" pitchFamily="18" charset="0"/>
              </a:endParaRPr>
            </a:p>
          </p:txBody>
        </p:sp>
        <p:sp>
          <p:nvSpPr>
            <p:cNvPr id="30" name="テキスト ボックス 29">
              <a:extLst>
                <a:ext uri="{FF2B5EF4-FFF2-40B4-BE49-F238E27FC236}">
                  <a16:creationId xmlns:a16="http://schemas.microsoft.com/office/drawing/2014/main" id="{EF65A62C-036D-90F9-F540-BF3039E4F2CB}"/>
                </a:ext>
              </a:extLst>
            </p:cNvPr>
            <p:cNvSpPr txBox="1"/>
            <p:nvPr/>
          </p:nvSpPr>
          <p:spPr>
            <a:xfrm>
              <a:off x="3851041"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4</a:t>
              </a:r>
              <a:endParaRPr lang="ja-JP" altLang="en-US" dirty="0">
                <a:latin typeface="Times New Roman" panose="02020603050405020304" pitchFamily="18" charset="0"/>
                <a:cs typeface="Times New Roman" panose="02020603050405020304" pitchFamily="18" charset="0"/>
              </a:endParaRPr>
            </a:p>
          </p:txBody>
        </p:sp>
        <p:sp>
          <p:nvSpPr>
            <p:cNvPr id="31" name="テキスト ボックス 30">
              <a:extLst>
                <a:ext uri="{FF2B5EF4-FFF2-40B4-BE49-F238E27FC236}">
                  <a16:creationId xmlns:a16="http://schemas.microsoft.com/office/drawing/2014/main" id="{7E65307D-0B98-5674-0AD1-20CC41605BB9}"/>
                </a:ext>
              </a:extLst>
            </p:cNvPr>
            <p:cNvSpPr txBox="1"/>
            <p:nvPr/>
          </p:nvSpPr>
          <p:spPr>
            <a:xfrm>
              <a:off x="7592040"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18</a:t>
              </a:r>
              <a:endParaRPr lang="ja-JP" altLang="en-US" dirty="0">
                <a:latin typeface="Times New Roman" panose="02020603050405020304" pitchFamily="18" charset="0"/>
                <a:cs typeface="Times New Roman" panose="02020603050405020304" pitchFamily="18" charset="0"/>
              </a:endParaRPr>
            </a:p>
          </p:txBody>
        </p:sp>
        <p:sp>
          <p:nvSpPr>
            <p:cNvPr id="32" name="テキスト ボックス 31">
              <a:extLst>
                <a:ext uri="{FF2B5EF4-FFF2-40B4-BE49-F238E27FC236}">
                  <a16:creationId xmlns:a16="http://schemas.microsoft.com/office/drawing/2014/main" id="{891C13EC-5734-3B22-F846-7D676B3297D4}"/>
                </a:ext>
              </a:extLst>
            </p:cNvPr>
            <p:cNvSpPr txBox="1"/>
            <p:nvPr/>
          </p:nvSpPr>
          <p:spPr>
            <a:xfrm>
              <a:off x="8507388"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19</a:t>
              </a:r>
              <a:endParaRPr lang="ja-JP" altLang="en-US" dirty="0">
                <a:latin typeface="Times New Roman" panose="02020603050405020304" pitchFamily="18" charset="0"/>
                <a:cs typeface="Times New Roman" panose="02020603050405020304" pitchFamily="18" charset="0"/>
              </a:endParaRPr>
            </a:p>
          </p:txBody>
        </p:sp>
        <p:sp>
          <p:nvSpPr>
            <p:cNvPr id="33" name="テキスト ボックス 32">
              <a:extLst>
                <a:ext uri="{FF2B5EF4-FFF2-40B4-BE49-F238E27FC236}">
                  <a16:creationId xmlns:a16="http://schemas.microsoft.com/office/drawing/2014/main" id="{218808C0-399D-297B-80F1-31CEB5614AE8}"/>
                </a:ext>
              </a:extLst>
            </p:cNvPr>
            <p:cNvSpPr txBox="1"/>
            <p:nvPr/>
          </p:nvSpPr>
          <p:spPr>
            <a:xfrm>
              <a:off x="9429746"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20</a:t>
              </a:r>
              <a:endParaRPr lang="ja-JP" altLang="en-US" dirty="0">
                <a:latin typeface="Times New Roman" panose="02020603050405020304" pitchFamily="18" charset="0"/>
                <a:cs typeface="Times New Roman" panose="02020603050405020304" pitchFamily="18" charset="0"/>
              </a:endParaRPr>
            </a:p>
          </p:txBody>
        </p:sp>
        <p:sp>
          <p:nvSpPr>
            <p:cNvPr id="34" name="テキスト ボックス 33">
              <a:extLst>
                <a:ext uri="{FF2B5EF4-FFF2-40B4-BE49-F238E27FC236}">
                  <a16:creationId xmlns:a16="http://schemas.microsoft.com/office/drawing/2014/main" id="{53A8AE5E-ACED-63EB-D4F8-D835FE18344E}"/>
                </a:ext>
              </a:extLst>
            </p:cNvPr>
            <p:cNvSpPr txBox="1"/>
            <p:nvPr/>
          </p:nvSpPr>
          <p:spPr>
            <a:xfrm>
              <a:off x="1030135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21</a:t>
              </a:r>
              <a:endParaRPr lang="ja-JP" altLang="en-US" dirty="0">
                <a:latin typeface="Times New Roman" panose="02020603050405020304" pitchFamily="18" charset="0"/>
                <a:cs typeface="Times New Roman" panose="02020603050405020304" pitchFamily="18" charset="0"/>
              </a:endParaRPr>
            </a:p>
          </p:txBody>
        </p:sp>
        <p:sp>
          <p:nvSpPr>
            <p:cNvPr id="35" name="テキスト ボックス 34">
              <a:extLst>
                <a:ext uri="{FF2B5EF4-FFF2-40B4-BE49-F238E27FC236}">
                  <a16:creationId xmlns:a16="http://schemas.microsoft.com/office/drawing/2014/main" id="{C35ED787-6255-3824-B809-4CF624CB656A}"/>
                </a:ext>
              </a:extLst>
            </p:cNvPr>
            <p:cNvSpPr txBox="1"/>
            <p:nvPr/>
          </p:nvSpPr>
          <p:spPr>
            <a:xfrm>
              <a:off x="11274467"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22</a:t>
              </a:r>
              <a:endParaRPr lang="ja-JP" altLang="en-US" dirty="0">
                <a:latin typeface="Times New Roman" panose="02020603050405020304" pitchFamily="18" charset="0"/>
                <a:cs typeface="Times New Roman" panose="02020603050405020304" pitchFamily="18" charset="0"/>
              </a:endParaRPr>
            </a:p>
          </p:txBody>
        </p:sp>
        <p:sp>
          <p:nvSpPr>
            <p:cNvPr id="37" name="テキスト ボックス 36">
              <a:extLst>
                <a:ext uri="{FF2B5EF4-FFF2-40B4-BE49-F238E27FC236}">
                  <a16:creationId xmlns:a16="http://schemas.microsoft.com/office/drawing/2014/main" id="{57DDE96B-5063-1D26-2E80-C5A37B83E504}"/>
                </a:ext>
              </a:extLst>
            </p:cNvPr>
            <p:cNvSpPr txBox="1"/>
            <p:nvPr/>
          </p:nvSpPr>
          <p:spPr>
            <a:xfrm>
              <a:off x="238790" y="3271506"/>
              <a:ext cx="65712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axial</a:t>
              </a:r>
              <a:endParaRPr lang="ja-JP" altLang="en-US" dirty="0">
                <a:latin typeface="Times New Roman" panose="02020603050405020304" pitchFamily="18" charset="0"/>
                <a:cs typeface="Times New Roman" panose="02020603050405020304" pitchFamily="18" charset="0"/>
              </a:endParaRPr>
            </a:p>
          </p:txBody>
        </p:sp>
        <p:sp>
          <p:nvSpPr>
            <p:cNvPr id="40" name="正方形/長方形 39">
              <a:extLst>
                <a:ext uri="{FF2B5EF4-FFF2-40B4-BE49-F238E27FC236}">
                  <a16:creationId xmlns:a16="http://schemas.microsoft.com/office/drawing/2014/main" id="{0B469624-95AB-A438-7720-D561881790D7}"/>
                </a:ext>
              </a:extLst>
            </p:cNvPr>
            <p:cNvSpPr/>
            <p:nvPr/>
          </p:nvSpPr>
          <p:spPr>
            <a:xfrm>
              <a:off x="1824273" y="4990793"/>
              <a:ext cx="4612918" cy="9838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41" name="テキスト ボックス 40">
              <a:extLst>
                <a:ext uri="{FF2B5EF4-FFF2-40B4-BE49-F238E27FC236}">
                  <a16:creationId xmlns:a16="http://schemas.microsoft.com/office/drawing/2014/main" id="{6D18C81C-7B5E-A77A-92FC-872132D551A7}"/>
                </a:ext>
              </a:extLst>
            </p:cNvPr>
            <p:cNvSpPr txBox="1"/>
            <p:nvPr/>
          </p:nvSpPr>
          <p:spPr>
            <a:xfrm>
              <a:off x="4786275"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5</a:t>
              </a:r>
              <a:endParaRPr lang="ja-JP" altLang="en-US" dirty="0">
                <a:latin typeface="Times New Roman" panose="02020603050405020304" pitchFamily="18" charset="0"/>
                <a:cs typeface="Times New Roman" panose="02020603050405020304" pitchFamily="18" charset="0"/>
              </a:endParaRPr>
            </a:p>
          </p:txBody>
        </p:sp>
        <p:sp>
          <p:nvSpPr>
            <p:cNvPr id="42" name="テキスト ボックス 41">
              <a:extLst>
                <a:ext uri="{FF2B5EF4-FFF2-40B4-BE49-F238E27FC236}">
                  <a16:creationId xmlns:a16="http://schemas.microsoft.com/office/drawing/2014/main" id="{6639809E-15B4-4B86-D827-1C484DDFE00F}"/>
                </a:ext>
              </a:extLst>
            </p:cNvPr>
            <p:cNvSpPr txBox="1"/>
            <p:nvPr/>
          </p:nvSpPr>
          <p:spPr>
            <a:xfrm>
              <a:off x="5706946"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6</a:t>
              </a:r>
              <a:endParaRPr lang="ja-JP" altLang="en-US" dirty="0">
                <a:latin typeface="Times New Roman" panose="02020603050405020304" pitchFamily="18" charset="0"/>
                <a:cs typeface="Times New Roman" panose="02020603050405020304" pitchFamily="18" charset="0"/>
              </a:endParaRPr>
            </a:p>
          </p:txBody>
        </p:sp>
        <p:sp>
          <p:nvSpPr>
            <p:cNvPr id="44" name="テキスト ボックス 43">
              <a:extLst>
                <a:ext uri="{FF2B5EF4-FFF2-40B4-BE49-F238E27FC236}">
                  <a16:creationId xmlns:a16="http://schemas.microsoft.com/office/drawing/2014/main" id="{7FE1766B-BC3A-75F3-F5F2-15AA994B26BB}"/>
                </a:ext>
              </a:extLst>
            </p:cNvPr>
            <p:cNvSpPr txBox="1"/>
            <p:nvPr/>
          </p:nvSpPr>
          <p:spPr>
            <a:xfrm>
              <a:off x="6632029"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7</a:t>
              </a:r>
              <a:endParaRPr lang="ja-JP" altLang="en-US" dirty="0">
                <a:latin typeface="Times New Roman" panose="02020603050405020304" pitchFamily="18" charset="0"/>
                <a:cs typeface="Times New Roman" panose="02020603050405020304" pitchFamily="18" charset="0"/>
              </a:endParaRPr>
            </a:p>
          </p:txBody>
        </p:sp>
        <p:sp>
          <p:nvSpPr>
            <p:cNvPr id="45" name="テキスト ボックス 44">
              <a:extLst>
                <a:ext uri="{FF2B5EF4-FFF2-40B4-BE49-F238E27FC236}">
                  <a16:creationId xmlns:a16="http://schemas.microsoft.com/office/drawing/2014/main" id="{FADF607F-11E0-994E-7FD7-7763EA051519}"/>
                </a:ext>
              </a:extLst>
            </p:cNvPr>
            <p:cNvSpPr txBox="1"/>
            <p:nvPr/>
          </p:nvSpPr>
          <p:spPr>
            <a:xfrm>
              <a:off x="7538884"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8</a:t>
              </a:r>
              <a:endParaRPr lang="ja-JP" altLang="en-US" dirty="0">
                <a:latin typeface="Times New Roman" panose="02020603050405020304" pitchFamily="18" charset="0"/>
                <a:cs typeface="Times New Roman" panose="02020603050405020304" pitchFamily="18" charset="0"/>
              </a:endParaRPr>
            </a:p>
          </p:txBody>
        </p:sp>
        <p:sp>
          <p:nvSpPr>
            <p:cNvPr id="46" name="テキスト ボックス 45">
              <a:extLst>
                <a:ext uri="{FF2B5EF4-FFF2-40B4-BE49-F238E27FC236}">
                  <a16:creationId xmlns:a16="http://schemas.microsoft.com/office/drawing/2014/main" id="{B77E3C85-246A-98EF-3459-39E9C9DDC79E}"/>
                </a:ext>
              </a:extLst>
            </p:cNvPr>
            <p:cNvSpPr txBox="1"/>
            <p:nvPr/>
          </p:nvSpPr>
          <p:spPr>
            <a:xfrm>
              <a:off x="8471156"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9</a:t>
              </a:r>
              <a:endParaRPr lang="ja-JP" altLang="en-US" dirty="0">
                <a:latin typeface="Times New Roman" panose="02020603050405020304" pitchFamily="18" charset="0"/>
                <a:cs typeface="Times New Roman" panose="02020603050405020304" pitchFamily="18" charset="0"/>
              </a:endParaRPr>
            </a:p>
          </p:txBody>
        </p:sp>
        <p:sp>
          <p:nvSpPr>
            <p:cNvPr id="47" name="テキスト ボックス 46">
              <a:extLst>
                <a:ext uri="{FF2B5EF4-FFF2-40B4-BE49-F238E27FC236}">
                  <a16:creationId xmlns:a16="http://schemas.microsoft.com/office/drawing/2014/main" id="{03E0D2F0-D2C9-DCEE-F836-F61E535200AC}"/>
                </a:ext>
              </a:extLst>
            </p:cNvPr>
            <p:cNvSpPr txBox="1"/>
            <p:nvPr/>
          </p:nvSpPr>
          <p:spPr>
            <a:xfrm>
              <a:off x="9409352"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10</a:t>
              </a:r>
              <a:endParaRPr lang="ja-JP" altLang="en-US" dirty="0">
                <a:latin typeface="Times New Roman" panose="02020603050405020304" pitchFamily="18" charset="0"/>
                <a:cs typeface="Times New Roman" panose="02020603050405020304" pitchFamily="18" charset="0"/>
              </a:endParaRPr>
            </a:p>
          </p:txBody>
        </p:sp>
        <p:sp>
          <p:nvSpPr>
            <p:cNvPr id="50" name="テキスト ボックス 49">
              <a:extLst>
                <a:ext uri="{FF2B5EF4-FFF2-40B4-BE49-F238E27FC236}">
                  <a16:creationId xmlns:a16="http://schemas.microsoft.com/office/drawing/2014/main" id="{CFC05F1D-9DDB-CC35-097E-45752726D490}"/>
                </a:ext>
              </a:extLst>
            </p:cNvPr>
            <p:cNvSpPr txBox="1"/>
            <p:nvPr/>
          </p:nvSpPr>
          <p:spPr>
            <a:xfrm>
              <a:off x="10304367" y="3271506"/>
              <a:ext cx="438900"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11</a:t>
              </a:r>
              <a:endParaRPr lang="ja-JP" altLang="en-US" dirty="0">
                <a:latin typeface="Times New Roman" panose="02020603050405020304" pitchFamily="18" charset="0"/>
                <a:cs typeface="Times New Roman" panose="02020603050405020304" pitchFamily="18" charset="0"/>
              </a:endParaRPr>
            </a:p>
          </p:txBody>
        </p:sp>
        <p:sp>
          <p:nvSpPr>
            <p:cNvPr id="51" name="テキスト ボックス 50">
              <a:extLst>
                <a:ext uri="{FF2B5EF4-FFF2-40B4-BE49-F238E27FC236}">
                  <a16:creationId xmlns:a16="http://schemas.microsoft.com/office/drawing/2014/main" id="{CD25D421-D6BF-1B30-78EA-4ABCA00FFCCB}"/>
                </a:ext>
              </a:extLst>
            </p:cNvPr>
            <p:cNvSpPr txBox="1"/>
            <p:nvPr/>
          </p:nvSpPr>
          <p:spPr>
            <a:xfrm>
              <a:off x="574741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16</a:t>
              </a:r>
              <a:endParaRPr lang="ja-JP" altLang="en-US" dirty="0">
                <a:latin typeface="Times New Roman" panose="02020603050405020304" pitchFamily="18" charset="0"/>
                <a:cs typeface="Times New Roman" panose="02020603050405020304" pitchFamily="18" charset="0"/>
              </a:endParaRPr>
            </a:p>
          </p:txBody>
        </p:sp>
        <p:sp>
          <p:nvSpPr>
            <p:cNvPr id="52" name="テキスト ボックス 51">
              <a:extLst>
                <a:ext uri="{FF2B5EF4-FFF2-40B4-BE49-F238E27FC236}">
                  <a16:creationId xmlns:a16="http://schemas.microsoft.com/office/drawing/2014/main" id="{DBCC9BCC-0EFD-8EA8-8E9A-6E39C85D645B}"/>
                </a:ext>
              </a:extLst>
            </p:cNvPr>
            <p:cNvSpPr txBox="1"/>
            <p:nvPr/>
          </p:nvSpPr>
          <p:spPr>
            <a:xfrm>
              <a:off x="480269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15</a:t>
              </a:r>
              <a:endParaRPr lang="ja-JP" altLang="en-US" dirty="0">
                <a:latin typeface="Times New Roman" panose="02020603050405020304" pitchFamily="18" charset="0"/>
                <a:cs typeface="Times New Roman" panose="02020603050405020304" pitchFamily="18" charset="0"/>
              </a:endParaRPr>
            </a:p>
          </p:txBody>
        </p:sp>
        <p:sp>
          <p:nvSpPr>
            <p:cNvPr id="53" name="テキスト ボックス 52">
              <a:extLst>
                <a:ext uri="{FF2B5EF4-FFF2-40B4-BE49-F238E27FC236}">
                  <a16:creationId xmlns:a16="http://schemas.microsoft.com/office/drawing/2014/main" id="{50ACBC94-FD51-2DBA-73D8-6B9F8A7DD814}"/>
                </a:ext>
              </a:extLst>
            </p:cNvPr>
            <p:cNvSpPr txBox="1"/>
            <p:nvPr/>
          </p:nvSpPr>
          <p:spPr>
            <a:xfrm>
              <a:off x="3888684"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14</a:t>
              </a:r>
              <a:endParaRPr lang="ja-JP" altLang="en-US" dirty="0">
                <a:latin typeface="Times New Roman" panose="02020603050405020304" pitchFamily="18" charset="0"/>
                <a:cs typeface="Times New Roman" panose="02020603050405020304" pitchFamily="18" charset="0"/>
              </a:endParaRPr>
            </a:p>
          </p:txBody>
        </p:sp>
        <p:sp>
          <p:nvSpPr>
            <p:cNvPr id="54" name="テキスト ボックス 53">
              <a:extLst>
                <a:ext uri="{FF2B5EF4-FFF2-40B4-BE49-F238E27FC236}">
                  <a16:creationId xmlns:a16="http://schemas.microsoft.com/office/drawing/2014/main" id="{A53BE0B2-8D64-D093-334A-1EBE87DD8D97}"/>
                </a:ext>
              </a:extLst>
            </p:cNvPr>
            <p:cNvSpPr txBox="1"/>
            <p:nvPr/>
          </p:nvSpPr>
          <p:spPr>
            <a:xfrm>
              <a:off x="2973332"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13</a:t>
              </a:r>
              <a:endParaRPr lang="ja-JP" altLang="en-US" dirty="0">
                <a:latin typeface="Times New Roman" panose="02020603050405020304" pitchFamily="18" charset="0"/>
                <a:cs typeface="Times New Roman" panose="02020603050405020304" pitchFamily="18" charset="0"/>
              </a:endParaRPr>
            </a:p>
          </p:txBody>
        </p:sp>
        <p:sp>
          <p:nvSpPr>
            <p:cNvPr id="55" name="テキスト ボックス 54">
              <a:extLst>
                <a:ext uri="{FF2B5EF4-FFF2-40B4-BE49-F238E27FC236}">
                  <a16:creationId xmlns:a16="http://schemas.microsoft.com/office/drawing/2014/main" id="{1352C89F-AD78-3C51-F60E-33E8264DBB28}"/>
                </a:ext>
              </a:extLst>
            </p:cNvPr>
            <p:cNvSpPr txBox="1"/>
            <p:nvPr/>
          </p:nvSpPr>
          <p:spPr>
            <a:xfrm>
              <a:off x="2094720" y="4612452"/>
              <a:ext cx="454173" cy="369332"/>
            </a:xfrm>
            <a:prstGeom prst="rect">
              <a:avLst/>
            </a:prstGeom>
            <a:noFill/>
          </p:spPr>
          <p:txBody>
            <a:bodyPr wrap="square">
              <a:spAutoFit/>
            </a:bodyPr>
            <a:lstStyle/>
            <a:p>
              <a:pPr algn="ctr"/>
              <a:r>
                <a:rPr lang="en-US" altLang="ja-JP" dirty="0">
                  <a:latin typeface="Times New Roman" panose="02020603050405020304" pitchFamily="18" charset="0"/>
                  <a:cs typeface="Times New Roman" panose="02020603050405020304" pitchFamily="18" charset="0"/>
                </a:rPr>
                <a:t>12</a:t>
              </a:r>
              <a:endParaRPr lang="ja-JP"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46399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BD429906-26B6-8C7F-7F6F-8465F87926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53481" y="5086"/>
            <a:ext cx="8485037" cy="6852914"/>
          </a:xfrm>
        </p:spPr>
      </p:pic>
    </p:spTree>
    <p:extLst>
      <p:ext uri="{BB962C8B-B14F-4D97-AF65-F5344CB8AC3E}">
        <p14:creationId xmlns:p14="http://schemas.microsoft.com/office/powerpoint/2010/main" val="3109156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F0B9EEAA-848C-861B-7965-9A381CC10469}"/>
              </a:ext>
            </a:extLst>
          </p:cNvPr>
          <p:cNvSpPr>
            <a:spLocks noGrp="1"/>
          </p:cNvSpPr>
          <p:nvPr>
            <p:ph idx="1"/>
          </p:nvPr>
        </p:nvSpPr>
        <p:spPr>
          <a:xfrm>
            <a:off x="838200" y="1825625"/>
            <a:ext cx="10515600" cy="4351338"/>
          </a:xfrm>
        </p:spPr>
        <p:txBody>
          <a:bodyPr/>
          <a:lstStyle/>
          <a:p>
            <a:endParaRPr lang="ja-JP" altLang="en-US" dirty="0"/>
          </a:p>
        </p:txBody>
      </p:sp>
      <p:sp>
        <p:nvSpPr>
          <p:cNvPr id="2" name="タイトル 1">
            <a:extLst>
              <a:ext uri="{FF2B5EF4-FFF2-40B4-BE49-F238E27FC236}">
                <a16:creationId xmlns:a16="http://schemas.microsoft.com/office/drawing/2014/main" id="{4EF931D6-D3ED-087D-04CD-F68C132FC127}"/>
              </a:ext>
            </a:extLst>
          </p:cNvPr>
          <p:cNvSpPr>
            <a:spLocks noGrp="1"/>
          </p:cNvSpPr>
          <p:nvPr>
            <p:ph type="title"/>
          </p:nvPr>
        </p:nvSpPr>
        <p:spPr/>
        <p:txBody>
          <a:bodyPr/>
          <a:lstStyle/>
          <a:p>
            <a:r>
              <a:rPr kumimoji="1" lang="ja-JP" altLang="en-US" dirty="0"/>
              <a:t>結果</a:t>
            </a:r>
          </a:p>
        </p:txBody>
      </p:sp>
      <p:sp>
        <p:nvSpPr>
          <p:cNvPr id="6" name="テキスト ボックス 5">
            <a:extLst>
              <a:ext uri="{FF2B5EF4-FFF2-40B4-BE49-F238E27FC236}">
                <a16:creationId xmlns:a16="http://schemas.microsoft.com/office/drawing/2014/main" id="{EBFB6620-AF92-7BCA-BB84-3ED2AAC88527}"/>
              </a:ext>
            </a:extLst>
          </p:cNvPr>
          <p:cNvSpPr txBox="1"/>
          <p:nvPr/>
        </p:nvSpPr>
        <p:spPr>
          <a:xfrm>
            <a:off x="838200" y="6176963"/>
            <a:ext cx="5379720" cy="369332"/>
          </a:xfrm>
          <a:prstGeom prst="rect">
            <a:avLst/>
          </a:prstGeom>
          <a:noFill/>
        </p:spPr>
        <p:txBody>
          <a:bodyPr wrap="square">
            <a:spAutoFit/>
          </a:bodyPr>
          <a:lstStyle/>
          <a:p>
            <a:pPr algn="ctr"/>
            <a:r>
              <a:rPr lang="ja-JP" altLang="en-US" dirty="0"/>
              <a:t>図</a:t>
            </a:r>
            <a:r>
              <a:rPr lang="en-US" altLang="ja-JP" dirty="0"/>
              <a:t>6</a:t>
            </a:r>
            <a:r>
              <a:rPr lang="ja-JP" altLang="en-US" dirty="0"/>
              <a:t>　</a:t>
            </a:r>
            <a:r>
              <a:rPr lang="en-US" altLang="ja-JP" dirty="0"/>
              <a:t>axial</a:t>
            </a:r>
            <a:r>
              <a:rPr lang="ja-JP" altLang="en-US" dirty="0"/>
              <a:t>の変更</a:t>
            </a:r>
          </a:p>
        </p:txBody>
      </p:sp>
      <p:pic>
        <p:nvPicPr>
          <p:cNvPr id="8" name="図 7" descr="グラフ, 折れ線グラフ&#10;&#10;自動的に生成された説明">
            <a:extLst>
              <a:ext uri="{FF2B5EF4-FFF2-40B4-BE49-F238E27FC236}">
                <a16:creationId xmlns:a16="http://schemas.microsoft.com/office/drawing/2014/main" id="{282B9BC9-03D8-7A73-E911-5EE86D3B80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25625"/>
            <a:ext cx="5379720" cy="4344913"/>
          </a:xfrm>
          <a:prstGeom prst="rect">
            <a:avLst/>
          </a:prstGeom>
        </p:spPr>
      </p:pic>
      <p:pic>
        <p:nvPicPr>
          <p:cNvPr id="9" name="図 8" descr="グラフ&#10;&#10;自動的に生成された説明">
            <a:extLst>
              <a:ext uri="{FF2B5EF4-FFF2-40B4-BE49-F238E27FC236}">
                <a16:creationId xmlns:a16="http://schemas.microsoft.com/office/drawing/2014/main" id="{1CE44835-7220-864C-223E-1E08DA8A8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1603" y="2868817"/>
            <a:ext cx="3664673" cy="2112440"/>
          </a:xfrm>
          <a:prstGeom prst="rect">
            <a:avLst/>
          </a:prstGeom>
        </p:spPr>
      </p:pic>
      <p:sp>
        <p:nvSpPr>
          <p:cNvPr id="7" name="テキスト ボックス 6">
            <a:extLst>
              <a:ext uri="{FF2B5EF4-FFF2-40B4-BE49-F238E27FC236}">
                <a16:creationId xmlns:a16="http://schemas.microsoft.com/office/drawing/2014/main" id="{B5A7BF58-D3A3-EDA0-8DE5-99593AF7517C}"/>
              </a:ext>
            </a:extLst>
          </p:cNvPr>
          <p:cNvSpPr txBox="1"/>
          <p:nvPr/>
        </p:nvSpPr>
        <p:spPr>
          <a:xfrm>
            <a:off x="6831604" y="4981257"/>
            <a:ext cx="3664672" cy="369332"/>
          </a:xfrm>
          <a:prstGeom prst="rect">
            <a:avLst/>
          </a:prstGeom>
          <a:noFill/>
        </p:spPr>
        <p:txBody>
          <a:bodyPr wrap="square">
            <a:spAutoFit/>
          </a:bodyPr>
          <a:lstStyle/>
          <a:p>
            <a:pPr algn="ctr"/>
            <a:r>
              <a:rPr kumimoji="1" lang="ja-JP" altLang="en-US" dirty="0"/>
              <a:t>表</a:t>
            </a:r>
            <a:r>
              <a:rPr lang="en-US" altLang="ja-JP" dirty="0"/>
              <a:t>2</a:t>
            </a:r>
            <a:r>
              <a:rPr kumimoji="1" lang="ja-JP" altLang="en-US" dirty="0"/>
              <a:t>　</a:t>
            </a:r>
            <a:r>
              <a:rPr kumimoji="1" lang="en-US" altLang="ja-JP" dirty="0"/>
              <a:t>range</a:t>
            </a:r>
            <a:r>
              <a:rPr kumimoji="1" lang="ja-JP" altLang="en-US" dirty="0"/>
              <a:t>別の性能</a:t>
            </a:r>
          </a:p>
        </p:txBody>
      </p:sp>
    </p:spTree>
    <p:extLst>
      <p:ext uri="{BB962C8B-B14F-4D97-AF65-F5344CB8AC3E}">
        <p14:creationId xmlns:p14="http://schemas.microsoft.com/office/powerpoint/2010/main" val="375961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4BB035-363E-6870-4B8B-B2B242CC1AC5}"/>
              </a:ext>
            </a:extLst>
          </p:cNvPr>
          <p:cNvSpPr>
            <a:spLocks noGrp="1"/>
          </p:cNvSpPr>
          <p:nvPr>
            <p:ph type="title"/>
          </p:nvPr>
        </p:nvSpPr>
        <p:spPr/>
        <p:txBody>
          <a:bodyPr/>
          <a:lstStyle/>
          <a:p>
            <a:r>
              <a:rPr kumimoji="1" lang="ja-JP" altLang="en-US" dirty="0"/>
              <a:t>結果</a:t>
            </a:r>
          </a:p>
        </p:txBody>
      </p:sp>
      <p:sp>
        <p:nvSpPr>
          <p:cNvPr id="3" name="コンテンツ プレースホルダー 2">
            <a:extLst>
              <a:ext uri="{FF2B5EF4-FFF2-40B4-BE49-F238E27FC236}">
                <a16:creationId xmlns:a16="http://schemas.microsoft.com/office/drawing/2014/main" id="{0E628569-A506-3E45-7271-DE83233C9270}"/>
              </a:ext>
            </a:extLst>
          </p:cNvPr>
          <p:cNvSpPr>
            <a:spLocks noGrp="1"/>
          </p:cNvSpPr>
          <p:nvPr>
            <p:ph idx="1"/>
          </p:nvPr>
        </p:nvSpPr>
        <p:spPr/>
        <p:txBody>
          <a:bodyPr>
            <a:normAutofit/>
          </a:bodyPr>
          <a:lstStyle/>
          <a:p>
            <a:r>
              <a:rPr kumimoji="1" lang="en-US" altLang="ja-JP" dirty="0"/>
              <a:t>T1</a:t>
            </a:r>
            <a:r>
              <a:rPr lang="ja-JP" altLang="en-US" dirty="0"/>
              <a:t>強調画像</a:t>
            </a:r>
            <a:endParaRPr lang="en-US" altLang="ja-JP" dirty="0"/>
          </a:p>
          <a:p>
            <a:r>
              <a:rPr kumimoji="1" lang="en-US" altLang="ja-JP" dirty="0"/>
              <a:t>T2</a:t>
            </a:r>
            <a:r>
              <a:rPr kumimoji="1" lang="ja-JP" altLang="en-US" dirty="0"/>
              <a:t>強調画像</a:t>
            </a:r>
            <a:endParaRPr kumimoji="1" lang="en-US" altLang="ja-JP" dirty="0"/>
          </a:p>
          <a:p>
            <a:r>
              <a:rPr kumimoji="1" lang="en-US" altLang="ja-JP" dirty="0"/>
              <a:t>FLAIR</a:t>
            </a:r>
            <a:r>
              <a:rPr kumimoji="1" lang="ja-JP" altLang="en-US" dirty="0"/>
              <a:t>画像</a:t>
            </a:r>
            <a:endParaRPr kumimoji="1" lang="en-US" altLang="ja-JP" dirty="0"/>
          </a:p>
          <a:p>
            <a:r>
              <a:rPr kumimoji="1" lang="en-US" altLang="ja-JP" dirty="0"/>
              <a:t>T1</a:t>
            </a:r>
            <a:r>
              <a:rPr lang="ja-JP" altLang="en-US" dirty="0"/>
              <a:t>強調画像</a:t>
            </a:r>
            <a:r>
              <a:rPr lang="en-US" altLang="ja-JP" dirty="0"/>
              <a:t>+</a:t>
            </a:r>
            <a:r>
              <a:rPr kumimoji="1" lang="en-US" altLang="ja-JP" dirty="0"/>
              <a:t>T2</a:t>
            </a:r>
            <a:r>
              <a:rPr kumimoji="1" lang="ja-JP" altLang="en-US" dirty="0"/>
              <a:t>強調画像</a:t>
            </a:r>
            <a:endParaRPr kumimoji="1" lang="en-US" altLang="ja-JP" dirty="0"/>
          </a:p>
          <a:p>
            <a:r>
              <a:rPr kumimoji="1" lang="en-US" altLang="ja-JP" dirty="0"/>
              <a:t>T2</a:t>
            </a:r>
            <a:r>
              <a:rPr kumimoji="1" lang="ja-JP" altLang="en-US" dirty="0"/>
              <a:t>強調画像</a:t>
            </a:r>
            <a:r>
              <a:rPr lang="en-US" altLang="ja-JP" dirty="0"/>
              <a:t>+</a:t>
            </a:r>
            <a:r>
              <a:rPr kumimoji="1" lang="en-US" altLang="ja-JP" dirty="0"/>
              <a:t>FLAIR</a:t>
            </a:r>
            <a:r>
              <a:rPr kumimoji="1" lang="ja-JP" altLang="en-US" dirty="0"/>
              <a:t>画像</a:t>
            </a:r>
            <a:endParaRPr kumimoji="1" lang="en-US" altLang="ja-JP" dirty="0"/>
          </a:p>
          <a:p>
            <a:r>
              <a:rPr kumimoji="1" lang="en-US" altLang="ja-JP" dirty="0"/>
              <a:t>FLAIR</a:t>
            </a:r>
            <a:r>
              <a:rPr kumimoji="1" lang="ja-JP" altLang="en-US" dirty="0"/>
              <a:t>画像</a:t>
            </a:r>
            <a:r>
              <a:rPr kumimoji="1" lang="en-US" altLang="ja-JP" dirty="0"/>
              <a:t>+T1</a:t>
            </a:r>
            <a:r>
              <a:rPr lang="ja-JP" altLang="en-US" dirty="0"/>
              <a:t>強調画像</a:t>
            </a:r>
            <a:endParaRPr lang="en-US" altLang="ja-JP" dirty="0"/>
          </a:p>
          <a:p>
            <a:r>
              <a:rPr kumimoji="1" lang="en-US" altLang="ja-JP" dirty="0"/>
              <a:t>3</a:t>
            </a:r>
            <a:r>
              <a:rPr kumimoji="1" lang="ja-JP" altLang="en-US" dirty="0"/>
              <a:t>種類すべて</a:t>
            </a:r>
            <a:endParaRPr kumimoji="1" lang="en-US" altLang="ja-JP" dirty="0"/>
          </a:p>
          <a:p>
            <a:endParaRPr kumimoji="1" lang="en-US" altLang="ja-JP" dirty="0"/>
          </a:p>
        </p:txBody>
      </p:sp>
      <p:sp>
        <p:nvSpPr>
          <p:cNvPr id="7" name="テキスト ボックス 6">
            <a:extLst>
              <a:ext uri="{FF2B5EF4-FFF2-40B4-BE49-F238E27FC236}">
                <a16:creationId xmlns:a16="http://schemas.microsoft.com/office/drawing/2014/main" id="{DC964052-05EE-5960-4C89-496DB15A95D0}"/>
              </a:ext>
            </a:extLst>
          </p:cNvPr>
          <p:cNvSpPr txBox="1"/>
          <p:nvPr/>
        </p:nvSpPr>
        <p:spPr>
          <a:xfrm>
            <a:off x="6435399" y="6176963"/>
            <a:ext cx="4918402" cy="369332"/>
          </a:xfrm>
          <a:prstGeom prst="rect">
            <a:avLst/>
          </a:prstGeom>
          <a:noFill/>
        </p:spPr>
        <p:txBody>
          <a:bodyPr wrap="square">
            <a:spAutoFit/>
          </a:bodyPr>
          <a:lstStyle/>
          <a:p>
            <a:pPr algn="ctr"/>
            <a:r>
              <a:rPr lang="ja-JP" altLang="en-US" dirty="0"/>
              <a:t>図</a:t>
            </a:r>
            <a:r>
              <a:rPr lang="en-US" altLang="ja-JP" dirty="0"/>
              <a:t>7</a:t>
            </a:r>
            <a:r>
              <a:rPr lang="ja-JP" altLang="en-US" dirty="0"/>
              <a:t>　撮影方法の組み合わせの変更</a:t>
            </a:r>
          </a:p>
        </p:txBody>
      </p:sp>
      <p:pic>
        <p:nvPicPr>
          <p:cNvPr id="6" name="図 5" descr="グラフ, 棒グラフ&#10;&#10;自動的に生成された説明">
            <a:extLst>
              <a:ext uri="{FF2B5EF4-FFF2-40B4-BE49-F238E27FC236}">
                <a16:creationId xmlns:a16="http://schemas.microsoft.com/office/drawing/2014/main" id="{C0F83148-9AE9-DAF5-1D93-F5B24FE0EA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399" y="1825625"/>
            <a:ext cx="4918402" cy="4351338"/>
          </a:xfrm>
          <a:prstGeom prst="rect">
            <a:avLst/>
          </a:prstGeom>
        </p:spPr>
      </p:pic>
    </p:spTree>
    <p:extLst>
      <p:ext uri="{BB962C8B-B14F-4D97-AF65-F5344CB8AC3E}">
        <p14:creationId xmlns:p14="http://schemas.microsoft.com/office/powerpoint/2010/main" val="471573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727AD-8EE8-49AA-81DA-0DA70AE26BE4}"/>
              </a:ext>
            </a:extLst>
          </p:cNvPr>
          <p:cNvSpPr>
            <a:spLocks noGrp="1"/>
          </p:cNvSpPr>
          <p:nvPr>
            <p:ph type="title"/>
          </p:nvPr>
        </p:nvSpPr>
        <p:spPr/>
        <p:txBody>
          <a:bodyPr/>
          <a:lstStyle/>
          <a:p>
            <a:r>
              <a:rPr kumimoji="1" lang="ja-JP" altLang="en-US" dirty="0"/>
              <a:t>結果</a:t>
            </a:r>
          </a:p>
        </p:txBody>
      </p:sp>
      <p:sp>
        <p:nvSpPr>
          <p:cNvPr id="3" name="コンテンツ プレースホルダー 2">
            <a:extLst>
              <a:ext uri="{FF2B5EF4-FFF2-40B4-BE49-F238E27FC236}">
                <a16:creationId xmlns:a16="http://schemas.microsoft.com/office/drawing/2014/main" id="{A2ED4847-7843-8990-C5AD-64C03F3DD855}"/>
              </a:ext>
            </a:extLst>
          </p:cNvPr>
          <p:cNvSpPr>
            <a:spLocks noGrp="1"/>
          </p:cNvSpPr>
          <p:nvPr>
            <p:ph idx="1"/>
          </p:nvPr>
        </p:nvSpPr>
        <p:spPr/>
        <p:txBody>
          <a:bodyPr/>
          <a:lstStyle/>
          <a:p>
            <a:r>
              <a:rPr lang="en-US" altLang="ja-JP" dirty="0"/>
              <a:t>FLAIR</a:t>
            </a:r>
            <a:r>
              <a:rPr lang="ja-JP" altLang="en-US" dirty="0"/>
              <a:t>画像</a:t>
            </a:r>
            <a:r>
              <a:rPr lang="en-US" altLang="ja-JP" dirty="0"/>
              <a:t>+T1</a:t>
            </a:r>
            <a:r>
              <a:rPr lang="ja-JP" altLang="en-US" dirty="0"/>
              <a:t>強調画像</a:t>
            </a:r>
            <a:endParaRPr lang="en-US" altLang="ja-JP" dirty="0"/>
          </a:p>
          <a:p>
            <a:r>
              <a:rPr lang="en-US" altLang="ja-JP" dirty="0"/>
              <a:t>a</a:t>
            </a:r>
            <a:r>
              <a:rPr kumimoji="1" lang="en-US" altLang="ja-JP" dirty="0"/>
              <a:t>xial</a:t>
            </a:r>
            <a:r>
              <a:rPr kumimoji="1" lang="ja-JP" altLang="en-US" dirty="0"/>
              <a:t> </a:t>
            </a:r>
            <a:r>
              <a:rPr kumimoji="1" lang="en-US" altLang="ja-JP" dirty="0"/>
              <a:t>:</a:t>
            </a:r>
            <a:r>
              <a:rPr kumimoji="1" lang="ja-JP" altLang="en-US" dirty="0"/>
              <a:t> </a:t>
            </a:r>
            <a:r>
              <a:rPr kumimoji="1" lang="en-US" altLang="ja-JP" dirty="0"/>
              <a:t>9-15</a:t>
            </a:r>
            <a:r>
              <a:rPr kumimoji="1" lang="ja-JP" altLang="en-US" dirty="0"/>
              <a:t>（</a:t>
            </a:r>
            <a:r>
              <a:rPr kumimoji="1" lang="en-US" altLang="ja-JP" dirty="0"/>
              <a:t>range=7</a:t>
            </a:r>
            <a:r>
              <a:rPr kumimoji="1" lang="ja-JP" altLang="en-US" dirty="0"/>
              <a:t>）</a:t>
            </a:r>
          </a:p>
        </p:txBody>
      </p:sp>
      <p:sp>
        <p:nvSpPr>
          <p:cNvPr id="6" name="テキスト ボックス 5">
            <a:extLst>
              <a:ext uri="{FF2B5EF4-FFF2-40B4-BE49-F238E27FC236}">
                <a16:creationId xmlns:a16="http://schemas.microsoft.com/office/drawing/2014/main" id="{007219CD-7FFE-624D-1BA4-938FA11B49D7}"/>
              </a:ext>
            </a:extLst>
          </p:cNvPr>
          <p:cNvSpPr txBox="1"/>
          <p:nvPr/>
        </p:nvSpPr>
        <p:spPr>
          <a:xfrm>
            <a:off x="838200" y="6256051"/>
            <a:ext cx="10515600" cy="369332"/>
          </a:xfrm>
          <a:prstGeom prst="rect">
            <a:avLst/>
          </a:prstGeom>
          <a:noFill/>
        </p:spPr>
        <p:txBody>
          <a:bodyPr wrap="square">
            <a:spAutoFit/>
          </a:bodyPr>
          <a:lstStyle/>
          <a:p>
            <a:pPr algn="ctr"/>
            <a:r>
              <a:rPr lang="ja-JP" altLang="en-US" dirty="0"/>
              <a:t>図</a:t>
            </a:r>
            <a:r>
              <a:rPr lang="en-US" altLang="ja-JP" dirty="0"/>
              <a:t>8</a:t>
            </a:r>
            <a:r>
              <a:rPr lang="ja-JP" altLang="en-US" dirty="0"/>
              <a:t>　学習曲線</a:t>
            </a:r>
          </a:p>
        </p:txBody>
      </p:sp>
      <p:pic>
        <p:nvPicPr>
          <p:cNvPr id="7" name="図 6" descr="グラフ, 折れ線グラフ, ヒストグラム&#10;&#10;自動的に生成された説明">
            <a:extLst>
              <a:ext uri="{FF2B5EF4-FFF2-40B4-BE49-F238E27FC236}">
                <a16:creationId xmlns:a16="http://schemas.microsoft.com/office/drawing/2014/main" id="{13D19DB1-5E49-4EA8-BCCD-428BBB021B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325" y="3041468"/>
            <a:ext cx="3928034" cy="3135494"/>
          </a:xfrm>
          <a:prstGeom prst="rect">
            <a:avLst/>
          </a:prstGeom>
        </p:spPr>
      </p:pic>
      <p:pic>
        <p:nvPicPr>
          <p:cNvPr id="8" name="図 7" descr="グラフ, 折れ線グラフ&#10;&#10;自動的に生成された説明">
            <a:extLst>
              <a:ext uri="{FF2B5EF4-FFF2-40B4-BE49-F238E27FC236}">
                <a16:creationId xmlns:a16="http://schemas.microsoft.com/office/drawing/2014/main" id="{901C3E0B-E496-B0DD-E15D-345080BB3A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6291" y="3041468"/>
            <a:ext cx="3928034" cy="3135495"/>
          </a:xfrm>
          <a:prstGeom prst="rect">
            <a:avLst/>
          </a:prstGeom>
        </p:spPr>
      </p:pic>
    </p:spTree>
    <p:extLst>
      <p:ext uri="{BB962C8B-B14F-4D97-AF65-F5344CB8AC3E}">
        <p14:creationId xmlns:p14="http://schemas.microsoft.com/office/powerpoint/2010/main" val="96492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B1A728-CDB6-EED7-14C6-8C442E1BB1A6}"/>
              </a:ext>
            </a:extLst>
          </p:cNvPr>
          <p:cNvSpPr>
            <a:spLocks noGrp="1"/>
          </p:cNvSpPr>
          <p:nvPr>
            <p:ph type="title"/>
          </p:nvPr>
        </p:nvSpPr>
        <p:spPr/>
        <p:txBody>
          <a:bodyPr/>
          <a:lstStyle/>
          <a:p>
            <a:r>
              <a:rPr lang="ja-JP" altLang="en-US" dirty="0"/>
              <a:t>グレード別性能評価</a:t>
            </a:r>
            <a:endParaRPr kumimoji="1" lang="ja-JP" altLang="en-US" dirty="0"/>
          </a:p>
        </p:txBody>
      </p:sp>
      <p:sp>
        <p:nvSpPr>
          <p:cNvPr id="3" name="コンテンツ プレースホルダー 2">
            <a:extLst>
              <a:ext uri="{FF2B5EF4-FFF2-40B4-BE49-F238E27FC236}">
                <a16:creationId xmlns:a16="http://schemas.microsoft.com/office/drawing/2014/main" id="{1F545611-421B-9092-00F2-290813CE8C20}"/>
              </a:ext>
            </a:extLst>
          </p:cNvPr>
          <p:cNvSpPr>
            <a:spLocks noGrp="1"/>
          </p:cNvSpPr>
          <p:nvPr>
            <p:ph idx="1"/>
          </p:nvPr>
        </p:nvSpPr>
        <p:spPr/>
        <p:txBody>
          <a:bodyPr/>
          <a:lstStyle/>
          <a:p>
            <a:endParaRPr lang="en-US" altLang="ja-JP" dirty="0"/>
          </a:p>
        </p:txBody>
      </p:sp>
      <p:pic>
        <p:nvPicPr>
          <p:cNvPr id="7" name="図 6" descr="グラフ&#10;&#10;低い精度で自動的に生成された説明">
            <a:extLst>
              <a:ext uri="{FF2B5EF4-FFF2-40B4-BE49-F238E27FC236}">
                <a16:creationId xmlns:a16="http://schemas.microsoft.com/office/drawing/2014/main" id="{B59FA383-2AFC-74B1-8A2F-DB535994AB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8689" y="1825625"/>
            <a:ext cx="5294621" cy="4351338"/>
          </a:xfrm>
          <a:prstGeom prst="rect">
            <a:avLst/>
          </a:prstGeom>
        </p:spPr>
      </p:pic>
      <p:sp>
        <p:nvSpPr>
          <p:cNvPr id="4" name="テキスト ボックス 3">
            <a:extLst>
              <a:ext uri="{FF2B5EF4-FFF2-40B4-BE49-F238E27FC236}">
                <a16:creationId xmlns:a16="http://schemas.microsoft.com/office/drawing/2014/main" id="{35278170-0058-64DA-4930-2B7B45D2C4CC}"/>
              </a:ext>
            </a:extLst>
          </p:cNvPr>
          <p:cNvSpPr txBox="1"/>
          <p:nvPr/>
        </p:nvSpPr>
        <p:spPr>
          <a:xfrm>
            <a:off x="3448688" y="6256051"/>
            <a:ext cx="5294622" cy="369332"/>
          </a:xfrm>
          <a:prstGeom prst="rect">
            <a:avLst/>
          </a:prstGeom>
          <a:noFill/>
        </p:spPr>
        <p:txBody>
          <a:bodyPr wrap="square">
            <a:spAutoFit/>
          </a:bodyPr>
          <a:lstStyle/>
          <a:p>
            <a:pPr algn="ctr"/>
            <a:r>
              <a:rPr lang="ja-JP" altLang="en-US" dirty="0"/>
              <a:t>図</a:t>
            </a:r>
            <a:r>
              <a:rPr lang="en-US" altLang="ja-JP" dirty="0"/>
              <a:t>9</a:t>
            </a:r>
            <a:r>
              <a:rPr lang="ja-JP" altLang="en-US" dirty="0"/>
              <a:t>　混同行列</a:t>
            </a:r>
          </a:p>
        </p:txBody>
      </p:sp>
    </p:spTree>
    <p:extLst>
      <p:ext uri="{BB962C8B-B14F-4D97-AF65-F5344CB8AC3E}">
        <p14:creationId xmlns:p14="http://schemas.microsoft.com/office/powerpoint/2010/main" val="2264925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D0E06C-6D91-BEA5-9A41-BD1649E195AE}"/>
              </a:ext>
            </a:extLst>
          </p:cNvPr>
          <p:cNvSpPr>
            <a:spLocks noGrp="1"/>
          </p:cNvSpPr>
          <p:nvPr>
            <p:ph type="title"/>
          </p:nvPr>
        </p:nvSpPr>
        <p:spPr/>
        <p:txBody>
          <a:bodyPr/>
          <a:lstStyle/>
          <a:p>
            <a:r>
              <a:rPr kumimoji="1" lang="en-US" altLang="ja-JP" dirty="0"/>
              <a:t>One</a:t>
            </a:r>
            <a:r>
              <a:rPr kumimoji="1" lang="ja-JP" altLang="en-US" dirty="0"/>
              <a:t> </a:t>
            </a:r>
            <a:r>
              <a:rPr kumimoji="1" lang="en-US" altLang="ja-JP" dirty="0"/>
              <a:t>vs</a:t>
            </a:r>
            <a:r>
              <a:rPr kumimoji="1" lang="ja-JP" altLang="en-US" dirty="0"/>
              <a:t> </a:t>
            </a:r>
            <a:r>
              <a:rPr kumimoji="1" lang="en-US" altLang="ja-JP" dirty="0"/>
              <a:t>Rest</a:t>
            </a:r>
            <a:r>
              <a:rPr kumimoji="1" lang="ja-JP" altLang="en-US" dirty="0"/>
              <a:t>方式による評価</a:t>
            </a:r>
          </a:p>
        </p:txBody>
      </p:sp>
      <p:sp>
        <p:nvSpPr>
          <p:cNvPr id="3" name="コンテンツ プレースホルダー 2">
            <a:extLst>
              <a:ext uri="{FF2B5EF4-FFF2-40B4-BE49-F238E27FC236}">
                <a16:creationId xmlns:a16="http://schemas.microsoft.com/office/drawing/2014/main" id="{68AD6735-40CC-CB59-7C5D-9BC3E29B7356}"/>
              </a:ext>
            </a:extLst>
          </p:cNvPr>
          <p:cNvSpPr>
            <a:spLocks noGrp="1"/>
          </p:cNvSpPr>
          <p:nvPr>
            <p:ph idx="1"/>
          </p:nvPr>
        </p:nvSpPr>
        <p:spPr>
          <a:xfrm>
            <a:off x="838200" y="1825625"/>
            <a:ext cx="5294621" cy="4351338"/>
          </a:xfrm>
        </p:spPr>
        <p:txBody>
          <a:bodyPr/>
          <a:lstStyle/>
          <a:p>
            <a:r>
              <a:rPr kumimoji="1" lang="ja-JP" altLang="en-US" dirty="0"/>
              <a:t>注目したいクラスを正例，それ以外を負例と見なす</a:t>
            </a:r>
            <a:r>
              <a:rPr lang="ja-JP" altLang="en-US" dirty="0"/>
              <a:t>評価法</a:t>
            </a:r>
            <a:endParaRPr lang="en-US" altLang="ja-JP" dirty="0"/>
          </a:p>
          <a:p>
            <a:r>
              <a:rPr kumimoji="1" lang="ja-JP" altLang="en-US" dirty="0"/>
              <a:t>対象のグレードのみを正解ラベルとすることで，</a:t>
            </a:r>
            <a:r>
              <a:rPr kumimoji="1" lang="en-US" altLang="ja-JP" dirty="0"/>
              <a:t>2</a:t>
            </a:r>
            <a:r>
              <a:rPr lang="ja-JP" altLang="en-US" dirty="0"/>
              <a:t>値分類のタスクと見なすことができる．</a:t>
            </a:r>
            <a:endParaRPr kumimoji="1" lang="en-US" altLang="ja-JP" dirty="0"/>
          </a:p>
        </p:txBody>
      </p:sp>
      <p:sp>
        <p:nvSpPr>
          <p:cNvPr id="9" name="テキスト ボックス 8">
            <a:extLst>
              <a:ext uri="{FF2B5EF4-FFF2-40B4-BE49-F238E27FC236}">
                <a16:creationId xmlns:a16="http://schemas.microsoft.com/office/drawing/2014/main" id="{587E8307-68AC-4EBC-3111-BF0B677B6540}"/>
              </a:ext>
            </a:extLst>
          </p:cNvPr>
          <p:cNvSpPr txBox="1"/>
          <p:nvPr/>
        </p:nvSpPr>
        <p:spPr>
          <a:xfrm>
            <a:off x="6132820" y="6256051"/>
            <a:ext cx="5220979" cy="369332"/>
          </a:xfrm>
          <a:prstGeom prst="rect">
            <a:avLst/>
          </a:prstGeom>
          <a:noFill/>
        </p:spPr>
        <p:txBody>
          <a:bodyPr wrap="square">
            <a:spAutoFit/>
          </a:bodyPr>
          <a:lstStyle/>
          <a:p>
            <a:pPr algn="ctr"/>
            <a:r>
              <a:rPr lang="ja-JP" altLang="en-US" dirty="0"/>
              <a:t>図</a:t>
            </a:r>
            <a:r>
              <a:rPr lang="en-US" altLang="ja-JP" dirty="0"/>
              <a:t>9</a:t>
            </a:r>
            <a:r>
              <a:rPr lang="ja-JP" altLang="en-US" dirty="0"/>
              <a:t>　</a:t>
            </a:r>
            <a:r>
              <a:rPr lang="en-US" altLang="ja-JP" dirty="0"/>
              <a:t>One vs Rest</a:t>
            </a:r>
            <a:r>
              <a:rPr lang="ja-JP" altLang="en-US" dirty="0"/>
              <a:t>方式の概念図</a:t>
            </a:r>
          </a:p>
        </p:txBody>
      </p:sp>
      <p:grpSp>
        <p:nvGrpSpPr>
          <p:cNvPr id="5" name="グループ化 4">
            <a:extLst>
              <a:ext uri="{FF2B5EF4-FFF2-40B4-BE49-F238E27FC236}">
                <a16:creationId xmlns:a16="http://schemas.microsoft.com/office/drawing/2014/main" id="{77275C66-C0FB-85F9-4F39-2FA9115ABCD8}"/>
              </a:ext>
            </a:extLst>
          </p:cNvPr>
          <p:cNvGrpSpPr/>
          <p:nvPr/>
        </p:nvGrpSpPr>
        <p:grpSpPr>
          <a:xfrm>
            <a:off x="6059179" y="1825625"/>
            <a:ext cx="5294621" cy="4351338"/>
            <a:chOff x="6059179" y="1825625"/>
            <a:chExt cx="5294621" cy="4351338"/>
          </a:xfrm>
        </p:grpSpPr>
        <p:pic>
          <p:nvPicPr>
            <p:cNvPr id="4" name="図 3" descr="グラフ&#10;&#10;低い精度で自動的に生成された説明">
              <a:extLst>
                <a:ext uri="{FF2B5EF4-FFF2-40B4-BE49-F238E27FC236}">
                  <a16:creationId xmlns:a16="http://schemas.microsoft.com/office/drawing/2014/main" id="{B839C274-F78A-77DD-27FF-C5E838391D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9179" y="1825625"/>
              <a:ext cx="5294621" cy="4351338"/>
            </a:xfrm>
            <a:prstGeom prst="rect">
              <a:avLst/>
            </a:prstGeom>
          </p:spPr>
        </p:pic>
        <p:sp>
          <p:nvSpPr>
            <p:cNvPr id="6" name="正方形/長方形 5">
              <a:extLst>
                <a:ext uri="{FF2B5EF4-FFF2-40B4-BE49-F238E27FC236}">
                  <a16:creationId xmlns:a16="http://schemas.microsoft.com/office/drawing/2014/main" id="{1139E9AE-DB2A-272F-CF2C-3E93DE4C1350}"/>
                </a:ext>
              </a:extLst>
            </p:cNvPr>
            <p:cNvSpPr/>
            <p:nvPr/>
          </p:nvSpPr>
          <p:spPr>
            <a:xfrm>
              <a:off x="7340600" y="2686049"/>
              <a:ext cx="755650" cy="73660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latin typeface="Times New Roman" panose="02020603050405020304" pitchFamily="18" charset="0"/>
                  <a:cs typeface="Times New Roman" panose="02020603050405020304" pitchFamily="18" charset="0"/>
                </a:rPr>
                <a:t>TP</a:t>
              </a:r>
              <a:endParaRPr kumimoji="1" lang="ja-JP" altLang="en-US" dirty="0">
                <a:latin typeface="Times New Roman" panose="02020603050405020304" pitchFamily="18" charset="0"/>
                <a:cs typeface="Times New Roman" panose="02020603050405020304" pitchFamily="18" charset="0"/>
              </a:endParaRPr>
            </a:p>
          </p:txBody>
        </p:sp>
        <p:sp>
          <p:nvSpPr>
            <p:cNvPr id="10" name="正方形/長方形 9">
              <a:extLst>
                <a:ext uri="{FF2B5EF4-FFF2-40B4-BE49-F238E27FC236}">
                  <a16:creationId xmlns:a16="http://schemas.microsoft.com/office/drawing/2014/main" id="{8D5726E8-932D-C152-C8F5-927244A399CF}"/>
                </a:ext>
              </a:extLst>
            </p:cNvPr>
            <p:cNvSpPr/>
            <p:nvPr/>
          </p:nvSpPr>
          <p:spPr>
            <a:xfrm>
              <a:off x="8096249" y="2686048"/>
              <a:ext cx="2266949" cy="736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Times New Roman" panose="02020603050405020304" pitchFamily="18" charset="0"/>
                  <a:cs typeface="Times New Roman" panose="02020603050405020304" pitchFamily="18" charset="0"/>
                </a:rPr>
                <a:t>FN</a:t>
              </a:r>
              <a:endParaRPr kumimoji="1" lang="ja-JP" altLang="en-US" dirty="0">
                <a:latin typeface="Times New Roman" panose="02020603050405020304" pitchFamily="18" charset="0"/>
                <a:cs typeface="Times New Roman" panose="02020603050405020304" pitchFamily="18" charset="0"/>
              </a:endParaRPr>
            </a:p>
          </p:txBody>
        </p:sp>
        <p:sp>
          <p:nvSpPr>
            <p:cNvPr id="11" name="正方形/長方形 10">
              <a:extLst>
                <a:ext uri="{FF2B5EF4-FFF2-40B4-BE49-F238E27FC236}">
                  <a16:creationId xmlns:a16="http://schemas.microsoft.com/office/drawing/2014/main" id="{87483977-21E6-E229-4C4B-0ED1DC9261F9}"/>
                </a:ext>
              </a:extLst>
            </p:cNvPr>
            <p:cNvSpPr/>
            <p:nvPr/>
          </p:nvSpPr>
          <p:spPr>
            <a:xfrm>
              <a:off x="6584950" y="2673348"/>
              <a:ext cx="755649" cy="7366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Times New Roman" panose="02020603050405020304" pitchFamily="18" charset="0"/>
                  <a:cs typeface="Times New Roman" panose="02020603050405020304" pitchFamily="18" charset="0"/>
                </a:rPr>
                <a:t>FN</a:t>
              </a:r>
              <a:endParaRPr kumimoji="1" lang="ja-JP" altLang="en-US" dirty="0">
                <a:latin typeface="Times New Roman" panose="02020603050405020304" pitchFamily="18" charset="0"/>
                <a:cs typeface="Times New Roman" panose="02020603050405020304" pitchFamily="18" charset="0"/>
              </a:endParaRPr>
            </a:p>
          </p:txBody>
        </p:sp>
        <p:sp>
          <p:nvSpPr>
            <p:cNvPr id="12" name="正方形/長方形 11">
              <a:extLst>
                <a:ext uri="{FF2B5EF4-FFF2-40B4-BE49-F238E27FC236}">
                  <a16:creationId xmlns:a16="http://schemas.microsoft.com/office/drawing/2014/main" id="{B13674F4-CF82-5CAA-3E9C-9A2CAD6A0004}"/>
                </a:ext>
              </a:extLst>
            </p:cNvPr>
            <p:cNvSpPr/>
            <p:nvPr/>
          </p:nvSpPr>
          <p:spPr>
            <a:xfrm>
              <a:off x="7340600" y="3429001"/>
              <a:ext cx="755649" cy="2219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en-US" altLang="ja-JP" dirty="0">
                  <a:latin typeface="Times New Roman" panose="02020603050405020304" pitchFamily="18" charset="0"/>
                  <a:cs typeface="Times New Roman" panose="02020603050405020304" pitchFamily="18" charset="0"/>
                </a:rPr>
                <a:t>FP</a:t>
              </a:r>
              <a:endParaRPr kumimoji="1" lang="ja-JP" altLang="en-US" dirty="0">
                <a:latin typeface="Times New Roman" panose="02020603050405020304" pitchFamily="18" charset="0"/>
                <a:cs typeface="Times New Roman" panose="02020603050405020304" pitchFamily="18" charset="0"/>
              </a:endParaRPr>
            </a:p>
          </p:txBody>
        </p:sp>
        <p:sp>
          <p:nvSpPr>
            <p:cNvPr id="13" name="正方形/長方形 12">
              <a:extLst>
                <a:ext uri="{FF2B5EF4-FFF2-40B4-BE49-F238E27FC236}">
                  <a16:creationId xmlns:a16="http://schemas.microsoft.com/office/drawing/2014/main" id="{38B00DE8-F97B-DA70-1606-6C7DE33779C5}"/>
                </a:ext>
              </a:extLst>
            </p:cNvPr>
            <p:cNvSpPr/>
            <p:nvPr/>
          </p:nvSpPr>
          <p:spPr>
            <a:xfrm>
              <a:off x="7331870" y="1930400"/>
              <a:ext cx="755649" cy="75564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en-US" altLang="ja-JP" dirty="0">
                  <a:latin typeface="Times New Roman" panose="02020603050405020304" pitchFamily="18" charset="0"/>
                  <a:cs typeface="Times New Roman" panose="02020603050405020304" pitchFamily="18" charset="0"/>
                </a:rPr>
                <a:t>FP</a:t>
              </a:r>
              <a:endParaRPr kumimoji="1" lang="ja-JP" altLang="en-US" dirty="0">
                <a:latin typeface="Times New Roman" panose="02020603050405020304" pitchFamily="18" charset="0"/>
                <a:cs typeface="Times New Roman" panose="02020603050405020304" pitchFamily="18" charset="0"/>
              </a:endParaRPr>
            </a:p>
          </p:txBody>
        </p:sp>
        <p:sp>
          <p:nvSpPr>
            <p:cNvPr id="14" name="正方形/長方形 13">
              <a:extLst>
                <a:ext uri="{FF2B5EF4-FFF2-40B4-BE49-F238E27FC236}">
                  <a16:creationId xmlns:a16="http://schemas.microsoft.com/office/drawing/2014/main" id="{D36EE975-75D9-ABE7-347B-FE185CEA5FA9}"/>
                </a:ext>
              </a:extLst>
            </p:cNvPr>
            <p:cNvSpPr/>
            <p:nvPr/>
          </p:nvSpPr>
          <p:spPr>
            <a:xfrm>
              <a:off x="8104980" y="3435350"/>
              <a:ext cx="2258217" cy="221297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dirty="0">
                  <a:latin typeface="Times New Roman" panose="02020603050405020304" pitchFamily="18" charset="0"/>
                  <a:cs typeface="Times New Roman" panose="02020603050405020304" pitchFamily="18" charset="0"/>
                </a:rPr>
                <a:t>TN</a:t>
              </a:r>
              <a:endParaRPr kumimoji="1" lang="ja-JP" altLang="en-US" dirty="0">
                <a:latin typeface="Times New Roman" panose="02020603050405020304" pitchFamily="18" charset="0"/>
                <a:cs typeface="Times New Roman" panose="02020603050405020304" pitchFamily="18" charset="0"/>
              </a:endParaRPr>
            </a:p>
          </p:txBody>
        </p:sp>
        <p:sp>
          <p:nvSpPr>
            <p:cNvPr id="16" name="正方形/長方形 15">
              <a:extLst>
                <a:ext uri="{FF2B5EF4-FFF2-40B4-BE49-F238E27FC236}">
                  <a16:creationId xmlns:a16="http://schemas.microsoft.com/office/drawing/2014/main" id="{33F93116-72B9-B019-5B60-E6B5DA8637DB}"/>
                </a:ext>
              </a:extLst>
            </p:cNvPr>
            <p:cNvSpPr/>
            <p:nvPr/>
          </p:nvSpPr>
          <p:spPr>
            <a:xfrm>
              <a:off x="6580585" y="3435350"/>
              <a:ext cx="751285" cy="221297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dirty="0">
                  <a:latin typeface="Times New Roman" panose="02020603050405020304" pitchFamily="18" charset="0"/>
                  <a:cs typeface="Times New Roman" panose="02020603050405020304" pitchFamily="18" charset="0"/>
                </a:rPr>
                <a:t>TN</a:t>
              </a:r>
              <a:endParaRPr kumimoji="1" lang="ja-JP" altLang="en-US" dirty="0">
                <a:latin typeface="Times New Roman" panose="02020603050405020304" pitchFamily="18" charset="0"/>
                <a:cs typeface="Times New Roman" panose="02020603050405020304" pitchFamily="18" charset="0"/>
              </a:endParaRPr>
            </a:p>
          </p:txBody>
        </p:sp>
        <p:sp>
          <p:nvSpPr>
            <p:cNvPr id="17" name="正方形/長方形 16">
              <a:extLst>
                <a:ext uri="{FF2B5EF4-FFF2-40B4-BE49-F238E27FC236}">
                  <a16:creationId xmlns:a16="http://schemas.microsoft.com/office/drawing/2014/main" id="{E81A7774-7924-63C4-4837-704B58297636}"/>
                </a:ext>
              </a:extLst>
            </p:cNvPr>
            <p:cNvSpPr/>
            <p:nvPr/>
          </p:nvSpPr>
          <p:spPr>
            <a:xfrm>
              <a:off x="6571056" y="1930400"/>
              <a:ext cx="751285" cy="71754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dirty="0">
                  <a:latin typeface="Times New Roman" panose="02020603050405020304" pitchFamily="18" charset="0"/>
                  <a:cs typeface="Times New Roman" panose="02020603050405020304" pitchFamily="18" charset="0"/>
                </a:rPr>
                <a:t>TN</a:t>
              </a:r>
              <a:endParaRPr kumimoji="1" lang="ja-JP" altLang="en-US" dirty="0">
                <a:latin typeface="Times New Roman" panose="02020603050405020304" pitchFamily="18" charset="0"/>
                <a:cs typeface="Times New Roman" panose="02020603050405020304" pitchFamily="18" charset="0"/>
              </a:endParaRPr>
            </a:p>
          </p:txBody>
        </p:sp>
        <p:sp>
          <p:nvSpPr>
            <p:cNvPr id="18" name="正方形/長方形 17">
              <a:extLst>
                <a:ext uri="{FF2B5EF4-FFF2-40B4-BE49-F238E27FC236}">
                  <a16:creationId xmlns:a16="http://schemas.microsoft.com/office/drawing/2014/main" id="{C0F14899-3864-26B6-599B-3C5908F5751C}"/>
                </a:ext>
              </a:extLst>
            </p:cNvPr>
            <p:cNvSpPr/>
            <p:nvPr/>
          </p:nvSpPr>
          <p:spPr>
            <a:xfrm>
              <a:off x="8104980" y="1930400"/>
              <a:ext cx="2266949" cy="71754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dirty="0">
                  <a:latin typeface="Times New Roman" panose="02020603050405020304" pitchFamily="18" charset="0"/>
                  <a:cs typeface="Times New Roman" panose="02020603050405020304" pitchFamily="18" charset="0"/>
                </a:rPr>
                <a:t>TN</a:t>
              </a:r>
              <a:endParaRPr kumimoji="1" lang="ja-JP" altLang="en-US" dirty="0">
                <a:latin typeface="Times New Roman" panose="02020603050405020304" pitchFamily="18" charset="0"/>
                <a:cs typeface="Times New Roman" panose="02020603050405020304" pitchFamily="18" charset="0"/>
              </a:endParaRPr>
            </a:p>
          </p:txBody>
        </p:sp>
        <p:sp>
          <p:nvSpPr>
            <p:cNvPr id="7" name="正方形/長方形 6">
              <a:extLst>
                <a:ext uri="{FF2B5EF4-FFF2-40B4-BE49-F238E27FC236}">
                  <a16:creationId xmlns:a16="http://schemas.microsoft.com/office/drawing/2014/main" id="{97D9F766-5EBF-EEC9-D974-AAC7F0405199}"/>
                </a:ext>
              </a:extLst>
            </p:cNvPr>
            <p:cNvSpPr/>
            <p:nvPr/>
          </p:nvSpPr>
          <p:spPr>
            <a:xfrm>
              <a:off x="7340600" y="1930400"/>
              <a:ext cx="755650" cy="371792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8" name="正方形/長方形 7">
              <a:extLst>
                <a:ext uri="{FF2B5EF4-FFF2-40B4-BE49-F238E27FC236}">
                  <a16:creationId xmlns:a16="http://schemas.microsoft.com/office/drawing/2014/main" id="{B9E303AF-620A-5C3F-A196-A4179AAB4115}"/>
                </a:ext>
              </a:extLst>
            </p:cNvPr>
            <p:cNvSpPr/>
            <p:nvPr/>
          </p:nvSpPr>
          <p:spPr>
            <a:xfrm>
              <a:off x="6580586" y="2686049"/>
              <a:ext cx="3782614" cy="736601"/>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grpSp>
      <p:graphicFrame>
        <p:nvGraphicFramePr>
          <p:cNvPr id="20" name="表 19">
            <a:extLst>
              <a:ext uri="{FF2B5EF4-FFF2-40B4-BE49-F238E27FC236}">
                <a16:creationId xmlns:a16="http://schemas.microsoft.com/office/drawing/2014/main" id="{F06B8933-8881-5E19-56DB-3DCEF42E45BD}"/>
              </a:ext>
            </a:extLst>
          </p:cNvPr>
          <p:cNvGraphicFramePr>
            <a:graphicFrameLocks noGrp="1"/>
          </p:cNvGraphicFramePr>
          <p:nvPr>
            <p:extLst>
              <p:ext uri="{D42A27DB-BD31-4B8C-83A1-F6EECF244321}">
                <p14:modId xmlns:p14="http://schemas.microsoft.com/office/powerpoint/2010/main" val="461106528"/>
              </p:ext>
            </p:extLst>
          </p:nvPr>
        </p:nvGraphicFramePr>
        <p:xfrm>
          <a:off x="838199" y="4105273"/>
          <a:ext cx="5212252" cy="2071688"/>
        </p:xfrm>
        <a:graphic>
          <a:graphicData uri="http://schemas.openxmlformats.org/drawingml/2006/table">
            <a:tbl>
              <a:tblPr>
                <a:tableStyleId>{073A0DAA-6AF3-43AB-8588-CEC1D06C72B9}</a:tableStyleId>
              </a:tblPr>
              <a:tblGrid>
                <a:gridCol w="1303063">
                  <a:extLst>
                    <a:ext uri="{9D8B030D-6E8A-4147-A177-3AD203B41FA5}">
                      <a16:colId xmlns:a16="http://schemas.microsoft.com/office/drawing/2014/main" val="3294877775"/>
                    </a:ext>
                  </a:extLst>
                </a:gridCol>
                <a:gridCol w="1303063">
                  <a:extLst>
                    <a:ext uri="{9D8B030D-6E8A-4147-A177-3AD203B41FA5}">
                      <a16:colId xmlns:a16="http://schemas.microsoft.com/office/drawing/2014/main" val="3321543517"/>
                    </a:ext>
                  </a:extLst>
                </a:gridCol>
                <a:gridCol w="1303063">
                  <a:extLst>
                    <a:ext uri="{9D8B030D-6E8A-4147-A177-3AD203B41FA5}">
                      <a16:colId xmlns:a16="http://schemas.microsoft.com/office/drawing/2014/main" val="3597226518"/>
                    </a:ext>
                  </a:extLst>
                </a:gridCol>
                <a:gridCol w="1303063">
                  <a:extLst>
                    <a:ext uri="{9D8B030D-6E8A-4147-A177-3AD203B41FA5}">
                      <a16:colId xmlns:a16="http://schemas.microsoft.com/office/drawing/2014/main" val="2757656922"/>
                    </a:ext>
                  </a:extLst>
                </a:gridCol>
              </a:tblGrid>
              <a:tr h="517922">
                <a:tc>
                  <a:txBody>
                    <a:bodyPr/>
                    <a:lstStyle/>
                    <a:p>
                      <a:pPr algn="ctr"/>
                      <a:endParaRPr kumimoji="1" lang="ja-JP"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kumimoji="1" lang="ja-JP" altLang="en-US" dirty="0">
                        <a:latin typeface="Times New Roman" panose="02020603050405020304" pitchFamily="18" charset="0"/>
                        <a:cs typeface="Times New Roman" panose="02020603050405020304" pitchFamily="18" charset="0"/>
                      </a:endParaRPr>
                    </a:p>
                  </a:txBody>
                  <a:tcPr anchor="ctr">
                    <a:solidFill>
                      <a:schemeClr val="bg1"/>
                    </a:solidFill>
                  </a:tcPr>
                </a:tc>
                <a:tc gridSpan="2">
                  <a:txBody>
                    <a:bodyPr/>
                    <a:lstStyle/>
                    <a:p>
                      <a:pPr algn="ctr"/>
                      <a:r>
                        <a:rPr kumimoji="1" lang="en-US" altLang="ja-JP" dirty="0">
                          <a:latin typeface="Times New Roman" panose="02020603050405020304" pitchFamily="18" charset="0"/>
                          <a:cs typeface="Times New Roman" panose="02020603050405020304" pitchFamily="18" charset="0"/>
                        </a:rPr>
                        <a:t>True</a:t>
                      </a:r>
                      <a:endParaRPr kumimoji="1" lang="ja-JP" altLang="en-US" dirty="0">
                        <a:latin typeface="Times New Roman" panose="02020603050405020304" pitchFamily="18" charset="0"/>
                        <a:cs typeface="Times New Roman" panose="02020603050405020304" pitchFamily="18" charset="0"/>
                      </a:endParaRPr>
                    </a:p>
                  </a:txBody>
                  <a:tcPr anchor="ctr"/>
                </a:tc>
                <a:tc hMerge="1">
                  <a:txBody>
                    <a:bodyPr/>
                    <a:lstStyle/>
                    <a:p>
                      <a:endParaRPr kumimoji="1" lang="ja-JP" altLang="en-US" dirty="0"/>
                    </a:p>
                  </a:txBody>
                  <a:tcPr/>
                </a:tc>
                <a:extLst>
                  <a:ext uri="{0D108BD9-81ED-4DB2-BD59-A6C34878D82A}">
                    <a16:rowId xmlns:a16="http://schemas.microsoft.com/office/drawing/2014/main" val="3322549363"/>
                  </a:ext>
                </a:extLst>
              </a:tr>
              <a:tr h="517922">
                <a:tc>
                  <a:txBody>
                    <a:bodyPr/>
                    <a:lstStyle/>
                    <a:p>
                      <a:pPr algn="ctr"/>
                      <a:endParaRPr kumimoji="1" lang="ja-JP"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endParaRPr kumimoji="1" lang="ja-JP"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kumimoji="1" lang="en-US" altLang="ja-JP" dirty="0">
                          <a:latin typeface="Times New Roman" panose="02020603050405020304" pitchFamily="18" charset="0"/>
                          <a:cs typeface="Times New Roman" panose="02020603050405020304" pitchFamily="18" charset="0"/>
                        </a:rPr>
                        <a:t>Positive</a:t>
                      </a:r>
                      <a:endParaRPr kumimoji="1" lang="ja-JP" alt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pPr algn="ctr"/>
                      <a:r>
                        <a:rPr kumimoji="1" lang="en-US" altLang="ja-JP" dirty="0">
                          <a:latin typeface="Times New Roman" panose="02020603050405020304" pitchFamily="18" charset="0"/>
                          <a:cs typeface="Times New Roman" panose="02020603050405020304" pitchFamily="18" charset="0"/>
                        </a:rPr>
                        <a:t>Negative</a:t>
                      </a:r>
                      <a:endParaRPr kumimoji="1" lang="ja-JP" altLang="en-US" dirty="0">
                        <a:latin typeface="Times New Roman" panose="02020603050405020304" pitchFamily="18" charset="0"/>
                        <a:cs typeface="Times New Roman" panose="02020603050405020304" pitchFamily="18" charset="0"/>
                      </a:endParaRPr>
                    </a:p>
                  </a:txBody>
                  <a:tcPr anchor="ctr">
                    <a:solidFill>
                      <a:schemeClr val="bg2"/>
                    </a:solidFill>
                  </a:tcPr>
                </a:tc>
                <a:extLst>
                  <a:ext uri="{0D108BD9-81ED-4DB2-BD59-A6C34878D82A}">
                    <a16:rowId xmlns:a16="http://schemas.microsoft.com/office/drawing/2014/main" val="2461449595"/>
                  </a:ext>
                </a:extLst>
              </a:tr>
              <a:tr h="517922">
                <a:tc rowSpan="2">
                  <a:txBody>
                    <a:bodyPr/>
                    <a:lstStyle/>
                    <a:p>
                      <a:pPr algn="ctr"/>
                      <a:r>
                        <a:rPr kumimoji="1" lang="en-US" altLang="ja-JP" dirty="0">
                          <a:latin typeface="Times New Roman" panose="02020603050405020304" pitchFamily="18" charset="0"/>
                          <a:cs typeface="Times New Roman" panose="02020603050405020304" pitchFamily="18" charset="0"/>
                        </a:rPr>
                        <a:t>Predict</a:t>
                      </a:r>
                      <a:endParaRPr kumimoji="1" lang="ja-JP" altLang="en-US" dirty="0">
                        <a:latin typeface="Times New Roman" panose="02020603050405020304" pitchFamily="18" charset="0"/>
                        <a:cs typeface="Times New Roman" panose="02020603050405020304" pitchFamily="18" charset="0"/>
                      </a:endParaRPr>
                    </a:p>
                  </a:txBody>
                  <a:tcPr anchor="ctr"/>
                </a:tc>
                <a:tc>
                  <a:txBody>
                    <a:bodyPr/>
                    <a:lstStyle/>
                    <a:p>
                      <a:pPr algn="ctr"/>
                      <a:r>
                        <a:rPr kumimoji="1" lang="en-US" altLang="ja-JP" dirty="0">
                          <a:latin typeface="Times New Roman" panose="02020603050405020304" pitchFamily="18" charset="0"/>
                          <a:cs typeface="Times New Roman" panose="02020603050405020304" pitchFamily="18" charset="0"/>
                        </a:rPr>
                        <a:t>Positive</a:t>
                      </a:r>
                      <a:endParaRPr kumimoji="1" lang="ja-JP" alt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pPr algn="ctr"/>
                      <a:r>
                        <a:rPr kumimoji="1" lang="en-US" altLang="ja-JP" dirty="0">
                          <a:solidFill>
                            <a:schemeClr val="bg1"/>
                          </a:solidFill>
                          <a:latin typeface="Times New Roman" panose="02020603050405020304" pitchFamily="18" charset="0"/>
                          <a:cs typeface="Times New Roman" panose="02020603050405020304" pitchFamily="18" charset="0"/>
                        </a:rPr>
                        <a:t>TP</a:t>
                      </a:r>
                      <a:endParaRPr kumimoji="1" lang="ja-JP" altLang="en-US" dirty="0">
                        <a:solidFill>
                          <a:schemeClr val="bg1"/>
                        </a:solidFill>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pPr algn="ctr"/>
                      <a:r>
                        <a:rPr kumimoji="1" lang="en-US" altLang="ja-JP" dirty="0">
                          <a:solidFill>
                            <a:schemeClr val="bg1"/>
                          </a:solidFill>
                          <a:latin typeface="Times New Roman" panose="02020603050405020304" pitchFamily="18" charset="0"/>
                          <a:cs typeface="Times New Roman" panose="02020603050405020304" pitchFamily="18" charset="0"/>
                        </a:rPr>
                        <a:t>FP</a:t>
                      </a:r>
                      <a:endParaRPr kumimoji="1" lang="ja-JP" altLang="en-US" dirty="0">
                        <a:solidFill>
                          <a:schemeClr val="bg1"/>
                        </a:solidFill>
                        <a:latin typeface="Times New Roman" panose="02020603050405020304" pitchFamily="18" charset="0"/>
                        <a:cs typeface="Times New Roman" panose="02020603050405020304" pitchFamily="18" charset="0"/>
                      </a:endParaRPr>
                    </a:p>
                  </a:txBody>
                  <a:tcPr anchor="ctr">
                    <a:solidFill>
                      <a:schemeClr val="accent6"/>
                    </a:solidFill>
                  </a:tcPr>
                </a:tc>
                <a:extLst>
                  <a:ext uri="{0D108BD9-81ED-4DB2-BD59-A6C34878D82A}">
                    <a16:rowId xmlns:a16="http://schemas.microsoft.com/office/drawing/2014/main" val="78037456"/>
                  </a:ext>
                </a:extLst>
              </a:tr>
              <a:tr h="517922">
                <a:tc vMerge="1">
                  <a:txBody>
                    <a:bodyPr/>
                    <a:lstStyle/>
                    <a:p>
                      <a:endParaRPr kumimoji="1" lang="ja-JP" altLang="en-US" dirty="0"/>
                    </a:p>
                  </a:txBody>
                  <a:tcPr/>
                </a:tc>
                <a:tc>
                  <a:txBody>
                    <a:bodyPr/>
                    <a:lstStyle/>
                    <a:p>
                      <a:pPr algn="ctr"/>
                      <a:r>
                        <a:rPr kumimoji="1" lang="en-US" altLang="ja-JP" dirty="0">
                          <a:latin typeface="Times New Roman" panose="02020603050405020304" pitchFamily="18" charset="0"/>
                          <a:cs typeface="Times New Roman" panose="02020603050405020304" pitchFamily="18" charset="0"/>
                        </a:rPr>
                        <a:t>Negative</a:t>
                      </a:r>
                      <a:endParaRPr kumimoji="1" lang="ja-JP" alt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pPr algn="ctr"/>
                      <a:r>
                        <a:rPr kumimoji="1" lang="en-US" altLang="ja-JP" dirty="0">
                          <a:solidFill>
                            <a:schemeClr val="bg1"/>
                          </a:solidFill>
                          <a:latin typeface="Times New Roman" panose="02020603050405020304" pitchFamily="18" charset="0"/>
                          <a:cs typeface="Times New Roman" panose="02020603050405020304" pitchFamily="18" charset="0"/>
                        </a:rPr>
                        <a:t>FN</a:t>
                      </a:r>
                      <a:endParaRPr kumimoji="1" lang="ja-JP" altLang="en-US" dirty="0">
                        <a:solidFill>
                          <a:schemeClr val="bg1"/>
                        </a:solidFill>
                        <a:latin typeface="Times New Roman" panose="02020603050405020304" pitchFamily="18" charset="0"/>
                        <a:cs typeface="Times New Roman" panose="02020603050405020304" pitchFamily="18" charset="0"/>
                      </a:endParaRPr>
                    </a:p>
                  </a:txBody>
                  <a:tcPr anchor="ctr">
                    <a:solidFill>
                      <a:schemeClr val="accent1"/>
                    </a:solidFill>
                  </a:tcPr>
                </a:tc>
                <a:tc>
                  <a:txBody>
                    <a:bodyPr/>
                    <a:lstStyle/>
                    <a:p>
                      <a:pPr algn="ctr"/>
                      <a:r>
                        <a:rPr kumimoji="1" lang="en-US" altLang="ja-JP" dirty="0">
                          <a:solidFill>
                            <a:schemeClr val="bg1"/>
                          </a:solidFill>
                          <a:latin typeface="Times New Roman" panose="02020603050405020304" pitchFamily="18" charset="0"/>
                          <a:cs typeface="Times New Roman" panose="02020603050405020304" pitchFamily="18" charset="0"/>
                        </a:rPr>
                        <a:t>TN</a:t>
                      </a:r>
                      <a:endParaRPr kumimoji="1" lang="ja-JP" altLang="en-US" dirty="0">
                        <a:solidFill>
                          <a:schemeClr val="bg1"/>
                        </a:solidFill>
                        <a:latin typeface="Times New Roman" panose="02020603050405020304" pitchFamily="18" charset="0"/>
                        <a:cs typeface="Times New Roman" panose="02020603050405020304" pitchFamily="18" charset="0"/>
                      </a:endParaRPr>
                    </a:p>
                  </a:txBody>
                  <a:tcPr anchor="ctr">
                    <a:solidFill>
                      <a:schemeClr val="accent4"/>
                    </a:solidFill>
                  </a:tcPr>
                </a:tc>
                <a:extLst>
                  <a:ext uri="{0D108BD9-81ED-4DB2-BD59-A6C34878D82A}">
                    <a16:rowId xmlns:a16="http://schemas.microsoft.com/office/drawing/2014/main" val="2673582913"/>
                  </a:ext>
                </a:extLst>
              </a:tr>
            </a:tbl>
          </a:graphicData>
        </a:graphic>
      </p:graphicFrame>
      <p:sp>
        <p:nvSpPr>
          <p:cNvPr id="21" name="テキスト ボックス 20">
            <a:extLst>
              <a:ext uri="{FF2B5EF4-FFF2-40B4-BE49-F238E27FC236}">
                <a16:creationId xmlns:a16="http://schemas.microsoft.com/office/drawing/2014/main" id="{B4FFD0A1-4361-D1BB-7350-F02AD76D5D57}"/>
              </a:ext>
            </a:extLst>
          </p:cNvPr>
          <p:cNvSpPr txBox="1"/>
          <p:nvPr/>
        </p:nvSpPr>
        <p:spPr>
          <a:xfrm>
            <a:off x="875020" y="6256051"/>
            <a:ext cx="5220979" cy="369332"/>
          </a:xfrm>
          <a:prstGeom prst="rect">
            <a:avLst/>
          </a:prstGeom>
          <a:noFill/>
        </p:spPr>
        <p:txBody>
          <a:bodyPr wrap="square">
            <a:spAutoFit/>
          </a:bodyPr>
          <a:lstStyle/>
          <a:p>
            <a:pPr algn="ctr"/>
            <a:r>
              <a:rPr lang="ja-JP" altLang="en-US" dirty="0"/>
              <a:t>表</a:t>
            </a:r>
            <a:r>
              <a:rPr lang="en-US" altLang="ja-JP" dirty="0"/>
              <a:t>4</a:t>
            </a:r>
            <a:r>
              <a:rPr lang="ja-JP" altLang="en-US" dirty="0"/>
              <a:t>　</a:t>
            </a:r>
            <a:r>
              <a:rPr lang="en-US" altLang="ja-JP" dirty="0"/>
              <a:t>2</a:t>
            </a:r>
            <a:r>
              <a:rPr lang="ja-JP" altLang="en-US" dirty="0"/>
              <a:t>値分類における混同行列</a:t>
            </a:r>
          </a:p>
        </p:txBody>
      </p:sp>
    </p:spTree>
    <p:extLst>
      <p:ext uri="{BB962C8B-B14F-4D97-AF65-F5344CB8AC3E}">
        <p14:creationId xmlns:p14="http://schemas.microsoft.com/office/powerpoint/2010/main" val="45753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B1A728-CDB6-EED7-14C6-8C442E1BB1A6}"/>
              </a:ext>
            </a:extLst>
          </p:cNvPr>
          <p:cNvSpPr>
            <a:spLocks noGrp="1"/>
          </p:cNvSpPr>
          <p:nvPr>
            <p:ph type="title"/>
          </p:nvPr>
        </p:nvSpPr>
        <p:spPr/>
        <p:txBody>
          <a:bodyPr/>
          <a:lstStyle/>
          <a:p>
            <a:r>
              <a:rPr lang="ja-JP" altLang="en-US" dirty="0"/>
              <a:t>グレード別性能評価</a:t>
            </a:r>
            <a:endParaRPr kumimoji="1" lang="ja-JP" altLang="en-US" dirty="0"/>
          </a:p>
        </p:txBody>
      </p:sp>
      <p:sp>
        <p:nvSpPr>
          <p:cNvPr id="3" name="コンテンツ プレースホルダー 2">
            <a:extLst>
              <a:ext uri="{FF2B5EF4-FFF2-40B4-BE49-F238E27FC236}">
                <a16:creationId xmlns:a16="http://schemas.microsoft.com/office/drawing/2014/main" id="{1F545611-421B-9092-00F2-290813CE8C20}"/>
              </a:ext>
            </a:extLst>
          </p:cNvPr>
          <p:cNvSpPr>
            <a:spLocks noGrp="1"/>
          </p:cNvSpPr>
          <p:nvPr>
            <p:ph idx="1"/>
          </p:nvPr>
        </p:nvSpPr>
        <p:spPr/>
        <p:txBody>
          <a:bodyPr/>
          <a:lstStyle/>
          <a:p>
            <a:r>
              <a:rPr kumimoji="1" lang="en-US" altLang="ja-JP" dirty="0"/>
              <a:t>ROC</a:t>
            </a:r>
            <a:r>
              <a:rPr kumimoji="1" lang="ja-JP" altLang="en-US" dirty="0"/>
              <a:t>曲線と性能指標</a:t>
            </a:r>
          </a:p>
        </p:txBody>
      </p:sp>
      <p:pic>
        <p:nvPicPr>
          <p:cNvPr id="5" name="図 4" descr="テーブル&#10;&#10;自動的に生成された説明">
            <a:extLst>
              <a:ext uri="{FF2B5EF4-FFF2-40B4-BE49-F238E27FC236}">
                <a16:creationId xmlns:a16="http://schemas.microsoft.com/office/drawing/2014/main" id="{66C9E607-23CF-2932-7480-F8844DC23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456" y="3347934"/>
            <a:ext cx="5076544" cy="1276675"/>
          </a:xfrm>
          <a:prstGeom prst="rect">
            <a:avLst/>
          </a:prstGeom>
        </p:spPr>
      </p:pic>
      <p:pic>
        <p:nvPicPr>
          <p:cNvPr id="6" name="コンテンツ プレースホルダー 8" descr="グラフ&#10;&#10;中程度の精度で自動的に生成された説明">
            <a:extLst>
              <a:ext uri="{FF2B5EF4-FFF2-40B4-BE49-F238E27FC236}">
                <a16:creationId xmlns:a16="http://schemas.microsoft.com/office/drawing/2014/main" id="{BF6B73A4-49BE-11D2-4050-75BBA7D738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7256" y="2312818"/>
            <a:ext cx="5076544" cy="3864145"/>
          </a:xfrm>
          <a:prstGeom prst="rect">
            <a:avLst/>
          </a:prstGeom>
        </p:spPr>
      </p:pic>
      <p:sp>
        <p:nvSpPr>
          <p:cNvPr id="8" name="テキスト ボックス 7">
            <a:extLst>
              <a:ext uri="{FF2B5EF4-FFF2-40B4-BE49-F238E27FC236}">
                <a16:creationId xmlns:a16="http://schemas.microsoft.com/office/drawing/2014/main" id="{9ED3FC35-8784-061D-3289-52172E7BE08C}"/>
              </a:ext>
            </a:extLst>
          </p:cNvPr>
          <p:cNvSpPr txBox="1"/>
          <p:nvPr/>
        </p:nvSpPr>
        <p:spPr>
          <a:xfrm>
            <a:off x="6277256" y="6176963"/>
            <a:ext cx="5076544" cy="369332"/>
          </a:xfrm>
          <a:prstGeom prst="rect">
            <a:avLst/>
          </a:prstGeom>
          <a:noFill/>
        </p:spPr>
        <p:txBody>
          <a:bodyPr wrap="square">
            <a:spAutoFit/>
          </a:bodyPr>
          <a:lstStyle/>
          <a:p>
            <a:pPr algn="ctr"/>
            <a:r>
              <a:rPr lang="ja-JP" altLang="en-US" dirty="0"/>
              <a:t>図</a:t>
            </a:r>
            <a:r>
              <a:rPr lang="en-US" altLang="ja-JP" dirty="0"/>
              <a:t>10</a:t>
            </a:r>
            <a:r>
              <a:rPr lang="ja-JP" altLang="en-US" dirty="0"/>
              <a:t>　学習曲線</a:t>
            </a:r>
          </a:p>
        </p:txBody>
      </p:sp>
      <p:sp>
        <p:nvSpPr>
          <p:cNvPr id="9" name="テキスト ボックス 8">
            <a:extLst>
              <a:ext uri="{FF2B5EF4-FFF2-40B4-BE49-F238E27FC236}">
                <a16:creationId xmlns:a16="http://schemas.microsoft.com/office/drawing/2014/main" id="{DB1E0B57-ECD4-38DB-EF1B-2476B54A1FCD}"/>
              </a:ext>
            </a:extLst>
          </p:cNvPr>
          <p:cNvSpPr txBox="1"/>
          <p:nvPr/>
        </p:nvSpPr>
        <p:spPr>
          <a:xfrm>
            <a:off x="1019456" y="4703697"/>
            <a:ext cx="5076544" cy="369332"/>
          </a:xfrm>
          <a:prstGeom prst="rect">
            <a:avLst/>
          </a:prstGeom>
          <a:noFill/>
        </p:spPr>
        <p:txBody>
          <a:bodyPr wrap="square">
            <a:spAutoFit/>
          </a:bodyPr>
          <a:lstStyle/>
          <a:p>
            <a:pPr algn="ctr"/>
            <a:r>
              <a:rPr lang="ja-JP" altLang="en-US" dirty="0"/>
              <a:t>表</a:t>
            </a:r>
            <a:r>
              <a:rPr lang="en-US" altLang="ja-JP" dirty="0"/>
              <a:t>4</a:t>
            </a:r>
            <a:r>
              <a:rPr lang="ja-JP" altLang="en-US" dirty="0"/>
              <a:t>　グレード別の性能指標</a:t>
            </a:r>
          </a:p>
        </p:txBody>
      </p:sp>
    </p:spTree>
    <p:extLst>
      <p:ext uri="{BB962C8B-B14F-4D97-AF65-F5344CB8AC3E}">
        <p14:creationId xmlns:p14="http://schemas.microsoft.com/office/powerpoint/2010/main" val="1522873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A5C710-7C5D-BD97-EA6F-EB318775714E}"/>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FBC9F43C-CD95-04A1-8EC6-5DBB80C0E5A3}"/>
              </a:ext>
            </a:extLst>
          </p:cNvPr>
          <p:cNvSpPr>
            <a:spLocks noGrp="1"/>
          </p:cNvSpPr>
          <p:nvPr>
            <p:ph idx="1"/>
          </p:nvPr>
        </p:nvSpPr>
        <p:spPr/>
        <p:txBody>
          <a:bodyPr/>
          <a:lstStyle/>
          <a:p>
            <a:endParaRPr kumimoji="1" lang="en-US" altLang="ja-JP" dirty="0"/>
          </a:p>
        </p:txBody>
      </p:sp>
      <p:sp>
        <p:nvSpPr>
          <p:cNvPr id="8" name="テキスト ボックス 7">
            <a:extLst>
              <a:ext uri="{FF2B5EF4-FFF2-40B4-BE49-F238E27FC236}">
                <a16:creationId xmlns:a16="http://schemas.microsoft.com/office/drawing/2014/main" id="{644A12C9-7BBE-2754-5C52-7328F5E6C256}"/>
              </a:ext>
            </a:extLst>
          </p:cNvPr>
          <p:cNvSpPr txBox="1"/>
          <p:nvPr/>
        </p:nvSpPr>
        <p:spPr>
          <a:xfrm>
            <a:off x="3190080" y="6176963"/>
            <a:ext cx="6028347" cy="369332"/>
          </a:xfrm>
          <a:prstGeom prst="rect">
            <a:avLst/>
          </a:prstGeom>
          <a:noFill/>
        </p:spPr>
        <p:txBody>
          <a:bodyPr wrap="square">
            <a:spAutoFit/>
          </a:bodyPr>
          <a:lstStyle/>
          <a:p>
            <a:pPr algn="ctr"/>
            <a:r>
              <a:rPr lang="ja-JP" altLang="en-US" dirty="0"/>
              <a:t>図</a:t>
            </a:r>
            <a:r>
              <a:rPr lang="en-US" altLang="ja-JP" dirty="0"/>
              <a:t>11</a:t>
            </a:r>
            <a:r>
              <a:rPr lang="ja-JP" altLang="en-US" dirty="0"/>
              <a:t>　共起ネットワーク</a:t>
            </a:r>
          </a:p>
        </p:txBody>
      </p:sp>
      <p:pic>
        <p:nvPicPr>
          <p:cNvPr id="4" name="図 3" descr="ダイアグラム&#10;&#10;自動的に生成された説明">
            <a:extLst>
              <a:ext uri="{FF2B5EF4-FFF2-40B4-BE49-F238E27FC236}">
                <a16:creationId xmlns:a16="http://schemas.microsoft.com/office/drawing/2014/main" id="{EBA35C8F-A832-0D58-5B34-8F13CB7F1F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0080" y="365125"/>
            <a:ext cx="5811838" cy="5811838"/>
          </a:xfrm>
          <a:prstGeom prst="rect">
            <a:avLst/>
          </a:prstGeom>
        </p:spPr>
      </p:pic>
    </p:spTree>
    <p:extLst>
      <p:ext uri="{BB962C8B-B14F-4D97-AF65-F5344CB8AC3E}">
        <p14:creationId xmlns:p14="http://schemas.microsoft.com/office/powerpoint/2010/main" val="3748893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7B5941-A5B9-FAC1-828F-1A348A4A602A}"/>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F49260CF-F437-539D-89C9-70787B4485B0}"/>
              </a:ext>
            </a:extLst>
          </p:cNvPr>
          <p:cNvSpPr>
            <a:spLocks noGrp="1"/>
          </p:cNvSpPr>
          <p:nvPr>
            <p:ph idx="1"/>
          </p:nvPr>
        </p:nvSpPr>
        <p:spPr/>
        <p:txBody>
          <a:bodyPr/>
          <a:lstStyle/>
          <a:p>
            <a:r>
              <a:rPr kumimoji="1" lang="ja-JP" altLang="en-US" dirty="0"/>
              <a:t>畳み込みニューラルネットワークによるグレード予測では，</a:t>
            </a:r>
            <a:r>
              <a:rPr kumimoji="1" lang="en-US" altLang="ja-JP" dirty="0"/>
              <a:t>range</a:t>
            </a:r>
            <a:r>
              <a:rPr kumimoji="1" lang="ja-JP" altLang="en-US" dirty="0"/>
              <a:t>の値が大きいほど，学習に用いる画像数が増加するため，精度が上昇する傾向にある．</a:t>
            </a:r>
            <a:endParaRPr kumimoji="1" lang="en-US" altLang="ja-JP" dirty="0"/>
          </a:p>
          <a:p>
            <a:r>
              <a:rPr kumimoji="1" lang="ja-JP" altLang="en-US" dirty="0"/>
              <a:t>一方で，</a:t>
            </a:r>
            <a:r>
              <a:rPr kumimoji="1" lang="en-US" altLang="ja-JP" dirty="0"/>
              <a:t>range</a:t>
            </a:r>
            <a:r>
              <a:rPr lang="ja-JP" altLang="en-US" dirty="0"/>
              <a:t>を極端に増やすと</a:t>
            </a:r>
            <a:r>
              <a:rPr kumimoji="1" lang="ja-JP" altLang="en-US" dirty="0"/>
              <a:t>，大脳白質病変が見られない眼球側や頭頂部側の画像が学習データに含まれるため，精度は低下したと</a:t>
            </a:r>
            <a:r>
              <a:rPr lang="ja-JP" altLang="en-US" dirty="0"/>
              <a:t>考えら</a:t>
            </a:r>
            <a:r>
              <a:rPr kumimoji="1" lang="ja-JP" altLang="en-US" dirty="0"/>
              <a:t>れる．</a:t>
            </a:r>
            <a:endParaRPr kumimoji="1" lang="en-US" altLang="ja-JP" dirty="0"/>
          </a:p>
          <a:p>
            <a:endParaRPr kumimoji="1" lang="ja-JP" altLang="en-US" dirty="0"/>
          </a:p>
        </p:txBody>
      </p:sp>
    </p:spTree>
    <p:extLst>
      <p:ext uri="{BB962C8B-B14F-4D97-AF65-F5344CB8AC3E}">
        <p14:creationId xmlns:p14="http://schemas.microsoft.com/office/powerpoint/2010/main" val="3554340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F99041-7BD0-9E77-D129-FF961658EA6B}"/>
              </a:ext>
            </a:extLst>
          </p:cNvPr>
          <p:cNvSpPr>
            <a:spLocks noGrp="1"/>
          </p:cNvSpPr>
          <p:nvPr>
            <p:ph type="title"/>
          </p:nvPr>
        </p:nvSpPr>
        <p:spPr/>
        <p:txBody>
          <a:bodyPr/>
          <a:lstStyle/>
          <a:p>
            <a:r>
              <a:rPr lang="ja-JP" altLang="en-US" dirty="0"/>
              <a:t>考察</a:t>
            </a:r>
            <a:endParaRPr kumimoji="1" lang="ja-JP" altLang="en-US" dirty="0"/>
          </a:p>
        </p:txBody>
      </p:sp>
      <p:sp>
        <p:nvSpPr>
          <p:cNvPr id="3" name="コンテンツ プレースホルダー 2">
            <a:extLst>
              <a:ext uri="{FF2B5EF4-FFF2-40B4-BE49-F238E27FC236}">
                <a16:creationId xmlns:a16="http://schemas.microsoft.com/office/drawing/2014/main" id="{256D836F-4455-E2AC-41A8-85F59AFDFC41}"/>
              </a:ext>
            </a:extLst>
          </p:cNvPr>
          <p:cNvSpPr>
            <a:spLocks noGrp="1"/>
          </p:cNvSpPr>
          <p:nvPr>
            <p:ph idx="1"/>
          </p:nvPr>
        </p:nvSpPr>
        <p:spPr/>
        <p:txBody>
          <a:bodyPr>
            <a:normAutofit/>
          </a:bodyPr>
          <a:lstStyle/>
          <a:p>
            <a:r>
              <a:rPr lang="ja-JP" altLang="en-US" dirty="0"/>
              <a:t>撮影方法別の畳み込みニューラルネットワークを用いたグレード予測では，</a:t>
            </a:r>
            <a:r>
              <a:rPr lang="en-US" altLang="ja-JP" dirty="0"/>
              <a:t>FLAIR</a:t>
            </a:r>
            <a:r>
              <a:rPr lang="ja-JP" altLang="en-US" dirty="0"/>
              <a:t>画像は目視でも大脳白質病変を識別しやすく，畳み込みによって特徴が取り出しやすいために，</a:t>
            </a:r>
            <a:r>
              <a:rPr lang="en-US" altLang="ja-JP" dirty="0"/>
              <a:t>FLAIR</a:t>
            </a:r>
            <a:r>
              <a:rPr lang="ja-JP" altLang="en-US" dirty="0"/>
              <a:t>画像を用いた時の精度が高くなったと考えられる．</a:t>
            </a:r>
            <a:endParaRPr kumimoji="1" lang="en-US" altLang="ja-JP" dirty="0"/>
          </a:p>
          <a:p>
            <a:r>
              <a:rPr kumimoji="1" lang="en-US" altLang="ja-JP" dirty="0"/>
              <a:t>T2</a:t>
            </a:r>
            <a:r>
              <a:rPr kumimoji="1" lang="ja-JP" altLang="en-US" dirty="0"/>
              <a:t>強調画像も目視で病変を識別しやすい一方で，大脳周辺部分が高信号領域として白く描画されており，病変との区別がつきにくいために，</a:t>
            </a:r>
            <a:r>
              <a:rPr kumimoji="1" lang="en-US" altLang="ja-JP" dirty="0"/>
              <a:t>T2</a:t>
            </a:r>
            <a:r>
              <a:rPr kumimoji="1" lang="ja-JP" altLang="en-US" dirty="0"/>
              <a:t>強調画像を用いた時の判別性能が低かったと考えられる．</a:t>
            </a:r>
            <a:endParaRPr kumimoji="1" lang="en-US" altLang="ja-JP" dirty="0"/>
          </a:p>
        </p:txBody>
      </p:sp>
    </p:spTree>
    <p:extLst>
      <p:ext uri="{BB962C8B-B14F-4D97-AF65-F5344CB8AC3E}">
        <p14:creationId xmlns:p14="http://schemas.microsoft.com/office/powerpoint/2010/main" val="3687310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BA383A-F477-A63D-C270-C3EA3DFF44A7}"/>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201C0147-DFAF-78E0-58F7-DE7371E6ABF5}"/>
              </a:ext>
            </a:extLst>
          </p:cNvPr>
          <p:cNvSpPr>
            <a:spLocks noGrp="1"/>
          </p:cNvSpPr>
          <p:nvPr>
            <p:ph idx="1"/>
          </p:nvPr>
        </p:nvSpPr>
        <p:spPr/>
        <p:txBody>
          <a:bodyPr/>
          <a:lstStyle/>
          <a:p>
            <a:r>
              <a:rPr lang="ja-JP" altLang="en-US" dirty="0"/>
              <a:t>共起ネットワーク図においては，グレード</a:t>
            </a:r>
            <a:r>
              <a:rPr lang="en-US" altLang="ja-JP" dirty="0"/>
              <a:t>3</a:t>
            </a:r>
            <a:r>
              <a:rPr lang="ja-JP" altLang="en-US" dirty="0"/>
              <a:t>以上のサンプル数が少ないために共起関係が形成されず，ノードとして描画されなかったと考えられ，高度の大脳白質病変を有する患者と健診項目との関連性を十分に見ることができなかった．</a:t>
            </a:r>
            <a:endParaRPr kumimoji="1" lang="en-US" altLang="ja-JP" dirty="0"/>
          </a:p>
          <a:p>
            <a:r>
              <a:rPr kumimoji="1" lang="ja-JP" altLang="en-US" dirty="0"/>
              <a:t>健診データの検査項目との関連性に関しては，降圧剤などの薬剤使用の有無，脳梗塞などの既往歴との関連性を含めて検討することで，大脳白質病変とそのリスク因子との関連性をより幅広く検証していきたい</a:t>
            </a:r>
            <a:r>
              <a:rPr lang="ja-JP" altLang="en-US" dirty="0"/>
              <a:t>．</a:t>
            </a:r>
            <a:endParaRPr kumimoji="1" lang="en-US" altLang="ja-JP" dirty="0"/>
          </a:p>
          <a:p>
            <a:endParaRPr kumimoji="1" lang="ja-JP" altLang="en-US" dirty="0"/>
          </a:p>
        </p:txBody>
      </p:sp>
    </p:spTree>
    <p:extLst>
      <p:ext uri="{BB962C8B-B14F-4D97-AF65-F5344CB8AC3E}">
        <p14:creationId xmlns:p14="http://schemas.microsoft.com/office/powerpoint/2010/main" val="2915409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FC1A0F-044D-A982-C037-5259F030D911}"/>
              </a:ext>
            </a:extLst>
          </p:cNvPr>
          <p:cNvSpPr>
            <a:spLocks noGrp="1"/>
          </p:cNvSpPr>
          <p:nvPr>
            <p:ph type="title"/>
          </p:nvPr>
        </p:nvSpPr>
        <p:spPr/>
        <p:txBody>
          <a:bodyPr/>
          <a:lstStyle/>
          <a:p>
            <a:r>
              <a:rPr kumimoji="1" lang="ja-JP" altLang="en-US" dirty="0"/>
              <a:t>謝辞</a:t>
            </a:r>
          </a:p>
        </p:txBody>
      </p:sp>
      <p:sp>
        <p:nvSpPr>
          <p:cNvPr id="3" name="コンテンツ プレースホルダー 2">
            <a:extLst>
              <a:ext uri="{FF2B5EF4-FFF2-40B4-BE49-F238E27FC236}">
                <a16:creationId xmlns:a16="http://schemas.microsoft.com/office/drawing/2014/main" id="{46BFF349-4267-4E1A-A809-30B84C82AC99}"/>
              </a:ext>
            </a:extLst>
          </p:cNvPr>
          <p:cNvSpPr>
            <a:spLocks noGrp="1"/>
          </p:cNvSpPr>
          <p:nvPr>
            <p:ph idx="1"/>
          </p:nvPr>
        </p:nvSpPr>
        <p:spPr/>
        <p:txBody>
          <a:bodyPr/>
          <a:lstStyle/>
          <a:p>
            <a:r>
              <a:rPr kumimoji="1" lang="ja-JP" altLang="en-US" dirty="0"/>
              <a:t>本研究を行うにあたり，貴重なデータを提供していただいた一般社団法人 巨樹の会 新武雄病院の皆様に心から感謝申し上げます</a:t>
            </a:r>
            <a:r>
              <a:rPr kumimoji="1" lang="en-US" altLang="ja-JP" dirty="0"/>
              <a:t>.</a:t>
            </a:r>
            <a:endParaRPr kumimoji="1" lang="ja-JP" altLang="en-US" dirty="0"/>
          </a:p>
        </p:txBody>
      </p:sp>
    </p:spTree>
    <p:extLst>
      <p:ext uri="{BB962C8B-B14F-4D97-AF65-F5344CB8AC3E}">
        <p14:creationId xmlns:p14="http://schemas.microsoft.com/office/powerpoint/2010/main" val="1936866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C78DD4-B163-354C-742B-FE9F5AA5444C}"/>
              </a:ext>
            </a:extLst>
          </p:cNvPr>
          <p:cNvSpPr>
            <a:spLocks noGrp="1"/>
          </p:cNvSpPr>
          <p:nvPr>
            <p:ph type="title"/>
          </p:nvPr>
        </p:nvSpPr>
        <p:spPr/>
        <p:txBody>
          <a:bodyPr/>
          <a:lstStyle/>
          <a:p>
            <a:r>
              <a:rPr lang="ja-JP" altLang="en-US" dirty="0"/>
              <a:t>参考</a:t>
            </a:r>
            <a:r>
              <a:rPr kumimoji="1" lang="ja-JP" altLang="en-US" dirty="0"/>
              <a:t>文献</a:t>
            </a:r>
          </a:p>
        </p:txBody>
      </p:sp>
      <p:sp>
        <p:nvSpPr>
          <p:cNvPr id="3" name="コンテンツ プレースホルダー 2">
            <a:extLst>
              <a:ext uri="{FF2B5EF4-FFF2-40B4-BE49-F238E27FC236}">
                <a16:creationId xmlns:a16="http://schemas.microsoft.com/office/drawing/2014/main" id="{A23D0DE4-B08D-9549-A2EA-70D4C1E9BD90}"/>
              </a:ext>
            </a:extLst>
          </p:cNvPr>
          <p:cNvSpPr>
            <a:spLocks noGrp="1"/>
          </p:cNvSpPr>
          <p:nvPr>
            <p:ph idx="1"/>
          </p:nvPr>
        </p:nvSpPr>
        <p:spPr/>
        <p:txBody>
          <a:bodyPr>
            <a:normAutofit fontScale="85000" lnSpcReduction="10000"/>
          </a:bodyPr>
          <a:lstStyle/>
          <a:p>
            <a:r>
              <a:rPr kumimoji="1" lang="en-US" altLang="ja-JP" dirty="0"/>
              <a:t>[1]	</a:t>
            </a:r>
            <a:r>
              <a:rPr kumimoji="1" lang="ja-JP" altLang="en-US" dirty="0"/>
              <a:t>小林 祥泰</a:t>
            </a:r>
            <a:r>
              <a:rPr kumimoji="1" lang="en-US" altLang="ja-JP" dirty="0"/>
              <a:t>, </a:t>
            </a:r>
            <a:r>
              <a:rPr kumimoji="1" lang="ja-JP" altLang="en-US" dirty="0"/>
              <a:t>無症候性脳梗塞の臨床的意義</a:t>
            </a:r>
            <a:r>
              <a:rPr kumimoji="1" lang="en-US" altLang="ja-JP" dirty="0"/>
              <a:t>, </a:t>
            </a:r>
            <a:r>
              <a:rPr kumimoji="1" lang="ja-JP" altLang="en-US" dirty="0"/>
              <a:t>日本内科学会雑誌</a:t>
            </a:r>
            <a:r>
              <a:rPr kumimoji="1" lang="en-US" altLang="ja-JP" dirty="0"/>
              <a:t>, 1995, 84 </a:t>
            </a:r>
            <a:r>
              <a:rPr kumimoji="1" lang="ja-JP" altLang="en-US" dirty="0"/>
              <a:t>巻</a:t>
            </a:r>
            <a:r>
              <a:rPr kumimoji="1" lang="en-US" altLang="ja-JP" dirty="0"/>
              <a:t>, 6 </a:t>
            </a:r>
            <a:r>
              <a:rPr kumimoji="1" lang="ja-JP" altLang="en-US" dirty="0"/>
              <a:t>号</a:t>
            </a:r>
            <a:r>
              <a:rPr kumimoji="1" lang="en-US" altLang="ja-JP" dirty="0"/>
              <a:t>, p. 960-964.</a:t>
            </a:r>
          </a:p>
          <a:p>
            <a:r>
              <a:rPr kumimoji="1" lang="en-US" altLang="ja-JP" dirty="0"/>
              <a:t>[2]	Shinohara Y, </a:t>
            </a:r>
            <a:r>
              <a:rPr kumimoji="1" lang="en-US" altLang="ja-JP" dirty="0" err="1"/>
              <a:t>Tohgi</a:t>
            </a:r>
            <a:r>
              <a:rPr kumimoji="1" lang="en-US" altLang="ja-JP" dirty="0"/>
              <a:t>, H, Hirai S, et al. Effect of the Ca Antagonist </a:t>
            </a:r>
            <a:r>
              <a:rPr kumimoji="1" lang="en-US" altLang="ja-JP" dirty="0" err="1"/>
              <a:t>Nilvadipine</a:t>
            </a:r>
            <a:r>
              <a:rPr kumimoji="1" lang="en-US" altLang="ja-JP" dirty="0"/>
              <a:t> on Stroke Occurrence or Recurrence and Extension of Asymptomatic Cerebral Infarction in Hypertensive Patients with or without History of Stroke </a:t>
            </a:r>
            <a:r>
              <a:rPr kumimoji="1" lang="ja-JP" altLang="en-US" dirty="0"/>
              <a:t>（</a:t>
            </a:r>
            <a:r>
              <a:rPr kumimoji="1" lang="en-US" altLang="ja-JP" dirty="0"/>
              <a:t>PICA Study</a:t>
            </a:r>
            <a:r>
              <a:rPr kumimoji="1" lang="ja-JP" altLang="en-US" dirty="0"/>
              <a:t>）</a:t>
            </a:r>
            <a:r>
              <a:rPr kumimoji="1" lang="en-US" altLang="ja-JP" dirty="0"/>
              <a:t>: 1. Design and Results at Enrollment. </a:t>
            </a:r>
            <a:r>
              <a:rPr kumimoji="1" lang="en-US" altLang="ja-JP" dirty="0" err="1"/>
              <a:t>Cerebrovasc</a:t>
            </a:r>
            <a:r>
              <a:rPr kumimoji="1" lang="en-US" altLang="ja-JP" dirty="0"/>
              <a:t> Dis 2007; 24: 202-209.</a:t>
            </a:r>
          </a:p>
          <a:p>
            <a:r>
              <a:rPr kumimoji="1" lang="en-US" altLang="ja-JP" dirty="0"/>
              <a:t>[3]	</a:t>
            </a:r>
            <a:r>
              <a:rPr kumimoji="1" lang="en-US" altLang="ja-JP" dirty="0" err="1"/>
              <a:t>Shinkawa</a:t>
            </a:r>
            <a:r>
              <a:rPr kumimoji="1" lang="en-US" altLang="ja-JP" dirty="0"/>
              <a:t>, Y., Yoshida, T., </a:t>
            </a:r>
            <a:r>
              <a:rPr kumimoji="1" lang="en-US" altLang="ja-JP" dirty="0" err="1"/>
              <a:t>Onaka</a:t>
            </a:r>
            <a:r>
              <a:rPr kumimoji="1" lang="en-US" altLang="ja-JP" dirty="0"/>
              <a:t>, Y., Ichinose, M., &amp; Ishii, K. </a:t>
            </a:r>
            <a:r>
              <a:rPr kumimoji="1" lang="ja-JP" altLang="en-US" dirty="0"/>
              <a:t>（</a:t>
            </a:r>
            <a:r>
              <a:rPr kumimoji="1" lang="en-US" altLang="ja-JP" dirty="0"/>
              <a:t>2019</a:t>
            </a:r>
            <a:r>
              <a:rPr kumimoji="1" lang="ja-JP" altLang="en-US" dirty="0"/>
              <a:t>）</a:t>
            </a:r>
            <a:r>
              <a:rPr kumimoji="1" lang="en-US" altLang="ja-JP" dirty="0"/>
              <a:t>. Mathematical modeling for the prediction of cerebral white matter lesions based on clinical examination data. </a:t>
            </a:r>
            <a:r>
              <a:rPr kumimoji="1" lang="en-US" altLang="ja-JP" dirty="0" err="1"/>
              <a:t>PloS</a:t>
            </a:r>
            <a:r>
              <a:rPr kumimoji="1" lang="en-US" altLang="ja-JP" dirty="0"/>
              <a:t> one, 14</a:t>
            </a:r>
            <a:r>
              <a:rPr kumimoji="1" lang="ja-JP" altLang="en-US" dirty="0"/>
              <a:t>（</a:t>
            </a:r>
            <a:r>
              <a:rPr kumimoji="1" lang="en-US" altLang="ja-JP" dirty="0"/>
              <a:t>4</a:t>
            </a:r>
            <a:r>
              <a:rPr kumimoji="1" lang="ja-JP" altLang="en-US" dirty="0"/>
              <a:t>）</a:t>
            </a:r>
            <a:r>
              <a:rPr kumimoji="1" lang="en-US" altLang="ja-JP" dirty="0"/>
              <a:t>, e0215142.</a:t>
            </a:r>
          </a:p>
          <a:p>
            <a:r>
              <a:rPr kumimoji="1" lang="en-US" altLang="ja-JP" dirty="0"/>
              <a:t>[4]	</a:t>
            </a:r>
            <a:r>
              <a:rPr kumimoji="1" lang="ja-JP" altLang="en-US" dirty="0"/>
              <a:t>脳ドックのガイドライン</a:t>
            </a:r>
            <a:r>
              <a:rPr kumimoji="1" lang="en-US" altLang="ja-JP" dirty="0"/>
              <a:t>2019</a:t>
            </a:r>
            <a:r>
              <a:rPr kumimoji="1" lang="ja-JP" altLang="en-US" dirty="0"/>
              <a:t>改訂委員会編（</a:t>
            </a:r>
            <a:r>
              <a:rPr kumimoji="1" lang="en-US" altLang="ja-JP" dirty="0"/>
              <a:t>2019</a:t>
            </a:r>
            <a:r>
              <a:rPr kumimoji="1" lang="ja-JP" altLang="en-US" dirty="0"/>
              <a:t>）</a:t>
            </a:r>
            <a:r>
              <a:rPr kumimoji="1" lang="en-US" altLang="ja-JP" dirty="0"/>
              <a:t>『</a:t>
            </a:r>
            <a:r>
              <a:rPr kumimoji="1" lang="ja-JP" altLang="en-US" dirty="0"/>
              <a:t>脳ドックのガイドライン</a:t>
            </a:r>
            <a:r>
              <a:rPr kumimoji="1" lang="en-US" altLang="ja-JP" dirty="0"/>
              <a:t>2019 』</a:t>
            </a:r>
            <a:r>
              <a:rPr kumimoji="1" lang="ja-JP" altLang="en-US" dirty="0"/>
              <a:t>響文社</a:t>
            </a:r>
          </a:p>
        </p:txBody>
      </p:sp>
    </p:spTree>
    <p:extLst>
      <p:ext uri="{BB962C8B-B14F-4D97-AF65-F5344CB8AC3E}">
        <p14:creationId xmlns:p14="http://schemas.microsoft.com/office/powerpoint/2010/main" val="493276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D2623DB-0982-A88D-3117-8D22D9442712}"/>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34808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6A407A-554B-985B-EF2F-CA008AFAFCBD}"/>
              </a:ext>
            </a:extLst>
          </p:cNvPr>
          <p:cNvSpPr>
            <a:spLocks noGrp="1"/>
          </p:cNvSpPr>
          <p:nvPr>
            <p:ph type="title"/>
          </p:nvPr>
        </p:nvSpPr>
        <p:spPr/>
        <p:txBody>
          <a:bodyPr/>
          <a:lstStyle/>
          <a:p>
            <a:endParaRPr kumimoji="1" lang="ja-JP" altLang="en-US" dirty="0"/>
          </a:p>
        </p:txBody>
      </p:sp>
      <p:sp>
        <p:nvSpPr>
          <p:cNvPr id="34" name="コンテンツ プレースホルダー 33">
            <a:extLst>
              <a:ext uri="{FF2B5EF4-FFF2-40B4-BE49-F238E27FC236}">
                <a16:creationId xmlns:a16="http://schemas.microsoft.com/office/drawing/2014/main" id="{7876960E-C36E-C9BB-A351-C809542C0CE8}"/>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3350695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8D00BF3-B1AE-CB0B-7018-47B9E6D12050}"/>
              </a:ext>
            </a:extLst>
          </p:cNvPr>
          <p:cNvSpPr>
            <a:spLocks noGrp="1"/>
          </p:cNvSpPr>
          <p:nvPr>
            <p:ph type="title"/>
          </p:nvPr>
        </p:nvSpPr>
        <p:spPr/>
        <p:txBody>
          <a:bodyPr/>
          <a:lstStyle/>
          <a:p>
            <a:endParaRPr lang="ja-JP" altLang="en-US"/>
          </a:p>
        </p:txBody>
      </p:sp>
      <p:sp>
        <p:nvSpPr>
          <p:cNvPr id="5" name="コンテンツ プレースホルダー 4">
            <a:extLst>
              <a:ext uri="{FF2B5EF4-FFF2-40B4-BE49-F238E27FC236}">
                <a16:creationId xmlns:a16="http://schemas.microsoft.com/office/drawing/2014/main" id="{45388253-B7D6-F517-50F7-A40829F14460}"/>
              </a:ext>
            </a:extLst>
          </p:cNvPr>
          <p:cNvSpPr>
            <a:spLocks noGrp="1"/>
          </p:cNvSpPr>
          <p:nvPr>
            <p:ph idx="1"/>
          </p:nvPr>
        </p:nvSpPr>
        <p:spPr>
          <a:xfrm>
            <a:off x="838200" y="379192"/>
            <a:ext cx="10515600" cy="6492875"/>
          </a:xfrm>
        </p:spPr>
        <p:txBody>
          <a:bodyPr>
            <a:normAutofit fontScale="55000" lnSpcReduction="20000"/>
          </a:bodyPr>
          <a:lstStyle/>
          <a:p>
            <a:pPr marL="0" indent="0">
              <a:buNone/>
            </a:pPr>
            <a:r>
              <a:rPr lang="ja-JP" altLang="en-US" dirty="0"/>
              <a:t>各変数は次の項目を表す．</a:t>
            </a:r>
          </a:p>
          <a:p>
            <a:r>
              <a:rPr lang="en-US" altLang="ja-JP" dirty="0"/>
              <a:t>PS: </a:t>
            </a:r>
            <a:r>
              <a:rPr lang="ja-JP" altLang="en-US" dirty="0"/>
              <a:t>頸動脈プラークスコア</a:t>
            </a:r>
          </a:p>
          <a:p>
            <a:r>
              <a:rPr lang="en-US" altLang="ja-JP" dirty="0"/>
              <a:t>age: </a:t>
            </a:r>
            <a:r>
              <a:rPr lang="ja-JP" altLang="en-US" dirty="0"/>
              <a:t>年齢</a:t>
            </a:r>
          </a:p>
          <a:p>
            <a:r>
              <a:rPr lang="en-US" altLang="ja-JP" dirty="0"/>
              <a:t>LDL: LDL</a:t>
            </a:r>
          </a:p>
          <a:p>
            <a:r>
              <a:rPr lang="en-US" altLang="ja-JP" dirty="0"/>
              <a:t>HDL: HDL</a:t>
            </a:r>
          </a:p>
          <a:p>
            <a:r>
              <a:rPr lang="en-US" altLang="ja-JP" dirty="0"/>
              <a:t>LH: LDL/HDL</a:t>
            </a:r>
          </a:p>
          <a:p>
            <a:r>
              <a:rPr lang="en-US" altLang="ja-JP" dirty="0"/>
              <a:t>TG: </a:t>
            </a:r>
            <a:r>
              <a:rPr lang="ja-JP" altLang="en-US" dirty="0"/>
              <a:t>中性脂肪</a:t>
            </a:r>
          </a:p>
          <a:p>
            <a:r>
              <a:rPr lang="en-US" altLang="ja-JP" dirty="0"/>
              <a:t>HbA1c: HbA1c</a:t>
            </a:r>
          </a:p>
          <a:p>
            <a:r>
              <a:rPr lang="en-US" altLang="ja-JP" dirty="0"/>
              <a:t>BS: </a:t>
            </a:r>
            <a:r>
              <a:rPr lang="ja-JP" altLang="en-US" dirty="0"/>
              <a:t>血糖値</a:t>
            </a:r>
          </a:p>
          <a:p>
            <a:r>
              <a:rPr lang="en-US" altLang="ja-JP" dirty="0"/>
              <a:t>SBP: </a:t>
            </a:r>
            <a:r>
              <a:rPr lang="ja-JP" altLang="en-US" dirty="0"/>
              <a:t>収縮期血圧</a:t>
            </a:r>
          </a:p>
          <a:p>
            <a:r>
              <a:rPr lang="en-US" altLang="ja-JP" dirty="0"/>
              <a:t>DBP: </a:t>
            </a:r>
            <a:r>
              <a:rPr lang="ja-JP" altLang="en-US" dirty="0"/>
              <a:t>拡張期血圧</a:t>
            </a:r>
          </a:p>
          <a:p>
            <a:r>
              <a:rPr lang="en-US" altLang="ja-JP" dirty="0"/>
              <a:t>the number of plaque: </a:t>
            </a:r>
            <a:r>
              <a:rPr lang="ja-JP" altLang="en-US" dirty="0"/>
              <a:t>頸動脈プラークの数</a:t>
            </a:r>
          </a:p>
          <a:p>
            <a:r>
              <a:rPr lang="en-US" altLang="ja-JP" dirty="0"/>
              <a:t>BMI: BMI</a:t>
            </a:r>
          </a:p>
          <a:p>
            <a:r>
              <a:rPr lang="en-US" altLang="ja-JP" dirty="0"/>
              <a:t>Male: </a:t>
            </a:r>
            <a:r>
              <a:rPr lang="ja-JP" altLang="en-US" dirty="0"/>
              <a:t>男性</a:t>
            </a:r>
          </a:p>
          <a:p>
            <a:r>
              <a:rPr lang="en-US" altLang="ja-JP" dirty="0"/>
              <a:t>metabolic syndrome: </a:t>
            </a:r>
            <a:r>
              <a:rPr lang="ja-JP" altLang="en-US" dirty="0"/>
              <a:t>メタボリックシンドローム</a:t>
            </a:r>
          </a:p>
          <a:p>
            <a:r>
              <a:rPr lang="en-US" altLang="ja-JP" dirty="0"/>
              <a:t>smoking habit: </a:t>
            </a:r>
            <a:r>
              <a:rPr lang="ja-JP" altLang="en-US" dirty="0"/>
              <a:t>現在タバコを習慣的に吸っていますか</a:t>
            </a:r>
          </a:p>
          <a:p>
            <a:r>
              <a:rPr lang="en-US" altLang="ja-JP" dirty="0"/>
              <a:t>medication to reduce pressure: </a:t>
            </a:r>
            <a:r>
              <a:rPr lang="ja-JP" altLang="en-US" dirty="0"/>
              <a:t>降圧剤の使用の有無</a:t>
            </a:r>
          </a:p>
          <a:p>
            <a:r>
              <a:rPr lang="en-US" altLang="ja-JP" dirty="0"/>
              <a:t>medication to reduce blood sugar or insulin injection: </a:t>
            </a:r>
            <a:r>
              <a:rPr lang="ja-JP" altLang="en-US" dirty="0"/>
              <a:t>インスリンまたは血糖を下げる薬の使用の有無</a:t>
            </a:r>
          </a:p>
          <a:p>
            <a:r>
              <a:rPr lang="en-US" altLang="ja-JP" dirty="0"/>
              <a:t>medication to reduce a level of cholesterol: </a:t>
            </a:r>
            <a:r>
              <a:rPr lang="ja-JP" altLang="en-US" dirty="0"/>
              <a:t>抗コレステロール薬の使用の有無</a:t>
            </a:r>
          </a:p>
          <a:p>
            <a:r>
              <a:rPr lang="en-US" altLang="ja-JP" dirty="0"/>
              <a:t>amount of drinking per day </a:t>
            </a:r>
            <a:r>
              <a:rPr lang="ja-JP" altLang="en-US" dirty="0"/>
              <a:t>（</a:t>
            </a:r>
            <a:r>
              <a:rPr lang="en-US" altLang="ja-JP" dirty="0"/>
              <a:t>in terms of Sake</a:t>
            </a:r>
            <a:r>
              <a:rPr lang="ja-JP" altLang="en-US" dirty="0"/>
              <a:t>）</a:t>
            </a:r>
            <a:r>
              <a:rPr lang="en-US" altLang="ja-JP" dirty="0"/>
              <a:t>: 1</a:t>
            </a:r>
            <a:r>
              <a:rPr lang="ja-JP" altLang="en-US" dirty="0"/>
              <a:t>日あたりの飲酒量</a:t>
            </a:r>
          </a:p>
          <a:p>
            <a:r>
              <a:rPr lang="en-US" altLang="ja-JP" dirty="0"/>
              <a:t>drink habit: </a:t>
            </a:r>
            <a:r>
              <a:rPr lang="ja-JP" altLang="en-US" dirty="0"/>
              <a:t>アルコールを飲む頻度</a:t>
            </a:r>
          </a:p>
        </p:txBody>
      </p:sp>
    </p:spTree>
    <p:extLst>
      <p:ext uri="{BB962C8B-B14F-4D97-AF65-F5344CB8AC3E}">
        <p14:creationId xmlns:p14="http://schemas.microsoft.com/office/powerpoint/2010/main" val="2970734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B06870-E12D-C599-1FE2-BC608E37FDE4}"/>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02C040A0-746B-5823-9986-E5BBE6F351CC}"/>
              </a:ext>
            </a:extLst>
          </p:cNvPr>
          <p:cNvSpPr>
            <a:spLocks noGrp="1"/>
          </p:cNvSpPr>
          <p:nvPr>
            <p:ph idx="1"/>
          </p:nvPr>
        </p:nvSpPr>
        <p:spPr>
          <a:xfrm>
            <a:off x="838200" y="365125"/>
            <a:ext cx="10515600" cy="5811838"/>
          </a:xfrm>
        </p:spPr>
        <p:txBody>
          <a:bodyPr>
            <a:normAutofit fontScale="92500"/>
          </a:bodyPr>
          <a:lstStyle/>
          <a:p>
            <a:pPr marL="0" indent="0">
              <a:buNone/>
            </a:pPr>
            <a:r>
              <a:rPr kumimoji="1" lang="ja-JP" altLang="en-US" dirty="0"/>
              <a:t>生化学検査項目の一部を用い，</a:t>
            </a:r>
            <a:r>
              <a:rPr kumimoji="1" lang="en-US" altLang="ja-JP" dirty="0"/>
              <a:t>A-G,X-Z</a:t>
            </a:r>
            <a:r>
              <a:rPr kumimoji="1" lang="ja-JP" altLang="en-US" dirty="0"/>
              <a:t>の</a:t>
            </a:r>
            <a:r>
              <a:rPr kumimoji="1" lang="en-US" altLang="ja-JP" dirty="0"/>
              <a:t>10</a:t>
            </a:r>
            <a:r>
              <a:rPr kumimoji="1" lang="ja-JP" altLang="en-US" dirty="0"/>
              <a:t>個の疾患に細分化した．</a:t>
            </a:r>
            <a:endParaRPr kumimoji="1" lang="en-US" altLang="ja-JP" dirty="0"/>
          </a:p>
          <a:p>
            <a:pPr marL="0" indent="0">
              <a:buNone/>
            </a:pPr>
            <a:endParaRPr kumimoji="1" lang="ja-JP" altLang="en-US" dirty="0"/>
          </a:p>
          <a:p>
            <a:r>
              <a:rPr kumimoji="1" lang="en-US" altLang="ja-JP" dirty="0"/>
              <a:t>A: </a:t>
            </a:r>
            <a:r>
              <a:rPr kumimoji="1" lang="ja-JP" altLang="en-US" dirty="0"/>
              <a:t>正常血圧</a:t>
            </a:r>
          </a:p>
          <a:p>
            <a:r>
              <a:rPr kumimoji="1" lang="en-US" altLang="ja-JP" dirty="0"/>
              <a:t>B: </a:t>
            </a:r>
            <a:r>
              <a:rPr kumimoji="1" lang="ja-JP" altLang="en-US" dirty="0"/>
              <a:t>正常高値血圧</a:t>
            </a:r>
          </a:p>
          <a:p>
            <a:r>
              <a:rPr kumimoji="1" lang="en-US" altLang="ja-JP" dirty="0"/>
              <a:t>C: </a:t>
            </a:r>
            <a:r>
              <a:rPr kumimoji="1" lang="ja-JP" altLang="en-US" dirty="0"/>
              <a:t>高値血圧</a:t>
            </a:r>
          </a:p>
          <a:p>
            <a:r>
              <a:rPr kumimoji="1" lang="en-US" altLang="ja-JP" dirty="0"/>
              <a:t>D: I</a:t>
            </a:r>
            <a:r>
              <a:rPr kumimoji="1" lang="ja-JP" altLang="en-US" dirty="0"/>
              <a:t>型高血圧</a:t>
            </a:r>
          </a:p>
          <a:p>
            <a:r>
              <a:rPr kumimoji="1" lang="en-US" altLang="ja-JP" dirty="0"/>
              <a:t>E: II</a:t>
            </a:r>
            <a:r>
              <a:rPr kumimoji="1" lang="ja-JP" altLang="en-US" dirty="0"/>
              <a:t>型高血圧</a:t>
            </a:r>
          </a:p>
          <a:p>
            <a:r>
              <a:rPr kumimoji="1" lang="en-US" altLang="ja-JP" dirty="0"/>
              <a:t>F: III</a:t>
            </a:r>
            <a:r>
              <a:rPr kumimoji="1" lang="ja-JP" altLang="en-US" dirty="0"/>
              <a:t>型高血圧</a:t>
            </a:r>
          </a:p>
          <a:p>
            <a:r>
              <a:rPr kumimoji="1" lang="en-US" altLang="ja-JP" dirty="0"/>
              <a:t>G: </a:t>
            </a:r>
            <a:r>
              <a:rPr kumimoji="1" lang="ja-JP" altLang="en-US" dirty="0"/>
              <a:t>（孤立性）収縮期高血圧</a:t>
            </a:r>
          </a:p>
          <a:p>
            <a:r>
              <a:rPr kumimoji="1" lang="en-US" altLang="ja-JP" dirty="0"/>
              <a:t>X: obesity</a:t>
            </a:r>
            <a:r>
              <a:rPr kumimoji="1" lang="ja-JP" altLang="en-US" dirty="0"/>
              <a:t>（肥満）</a:t>
            </a:r>
          </a:p>
          <a:p>
            <a:r>
              <a:rPr kumimoji="1" lang="en-US" altLang="ja-JP" dirty="0"/>
              <a:t>Y: diabetes</a:t>
            </a:r>
            <a:r>
              <a:rPr kumimoji="1" lang="ja-JP" altLang="en-US" dirty="0"/>
              <a:t>（糖尿病）</a:t>
            </a:r>
          </a:p>
          <a:p>
            <a:r>
              <a:rPr kumimoji="1" lang="en-US" altLang="ja-JP" dirty="0"/>
              <a:t>Z: dyslipidemia</a:t>
            </a:r>
            <a:r>
              <a:rPr kumimoji="1" lang="ja-JP" altLang="en-US" dirty="0"/>
              <a:t>（脂質異常症）</a:t>
            </a:r>
          </a:p>
        </p:txBody>
      </p:sp>
    </p:spTree>
    <p:extLst>
      <p:ext uri="{BB962C8B-B14F-4D97-AF65-F5344CB8AC3E}">
        <p14:creationId xmlns:p14="http://schemas.microsoft.com/office/powerpoint/2010/main" val="792381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B06870-E12D-C599-1FE2-BC608E37FDE4}"/>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02C040A0-746B-5823-9986-E5BBE6F351CC}"/>
              </a:ext>
            </a:extLst>
          </p:cNvPr>
          <p:cNvSpPr>
            <a:spLocks noGrp="1"/>
          </p:cNvSpPr>
          <p:nvPr>
            <p:ph idx="1"/>
          </p:nvPr>
        </p:nvSpPr>
        <p:spPr>
          <a:xfrm>
            <a:off x="838200" y="365125"/>
            <a:ext cx="10515600" cy="5811838"/>
          </a:xfrm>
        </p:spPr>
        <p:txBody>
          <a:bodyPr>
            <a:normAutofit fontScale="47500" lnSpcReduction="20000"/>
          </a:bodyPr>
          <a:lstStyle/>
          <a:p>
            <a:pPr marL="0" indent="0">
              <a:buNone/>
            </a:pPr>
            <a:r>
              <a:rPr kumimoji="1" lang="en-US" altLang="ja-JP" dirty="0"/>
              <a:t>A-G,X-Z</a:t>
            </a:r>
            <a:r>
              <a:rPr kumimoji="1" lang="ja-JP" altLang="en-US" dirty="0"/>
              <a:t>は以下の基準で分類した．</a:t>
            </a:r>
            <a:endParaRPr kumimoji="1" lang="en-US" altLang="ja-JP" dirty="0"/>
          </a:p>
          <a:p>
            <a:pPr marL="0" indent="0">
              <a:buNone/>
            </a:pPr>
            <a:endParaRPr kumimoji="1" lang="ja-JP" altLang="en-US" dirty="0"/>
          </a:p>
          <a:p>
            <a:r>
              <a:rPr kumimoji="1" lang="en-US" altLang="ja-JP" dirty="0"/>
              <a:t>A:  SBP&lt;120 and DBP&lt;80</a:t>
            </a:r>
          </a:p>
          <a:p>
            <a:r>
              <a:rPr kumimoji="1" lang="en-US" altLang="ja-JP" dirty="0"/>
              <a:t>B: </a:t>
            </a:r>
            <a:r>
              <a:rPr kumimoji="1" lang="ja-JP" altLang="en-US" dirty="0"/>
              <a:t>（</a:t>
            </a:r>
            <a:r>
              <a:rPr kumimoji="1" lang="en-US" altLang="ja-JP" dirty="0"/>
              <a:t>SBP&gt;=120 and SBP&lt;=129</a:t>
            </a:r>
            <a:r>
              <a:rPr kumimoji="1" lang="ja-JP" altLang="en-US" dirty="0"/>
              <a:t>） </a:t>
            </a:r>
            <a:r>
              <a:rPr kumimoji="1" lang="en-US" altLang="ja-JP" dirty="0"/>
              <a:t>and  DBP&lt;90</a:t>
            </a:r>
          </a:p>
          <a:p>
            <a:r>
              <a:rPr kumimoji="1" lang="en-US" altLang="ja-JP" dirty="0"/>
              <a:t>C: </a:t>
            </a:r>
            <a:r>
              <a:rPr kumimoji="1" lang="ja-JP" altLang="en-US" dirty="0"/>
              <a:t>（</a:t>
            </a:r>
            <a:r>
              <a:rPr kumimoji="1" lang="en-US" altLang="ja-JP" dirty="0"/>
              <a:t>SBP&gt;=130 and SBP&lt;=139</a:t>
            </a:r>
            <a:r>
              <a:rPr kumimoji="1" lang="ja-JP" altLang="en-US" dirty="0"/>
              <a:t>） </a:t>
            </a:r>
            <a:r>
              <a:rPr kumimoji="1" lang="en-US" altLang="ja-JP" dirty="0"/>
              <a:t>and </a:t>
            </a:r>
            <a:r>
              <a:rPr kumimoji="1" lang="ja-JP" altLang="en-US" dirty="0"/>
              <a:t>（</a:t>
            </a:r>
            <a:r>
              <a:rPr kumimoji="1" lang="en-US" altLang="ja-JP" dirty="0"/>
              <a:t>DBP&gt;= 80 and DBP&lt;= 89</a:t>
            </a:r>
            <a:r>
              <a:rPr kumimoji="1" lang="ja-JP" altLang="en-US" dirty="0"/>
              <a:t>）</a:t>
            </a:r>
          </a:p>
          <a:p>
            <a:r>
              <a:rPr kumimoji="1" lang="en-US" altLang="ja-JP" dirty="0"/>
              <a:t>C: </a:t>
            </a:r>
            <a:r>
              <a:rPr kumimoji="1" lang="ja-JP" altLang="en-US" dirty="0"/>
              <a:t>（</a:t>
            </a:r>
            <a:r>
              <a:rPr kumimoji="1" lang="en-US" altLang="ja-JP" dirty="0"/>
              <a:t>SBP&gt;=130 and SBP&lt;=139</a:t>
            </a:r>
            <a:r>
              <a:rPr kumimoji="1" lang="ja-JP" altLang="en-US" dirty="0"/>
              <a:t>） </a:t>
            </a:r>
            <a:r>
              <a:rPr kumimoji="1" lang="en-US" altLang="ja-JP" dirty="0"/>
              <a:t>or  </a:t>
            </a:r>
            <a:r>
              <a:rPr kumimoji="1" lang="ja-JP" altLang="en-US" dirty="0"/>
              <a:t>（</a:t>
            </a:r>
            <a:r>
              <a:rPr kumimoji="1" lang="en-US" altLang="ja-JP" dirty="0"/>
              <a:t>DBP&gt;= 80 and DBP&lt;= 89</a:t>
            </a:r>
            <a:r>
              <a:rPr kumimoji="1" lang="ja-JP" altLang="en-US" dirty="0"/>
              <a:t>）</a:t>
            </a:r>
          </a:p>
          <a:p>
            <a:r>
              <a:rPr kumimoji="1" lang="en-US" altLang="ja-JP" dirty="0"/>
              <a:t>D: </a:t>
            </a:r>
            <a:r>
              <a:rPr kumimoji="1" lang="ja-JP" altLang="en-US" dirty="0"/>
              <a:t>（</a:t>
            </a:r>
            <a:r>
              <a:rPr kumimoji="1" lang="en-US" altLang="ja-JP" dirty="0"/>
              <a:t>SBP&gt;=140 and SBP&lt;=159</a:t>
            </a:r>
            <a:r>
              <a:rPr kumimoji="1" lang="ja-JP" altLang="en-US" dirty="0"/>
              <a:t>） </a:t>
            </a:r>
            <a:r>
              <a:rPr kumimoji="1" lang="en-US" altLang="ja-JP" dirty="0"/>
              <a:t>and </a:t>
            </a:r>
            <a:r>
              <a:rPr kumimoji="1" lang="ja-JP" altLang="en-US" dirty="0"/>
              <a:t>（</a:t>
            </a:r>
            <a:r>
              <a:rPr kumimoji="1" lang="en-US" altLang="ja-JP" dirty="0"/>
              <a:t>DBP&gt;= 90 and DBP&lt;= 99</a:t>
            </a:r>
            <a:r>
              <a:rPr kumimoji="1" lang="ja-JP" altLang="en-US" dirty="0"/>
              <a:t>）</a:t>
            </a:r>
          </a:p>
          <a:p>
            <a:r>
              <a:rPr kumimoji="1" lang="en-US" altLang="ja-JP" dirty="0"/>
              <a:t>D: </a:t>
            </a:r>
            <a:r>
              <a:rPr kumimoji="1" lang="ja-JP" altLang="en-US" dirty="0"/>
              <a:t>（</a:t>
            </a:r>
            <a:r>
              <a:rPr kumimoji="1" lang="en-US" altLang="ja-JP" dirty="0"/>
              <a:t>SBP&gt;=140 and SBP&lt;=159</a:t>
            </a:r>
            <a:r>
              <a:rPr kumimoji="1" lang="ja-JP" altLang="en-US" dirty="0"/>
              <a:t>） </a:t>
            </a:r>
            <a:r>
              <a:rPr kumimoji="1" lang="en-US" altLang="ja-JP" dirty="0"/>
              <a:t>or  </a:t>
            </a:r>
            <a:r>
              <a:rPr kumimoji="1" lang="ja-JP" altLang="en-US" dirty="0"/>
              <a:t>（</a:t>
            </a:r>
            <a:r>
              <a:rPr kumimoji="1" lang="en-US" altLang="ja-JP" dirty="0"/>
              <a:t>DBP&gt;= 90 and DBP&lt;= 99</a:t>
            </a:r>
            <a:r>
              <a:rPr kumimoji="1" lang="ja-JP" altLang="en-US" dirty="0"/>
              <a:t>）</a:t>
            </a:r>
          </a:p>
          <a:p>
            <a:r>
              <a:rPr kumimoji="1" lang="en-US" altLang="ja-JP" dirty="0"/>
              <a:t>E: </a:t>
            </a:r>
            <a:r>
              <a:rPr kumimoji="1" lang="ja-JP" altLang="en-US" dirty="0"/>
              <a:t>（</a:t>
            </a:r>
            <a:r>
              <a:rPr kumimoji="1" lang="en-US" altLang="ja-JP" dirty="0"/>
              <a:t>SBP&gt;=160 and SBP&lt;=179</a:t>
            </a:r>
            <a:r>
              <a:rPr kumimoji="1" lang="ja-JP" altLang="en-US" dirty="0"/>
              <a:t>） </a:t>
            </a:r>
            <a:r>
              <a:rPr kumimoji="1" lang="en-US" altLang="ja-JP" dirty="0"/>
              <a:t>and </a:t>
            </a:r>
            <a:r>
              <a:rPr kumimoji="1" lang="ja-JP" altLang="en-US" dirty="0"/>
              <a:t>（</a:t>
            </a:r>
            <a:r>
              <a:rPr kumimoji="1" lang="en-US" altLang="ja-JP" dirty="0"/>
              <a:t>DBP&gt;=100 and DBP&lt;=109</a:t>
            </a:r>
            <a:r>
              <a:rPr kumimoji="1" lang="ja-JP" altLang="en-US" dirty="0"/>
              <a:t>）</a:t>
            </a:r>
          </a:p>
          <a:p>
            <a:r>
              <a:rPr kumimoji="1" lang="en-US" altLang="ja-JP" dirty="0"/>
              <a:t>E: </a:t>
            </a:r>
            <a:r>
              <a:rPr kumimoji="1" lang="ja-JP" altLang="en-US" dirty="0"/>
              <a:t>（</a:t>
            </a:r>
            <a:r>
              <a:rPr kumimoji="1" lang="en-US" altLang="ja-JP" dirty="0"/>
              <a:t>SBP&gt;=160 and SBP&lt;=179</a:t>
            </a:r>
            <a:r>
              <a:rPr kumimoji="1" lang="ja-JP" altLang="en-US" dirty="0"/>
              <a:t>） </a:t>
            </a:r>
            <a:r>
              <a:rPr kumimoji="1" lang="en-US" altLang="ja-JP" dirty="0"/>
              <a:t>or  </a:t>
            </a:r>
            <a:r>
              <a:rPr kumimoji="1" lang="ja-JP" altLang="en-US" dirty="0"/>
              <a:t>（</a:t>
            </a:r>
            <a:r>
              <a:rPr kumimoji="1" lang="en-US" altLang="ja-JP" dirty="0"/>
              <a:t>DBP&gt;=100 and DBP&lt;=109</a:t>
            </a:r>
            <a:r>
              <a:rPr kumimoji="1" lang="ja-JP" altLang="en-US" dirty="0"/>
              <a:t>）</a:t>
            </a:r>
          </a:p>
          <a:p>
            <a:r>
              <a:rPr kumimoji="1" lang="en-US" altLang="ja-JP" dirty="0"/>
              <a:t>F:  SBP&gt;=180 and DBP&gt;=110</a:t>
            </a:r>
          </a:p>
          <a:p>
            <a:r>
              <a:rPr kumimoji="1" lang="en-US" altLang="ja-JP" dirty="0"/>
              <a:t>F:  SBP&gt;=180 or  DBP&gt;=110 </a:t>
            </a:r>
          </a:p>
          <a:p>
            <a:r>
              <a:rPr kumimoji="1" lang="en-US" altLang="ja-JP" dirty="0"/>
              <a:t>G:  SBP&gt;=140 and DBP&lt;  90</a:t>
            </a:r>
          </a:p>
          <a:p>
            <a:r>
              <a:rPr kumimoji="1" lang="en-US" altLang="ja-JP" dirty="0"/>
              <a:t>X:  BMI&gt;=25</a:t>
            </a:r>
          </a:p>
          <a:p>
            <a:r>
              <a:rPr kumimoji="1" lang="en-US" altLang="ja-JP" dirty="0"/>
              <a:t>Y:  HbA1c&gt;=6.5</a:t>
            </a:r>
          </a:p>
          <a:p>
            <a:r>
              <a:rPr kumimoji="1" lang="en-US" altLang="ja-JP" dirty="0"/>
              <a:t>Z:  LDL&gt;=140 </a:t>
            </a:r>
            <a:r>
              <a:rPr kumimoji="1" lang="ja-JP" altLang="en-US" dirty="0"/>
              <a:t>（高</a:t>
            </a:r>
            <a:r>
              <a:rPr kumimoji="1" lang="en-US" altLang="ja-JP" dirty="0"/>
              <a:t>LDL</a:t>
            </a:r>
            <a:r>
              <a:rPr kumimoji="1" lang="ja-JP" altLang="en-US" dirty="0"/>
              <a:t>コレステロール血症）</a:t>
            </a:r>
          </a:p>
          <a:p>
            <a:r>
              <a:rPr kumimoji="1" lang="en-US" altLang="ja-JP" dirty="0"/>
              <a:t>Z:  LDL&gt;=120 and LDL&lt;=139 </a:t>
            </a:r>
            <a:r>
              <a:rPr kumimoji="1" lang="ja-JP" altLang="en-US" dirty="0"/>
              <a:t>（境界域高</a:t>
            </a:r>
            <a:r>
              <a:rPr kumimoji="1" lang="en-US" altLang="ja-JP" dirty="0"/>
              <a:t>LDL</a:t>
            </a:r>
            <a:r>
              <a:rPr kumimoji="1" lang="ja-JP" altLang="en-US" dirty="0"/>
              <a:t>コレステロール血症）</a:t>
            </a:r>
          </a:p>
          <a:p>
            <a:r>
              <a:rPr kumimoji="1" lang="en-US" altLang="ja-JP" dirty="0"/>
              <a:t>Z:  HDL&lt; 40 </a:t>
            </a:r>
            <a:r>
              <a:rPr kumimoji="1" lang="ja-JP" altLang="en-US" dirty="0"/>
              <a:t>（低</a:t>
            </a:r>
            <a:r>
              <a:rPr kumimoji="1" lang="en-US" altLang="ja-JP" dirty="0"/>
              <a:t>HDL</a:t>
            </a:r>
            <a:r>
              <a:rPr kumimoji="1" lang="ja-JP" altLang="en-US" dirty="0"/>
              <a:t>コレステロール血症）</a:t>
            </a:r>
          </a:p>
          <a:p>
            <a:r>
              <a:rPr kumimoji="1" lang="en-US" altLang="ja-JP" dirty="0"/>
              <a:t>Z:  TG&gt;=150 </a:t>
            </a:r>
            <a:r>
              <a:rPr kumimoji="1" lang="ja-JP" altLang="en-US" dirty="0"/>
              <a:t>（高トリグリセライド血症）</a:t>
            </a:r>
          </a:p>
          <a:p>
            <a:endParaRPr kumimoji="1" lang="ja-JP" altLang="en-US" dirty="0"/>
          </a:p>
          <a:p>
            <a:pPr marL="0" indent="0">
              <a:buNone/>
            </a:pPr>
            <a:r>
              <a:rPr kumimoji="1" lang="ja-JP" altLang="en-US" dirty="0"/>
              <a:t>注）</a:t>
            </a:r>
            <a:r>
              <a:rPr kumimoji="1" lang="en-US" altLang="ja-JP" dirty="0"/>
              <a:t>A-G</a:t>
            </a:r>
            <a:r>
              <a:rPr kumimoji="1" lang="ja-JP" altLang="en-US" dirty="0"/>
              <a:t>に関して，</a:t>
            </a:r>
            <a:r>
              <a:rPr kumimoji="1" lang="en-US" altLang="ja-JP" dirty="0"/>
              <a:t>SBP</a:t>
            </a:r>
            <a:r>
              <a:rPr kumimoji="1" lang="ja-JP" altLang="en-US" dirty="0"/>
              <a:t>（収縮期血圧）と</a:t>
            </a:r>
            <a:r>
              <a:rPr kumimoji="1" lang="en-US" altLang="ja-JP" dirty="0"/>
              <a:t>DBP</a:t>
            </a:r>
            <a:r>
              <a:rPr kumimoji="1" lang="ja-JP" altLang="en-US" dirty="0"/>
              <a:t>（拡張期血圧）が異なる分類に属する場合にはより高いほうの分類に組み入れた．</a:t>
            </a:r>
          </a:p>
          <a:p>
            <a:pPr marL="0" indent="0">
              <a:buNone/>
            </a:pPr>
            <a:r>
              <a:rPr kumimoji="1" lang="ja-JP" altLang="en-US" dirty="0"/>
              <a:t>日本高血圧学会高血圧治療ガイドライン作成委員会編（</a:t>
            </a:r>
            <a:r>
              <a:rPr kumimoji="1" lang="en-US" altLang="ja-JP" dirty="0"/>
              <a:t>2019</a:t>
            </a:r>
            <a:r>
              <a:rPr kumimoji="1" lang="ja-JP" altLang="en-US" dirty="0"/>
              <a:t>）</a:t>
            </a:r>
            <a:r>
              <a:rPr kumimoji="1" lang="en-US" altLang="ja-JP" dirty="0"/>
              <a:t>『</a:t>
            </a:r>
            <a:r>
              <a:rPr kumimoji="1" lang="ja-JP" altLang="en-US" dirty="0"/>
              <a:t>高血圧治療ガイドライン</a:t>
            </a:r>
            <a:r>
              <a:rPr kumimoji="1" lang="en-US" altLang="ja-JP" dirty="0"/>
              <a:t>2019』</a:t>
            </a:r>
            <a:r>
              <a:rPr kumimoji="1" lang="ja-JP" altLang="en-US" dirty="0"/>
              <a:t>ライフサイエンス出版社による． </a:t>
            </a:r>
          </a:p>
          <a:p>
            <a:endParaRPr kumimoji="1" lang="ja-JP" altLang="en-US" dirty="0"/>
          </a:p>
        </p:txBody>
      </p:sp>
    </p:spTree>
    <p:extLst>
      <p:ext uri="{BB962C8B-B14F-4D97-AF65-F5344CB8AC3E}">
        <p14:creationId xmlns:p14="http://schemas.microsoft.com/office/powerpoint/2010/main" val="502810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6ACD6E-D385-3072-2428-F163B74FEF9B}"/>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428E238B-A9B4-0108-90E9-FDCBAE84BD4E}"/>
              </a:ext>
            </a:extLst>
          </p:cNvPr>
          <p:cNvSpPr>
            <a:spLocks noGrp="1"/>
          </p:cNvSpPr>
          <p:nvPr>
            <p:ph idx="1"/>
          </p:nvPr>
        </p:nvSpPr>
        <p:spPr/>
        <p:txBody>
          <a:bodyPr/>
          <a:lstStyle/>
          <a:p>
            <a:endParaRPr kumimoji="1" lang="ja-JP" altLang="en-US" dirty="0"/>
          </a:p>
        </p:txBody>
      </p:sp>
      <p:graphicFrame>
        <p:nvGraphicFramePr>
          <p:cNvPr id="5" name="表 4">
            <a:extLst>
              <a:ext uri="{FF2B5EF4-FFF2-40B4-BE49-F238E27FC236}">
                <a16:creationId xmlns:a16="http://schemas.microsoft.com/office/drawing/2014/main" id="{0329B71F-44D5-FE41-8F5E-189CD53D2ABC}"/>
              </a:ext>
            </a:extLst>
          </p:cNvPr>
          <p:cNvGraphicFramePr>
            <a:graphicFrameLocks noGrp="1"/>
          </p:cNvGraphicFramePr>
          <p:nvPr/>
        </p:nvGraphicFramePr>
        <p:xfrm>
          <a:off x="838200" y="365125"/>
          <a:ext cx="7972958" cy="3906708"/>
        </p:xfrm>
        <a:graphic>
          <a:graphicData uri="http://schemas.openxmlformats.org/drawingml/2006/table">
            <a:tbl>
              <a:tblPr firstRow="1" bandRow="1">
                <a:tableStyleId>{8EC20E35-A176-4012-BC5E-935CFFF8708E}</a:tableStyleId>
              </a:tblPr>
              <a:tblGrid>
                <a:gridCol w="552768">
                  <a:extLst>
                    <a:ext uri="{9D8B030D-6E8A-4147-A177-3AD203B41FA5}">
                      <a16:colId xmlns:a16="http://schemas.microsoft.com/office/drawing/2014/main" val="332912741"/>
                    </a:ext>
                  </a:extLst>
                </a:gridCol>
                <a:gridCol w="984568">
                  <a:extLst>
                    <a:ext uri="{9D8B030D-6E8A-4147-A177-3AD203B41FA5}">
                      <a16:colId xmlns:a16="http://schemas.microsoft.com/office/drawing/2014/main" val="1083467666"/>
                    </a:ext>
                  </a:extLst>
                </a:gridCol>
                <a:gridCol w="4056380">
                  <a:extLst>
                    <a:ext uri="{9D8B030D-6E8A-4147-A177-3AD203B41FA5}">
                      <a16:colId xmlns:a16="http://schemas.microsoft.com/office/drawing/2014/main" val="1858071277"/>
                    </a:ext>
                  </a:extLst>
                </a:gridCol>
                <a:gridCol w="1338580">
                  <a:extLst>
                    <a:ext uri="{9D8B030D-6E8A-4147-A177-3AD203B41FA5}">
                      <a16:colId xmlns:a16="http://schemas.microsoft.com/office/drawing/2014/main" val="3261711550"/>
                    </a:ext>
                  </a:extLst>
                </a:gridCol>
                <a:gridCol w="1040662">
                  <a:extLst>
                    <a:ext uri="{9D8B030D-6E8A-4147-A177-3AD203B41FA5}">
                      <a16:colId xmlns:a16="http://schemas.microsoft.com/office/drawing/2014/main" val="3408033411"/>
                    </a:ext>
                  </a:extLst>
                </a:gridCol>
              </a:tblGrid>
              <a:tr h="206375">
                <a:tc>
                  <a:txBody>
                    <a:bodyPr/>
                    <a:lstStyle/>
                    <a:p>
                      <a:r>
                        <a:rPr kumimoji="1" lang="en-US" altLang="ja-JP" sz="1200" dirty="0">
                          <a:latin typeface="Times New Roman" panose="02020603050405020304" pitchFamily="18" charset="0"/>
                          <a:cs typeface="Times New Roman" panose="02020603050405020304" pitchFamily="18" charset="0"/>
                        </a:rPr>
                        <a:t>layer</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type</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Times New Roman" panose="02020603050405020304" pitchFamily="18" charset="0"/>
                          <a:cs typeface="Times New Roman" panose="02020603050405020304" pitchFamily="18" charset="0"/>
                        </a:rPr>
                        <a:t>Option</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Output Shape</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Params</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74872927"/>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1</a:t>
                      </a:r>
                    </a:p>
                  </a:txBody>
                  <a:tcPr/>
                </a:tc>
                <a:tc>
                  <a:txBody>
                    <a:bodyPr/>
                    <a:lstStyle/>
                    <a:p>
                      <a:r>
                        <a:rPr kumimoji="1" lang="en-US" altLang="ja-JP" sz="1200" dirty="0">
                          <a:latin typeface="Times New Roman" panose="02020603050405020304" pitchFamily="18" charset="0"/>
                          <a:cs typeface="Times New Roman" panose="02020603050405020304" pitchFamily="18" charset="0"/>
                        </a:rPr>
                        <a:t>Input</a:t>
                      </a:r>
                    </a:p>
                  </a:txBody>
                  <a:tcPr/>
                </a:tc>
                <a:tc>
                  <a:txBody>
                    <a:bodyPr/>
                    <a:lstStyle/>
                    <a:p>
                      <a:endParaRPr kumimoji="1" lang="ja-JP" altLang="en-US" sz="1200">
                        <a:latin typeface="Times New Roman" panose="02020603050405020304" pitchFamily="18" charset="0"/>
                        <a:cs typeface="Times New Roman" panose="02020603050405020304" pitchFamily="18" charset="0"/>
                      </a:endParaRPr>
                    </a:p>
                  </a:txBody>
                  <a:tcPr/>
                </a:tc>
                <a:tc>
                  <a:txBody>
                    <a:bodyPr/>
                    <a:lstStyle/>
                    <a:p>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2787779"/>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Convolution</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filters= </a:t>
                      </a:r>
                      <a:r>
                        <a:rPr lang="en-US" altLang="ja-JP" sz="1200" dirty="0">
                          <a:latin typeface="Times New Roman" panose="02020603050405020304" pitchFamily="18" charset="0"/>
                          <a:cs typeface="Times New Roman" panose="02020603050405020304" pitchFamily="18" charset="0"/>
                        </a:rPr>
                        <a:t>32, </a:t>
                      </a:r>
                      <a:r>
                        <a:rPr lang="en-US" altLang="ja-JP" sz="1200" dirty="0" err="1">
                          <a:latin typeface="Times New Roman" panose="02020603050405020304" pitchFamily="18" charset="0"/>
                          <a:cs typeface="Times New Roman" panose="02020603050405020304" pitchFamily="18" charset="0"/>
                        </a:rPr>
                        <a:t>kernel_size</a:t>
                      </a:r>
                      <a:r>
                        <a:rPr lang="en-US" altLang="ja-JP" sz="1200" dirty="0">
                          <a:latin typeface="Times New Roman" panose="02020603050405020304" pitchFamily="18" charset="0"/>
                          <a:cs typeface="Times New Roman" panose="02020603050405020304" pitchFamily="18" charset="0"/>
                        </a:rPr>
                        <a:t>=(3,3), padding=same, activation=</a:t>
                      </a:r>
                      <a:r>
                        <a:rPr lang="en-US" altLang="ja-JP" sz="1200" dirty="0" err="1">
                          <a:latin typeface="Times New Roman" panose="02020603050405020304" pitchFamily="18" charset="0"/>
                          <a:cs typeface="Times New Roman" panose="02020603050405020304" pitchFamily="18" charset="0"/>
                        </a:rPr>
                        <a:t>relu</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80, 80,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896</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19551783"/>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3</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Convolution</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filters=32, </a:t>
                      </a:r>
                      <a:r>
                        <a:rPr kumimoji="1" lang="en-US" altLang="ja-JP" sz="1200" dirty="0" err="1">
                          <a:latin typeface="Times New Roman" panose="02020603050405020304" pitchFamily="18" charset="0"/>
                          <a:cs typeface="Times New Roman" panose="02020603050405020304" pitchFamily="18" charset="0"/>
                        </a:rPr>
                        <a:t>kernel_size</a:t>
                      </a:r>
                      <a:r>
                        <a:rPr kumimoji="1" lang="en-US" altLang="ja-JP" sz="1200" dirty="0">
                          <a:latin typeface="Times New Roman" panose="02020603050405020304" pitchFamily="18" charset="0"/>
                          <a:cs typeface="Times New Roman" panose="02020603050405020304" pitchFamily="18" charset="0"/>
                        </a:rPr>
                        <a:t>=(3,3), </a:t>
                      </a:r>
                      <a:r>
                        <a:rPr kumimoji="1" lang="en-US" altLang="ja-JP" sz="1200" dirty="0" err="1">
                          <a:latin typeface="Times New Roman" panose="02020603050405020304" pitchFamily="18" charset="0"/>
                          <a:cs typeface="Times New Roman" panose="02020603050405020304" pitchFamily="18" charset="0"/>
                        </a:rPr>
                        <a:t>relu</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Times New Roman" panose="02020603050405020304" pitchFamily="18" charset="0"/>
                          <a:cs typeface="Times New Roman" panose="02020603050405020304" pitchFamily="18" charset="0"/>
                        </a:rPr>
                        <a:t>(None, 78, 78,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9248</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3262286"/>
                  </a:ext>
                </a:extLst>
              </a:tr>
              <a:tr h="152689">
                <a:tc>
                  <a:txBody>
                    <a:bodyPr/>
                    <a:lstStyle/>
                    <a:p>
                      <a:pPr algn="r"/>
                      <a:r>
                        <a:rPr kumimoji="1" lang="en-US" altLang="ja-JP" sz="1200" dirty="0">
                          <a:latin typeface="Times New Roman" panose="02020603050405020304" pitchFamily="18" charset="0"/>
                          <a:cs typeface="Times New Roman" panose="02020603050405020304" pitchFamily="18" charset="0"/>
                        </a:rPr>
                        <a:t>4</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Pooling</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err="1">
                          <a:latin typeface="Times New Roman" panose="02020603050405020304" pitchFamily="18" charset="0"/>
                          <a:cs typeface="Times New Roman" panose="02020603050405020304" pitchFamily="18" charset="0"/>
                        </a:rPr>
                        <a:t>MaxPooling</a:t>
                      </a:r>
                      <a:r>
                        <a:rPr kumimoji="1" lang="en-US" altLang="ja-JP" sz="1200" dirty="0">
                          <a:latin typeface="Times New Roman" panose="02020603050405020304" pitchFamily="18" charset="0"/>
                          <a:cs typeface="Times New Roman" panose="02020603050405020304" pitchFamily="18" charset="0"/>
                        </a:rPr>
                        <a:t>, </a:t>
                      </a:r>
                      <a:r>
                        <a:rPr kumimoji="1" lang="en-US" altLang="ja-JP" sz="1200" dirty="0" err="1">
                          <a:latin typeface="Times New Roman" panose="02020603050405020304" pitchFamily="18" charset="0"/>
                          <a:cs typeface="Times New Roman" panose="02020603050405020304" pitchFamily="18" charset="0"/>
                        </a:rPr>
                        <a:t>pool_size</a:t>
                      </a:r>
                      <a:r>
                        <a:rPr kumimoji="1" lang="en-US" altLang="ja-JP" sz="1200" dirty="0">
                          <a:latin typeface="Times New Roman" panose="02020603050405020304" pitchFamily="18" charset="0"/>
                          <a:cs typeface="Times New Roman" panose="02020603050405020304" pitchFamily="18" charset="0"/>
                        </a:rPr>
                        <a:t>=(2,2)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39, 39,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0</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3542205"/>
                  </a:ext>
                </a:extLst>
              </a:tr>
              <a:tr h="135991">
                <a:tc>
                  <a:txBody>
                    <a:bodyPr/>
                    <a:lstStyle/>
                    <a:p>
                      <a:pPr algn="r"/>
                      <a:r>
                        <a:rPr kumimoji="1" lang="en-US" altLang="ja-JP" sz="1200" dirty="0">
                          <a:latin typeface="Times New Roman" panose="02020603050405020304" pitchFamily="18" charset="0"/>
                          <a:cs typeface="Times New Roman" panose="02020603050405020304" pitchFamily="18" charset="0"/>
                        </a:rPr>
                        <a:t>5</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Dropout</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Dropout=0.25</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39, 39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0</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811298"/>
                  </a:ext>
                </a:extLst>
              </a:tr>
              <a:tr h="128818">
                <a:tc>
                  <a:txBody>
                    <a:bodyPr/>
                    <a:lstStyle/>
                    <a:p>
                      <a:pPr algn="r"/>
                      <a:r>
                        <a:rPr kumimoji="1" lang="en-US" altLang="ja-JP" sz="1200" dirty="0">
                          <a:latin typeface="Times New Roman" panose="02020603050405020304" pitchFamily="18" charset="0"/>
                          <a:cs typeface="Times New Roman" panose="02020603050405020304" pitchFamily="18" charset="0"/>
                        </a:rPr>
                        <a:t>6</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Convolution</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filters= 32, </a:t>
                      </a:r>
                      <a:r>
                        <a:rPr kumimoji="1" lang="en-US" altLang="ja-JP" sz="1200" dirty="0" err="1">
                          <a:latin typeface="Times New Roman" panose="02020603050405020304" pitchFamily="18" charset="0"/>
                          <a:cs typeface="Times New Roman" panose="02020603050405020304" pitchFamily="18" charset="0"/>
                        </a:rPr>
                        <a:t>kernel_size</a:t>
                      </a:r>
                      <a:r>
                        <a:rPr kumimoji="1" lang="en-US" altLang="ja-JP" sz="1200" dirty="0">
                          <a:latin typeface="Times New Roman" panose="02020603050405020304" pitchFamily="18" charset="0"/>
                          <a:cs typeface="Times New Roman" panose="02020603050405020304" pitchFamily="18" charset="0"/>
                        </a:rPr>
                        <a:t>=(3,3), padding=same, </a:t>
                      </a:r>
                      <a:r>
                        <a:rPr lang="en-US" altLang="ja-JP" sz="1200" dirty="0">
                          <a:latin typeface="Times New Roman" panose="02020603050405020304" pitchFamily="18" charset="0"/>
                          <a:cs typeface="Times New Roman" panose="02020603050405020304" pitchFamily="18" charset="0"/>
                        </a:rPr>
                        <a:t>activation=</a:t>
                      </a:r>
                      <a:r>
                        <a:rPr kumimoji="1" lang="en-US" altLang="ja-JP" sz="1200" dirty="0" err="1">
                          <a:latin typeface="Times New Roman" panose="02020603050405020304" pitchFamily="18" charset="0"/>
                          <a:cs typeface="Times New Roman" panose="02020603050405020304" pitchFamily="18" charset="0"/>
                        </a:rPr>
                        <a:t>relu</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39, 39,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9248</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434791"/>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7</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Convolution</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filters= 32, </a:t>
                      </a:r>
                      <a:r>
                        <a:rPr kumimoji="1" lang="en-US" altLang="ja-JP" sz="1200" dirty="0" err="1">
                          <a:latin typeface="Times New Roman" panose="02020603050405020304" pitchFamily="18" charset="0"/>
                          <a:cs typeface="Times New Roman" panose="02020603050405020304" pitchFamily="18" charset="0"/>
                        </a:rPr>
                        <a:t>kernel_size</a:t>
                      </a:r>
                      <a:r>
                        <a:rPr kumimoji="1" lang="en-US" altLang="ja-JP" sz="1200" dirty="0">
                          <a:latin typeface="Times New Roman" panose="02020603050405020304" pitchFamily="18" charset="0"/>
                          <a:cs typeface="Times New Roman" panose="02020603050405020304" pitchFamily="18" charset="0"/>
                        </a:rPr>
                        <a:t>=(3,3), padding=same, </a:t>
                      </a:r>
                      <a:r>
                        <a:rPr lang="en-US" altLang="ja-JP" sz="1200" dirty="0">
                          <a:latin typeface="Times New Roman" panose="02020603050405020304" pitchFamily="18" charset="0"/>
                          <a:cs typeface="Times New Roman" panose="02020603050405020304" pitchFamily="18" charset="0"/>
                        </a:rPr>
                        <a:t>activation=</a:t>
                      </a:r>
                      <a:r>
                        <a:rPr kumimoji="1" lang="en-US" altLang="ja-JP" sz="1200" dirty="0" err="1">
                          <a:latin typeface="Times New Roman" panose="02020603050405020304" pitchFamily="18" charset="0"/>
                          <a:cs typeface="Times New Roman" panose="02020603050405020304" pitchFamily="18" charset="0"/>
                        </a:rPr>
                        <a:t>relu</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39, 39,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9248</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5258534"/>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8</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Pooling</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err="1">
                          <a:latin typeface="Times New Roman" panose="02020603050405020304" pitchFamily="18" charset="0"/>
                          <a:cs typeface="Times New Roman" panose="02020603050405020304" pitchFamily="18" charset="0"/>
                        </a:rPr>
                        <a:t>MaxPooling</a:t>
                      </a:r>
                      <a:r>
                        <a:rPr kumimoji="1" lang="en-US" altLang="ja-JP" sz="1200" dirty="0">
                          <a:latin typeface="Times New Roman" panose="02020603050405020304" pitchFamily="18" charset="0"/>
                          <a:cs typeface="Times New Roman" panose="02020603050405020304" pitchFamily="18" charset="0"/>
                        </a:rPr>
                        <a:t>, </a:t>
                      </a:r>
                      <a:r>
                        <a:rPr kumimoji="1" lang="en-US" altLang="ja-JP" sz="1200" dirty="0" err="1">
                          <a:latin typeface="Times New Roman" panose="02020603050405020304" pitchFamily="18" charset="0"/>
                          <a:cs typeface="Times New Roman" panose="02020603050405020304" pitchFamily="18" charset="0"/>
                        </a:rPr>
                        <a:t>pool_size</a:t>
                      </a:r>
                      <a:r>
                        <a:rPr kumimoji="1" lang="en-US" altLang="ja-JP" sz="1200" dirty="0">
                          <a:latin typeface="Times New Roman" panose="02020603050405020304" pitchFamily="18" charset="0"/>
                          <a:cs typeface="Times New Roman" panose="02020603050405020304" pitchFamily="18" charset="0"/>
                        </a:rPr>
                        <a:t>=(2,2)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19, 19, 32)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0</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7779720"/>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9</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Flatten</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(None, 11552)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0</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9787080"/>
                  </a:ext>
                </a:extLst>
              </a:tr>
              <a:tr h="0">
                <a:tc>
                  <a:txBody>
                    <a:bodyPr/>
                    <a:lstStyle/>
                    <a:p>
                      <a:pPr algn="r"/>
                      <a:r>
                        <a:rPr kumimoji="1" lang="en-US" altLang="ja-JP" sz="1200" dirty="0">
                          <a:latin typeface="Times New Roman" panose="02020603050405020304" pitchFamily="18" charset="0"/>
                          <a:cs typeface="Times New Roman" panose="02020603050405020304" pitchFamily="18" charset="0"/>
                        </a:rPr>
                        <a:t>10</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Dropout</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Dropout=</a:t>
                      </a:r>
                      <a:r>
                        <a:rPr kumimoji="1" lang="en-US" altLang="ja-JP" sz="1200" dirty="0">
                          <a:latin typeface="Times New Roman" panose="02020603050405020304" pitchFamily="18" charset="0"/>
                          <a:cs typeface="Times New Roman" panose="02020603050405020304" pitchFamily="18" charset="0"/>
                        </a:rPr>
                        <a:t>0.25</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Times New Roman" panose="02020603050405020304" pitchFamily="18" charset="0"/>
                          <a:cs typeface="Times New Roman" panose="02020603050405020304" pitchFamily="18" charset="0"/>
                        </a:rPr>
                        <a:t>(None, 11552)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0</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1589468"/>
                  </a:ext>
                </a:extLst>
              </a:tr>
              <a:tr h="121528">
                <a:tc>
                  <a:txBody>
                    <a:bodyPr/>
                    <a:lstStyle/>
                    <a:p>
                      <a:pPr algn="r"/>
                      <a:r>
                        <a:rPr kumimoji="1" lang="en-US" altLang="ja-JP" sz="1200" dirty="0">
                          <a:latin typeface="Times New Roman" panose="02020603050405020304" pitchFamily="18" charset="0"/>
                          <a:cs typeface="Times New Roman" panose="02020603050405020304" pitchFamily="18" charset="0"/>
                        </a:rPr>
                        <a:t>11</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Dense</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output=512, activation=</a:t>
                      </a:r>
                      <a:r>
                        <a:rPr lang="en-US" altLang="ja-JP" sz="1200" dirty="0" err="1">
                          <a:latin typeface="Times New Roman" panose="02020603050405020304" pitchFamily="18" charset="0"/>
                          <a:cs typeface="Times New Roman" panose="02020603050405020304" pitchFamily="18" charset="0"/>
                        </a:rPr>
                        <a:t>relu</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Times New Roman" panose="02020603050405020304" pitchFamily="18" charset="0"/>
                          <a:cs typeface="Times New Roman" panose="02020603050405020304" pitchFamily="18" charset="0"/>
                        </a:rPr>
                        <a:t>(None, 512)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5915136</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15570979"/>
                  </a:ext>
                </a:extLst>
              </a:tr>
              <a:tr h="181030">
                <a:tc>
                  <a:txBody>
                    <a:bodyPr/>
                    <a:lstStyle/>
                    <a:p>
                      <a:pPr algn="r"/>
                      <a:r>
                        <a:rPr kumimoji="1" lang="en-US" altLang="ja-JP" sz="1200" dirty="0">
                          <a:latin typeface="Times New Roman" panose="02020603050405020304" pitchFamily="18" charset="0"/>
                          <a:cs typeface="Times New Roman" panose="02020603050405020304" pitchFamily="18" charset="0"/>
                        </a:rPr>
                        <a:t>12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Dropout</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Dropout=0.5</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Times New Roman" panose="02020603050405020304" pitchFamily="18" charset="0"/>
                          <a:cs typeface="Times New Roman" panose="02020603050405020304" pitchFamily="18" charset="0"/>
                        </a:rPr>
                        <a:t>(None, 512)</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0</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6730052"/>
                  </a:ext>
                </a:extLst>
              </a:tr>
              <a:tr h="340548">
                <a:tc>
                  <a:txBody>
                    <a:bodyPr/>
                    <a:lstStyle/>
                    <a:p>
                      <a:pPr algn="r"/>
                      <a:r>
                        <a:rPr kumimoji="1" lang="en-US" altLang="ja-JP" sz="1200" dirty="0">
                          <a:latin typeface="Times New Roman" panose="02020603050405020304" pitchFamily="18" charset="0"/>
                          <a:cs typeface="Times New Roman" panose="02020603050405020304" pitchFamily="18" charset="0"/>
                        </a:rPr>
                        <a:t>13</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kumimoji="1" lang="en-US" altLang="ja-JP" sz="1200" dirty="0">
                          <a:latin typeface="Times New Roman" panose="02020603050405020304" pitchFamily="18" charset="0"/>
                          <a:cs typeface="Times New Roman" panose="02020603050405020304" pitchFamily="18" charset="0"/>
                        </a:rPr>
                        <a:t>Dense</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r>
                        <a:rPr lang="en-US" altLang="ja-JP" sz="1200" dirty="0">
                          <a:latin typeface="Times New Roman" panose="02020603050405020304" pitchFamily="18" charset="0"/>
                          <a:cs typeface="Times New Roman" panose="02020603050405020304" pitchFamily="18" charset="0"/>
                        </a:rPr>
                        <a:t>output=5, activation=</a:t>
                      </a:r>
                      <a:r>
                        <a:rPr lang="en-US" altLang="ja-JP" sz="1200" dirty="0" err="1">
                          <a:latin typeface="Times New Roman" panose="02020603050405020304" pitchFamily="18" charset="0"/>
                          <a:cs typeface="Times New Roman" panose="02020603050405020304" pitchFamily="18" charset="0"/>
                        </a:rPr>
                        <a:t>softmax</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Times New Roman" panose="02020603050405020304" pitchFamily="18" charset="0"/>
                          <a:cs typeface="Times New Roman" panose="02020603050405020304" pitchFamily="18" charset="0"/>
                        </a:rPr>
                        <a:t>(None, 5)</a:t>
                      </a:r>
                      <a:endParaRPr kumimoji="1" lang="ja-JP" altLang="en-US" sz="1200" dirty="0">
                        <a:latin typeface="Times New Roman" panose="02020603050405020304" pitchFamily="18" charset="0"/>
                        <a:cs typeface="Times New Roman" panose="02020603050405020304" pitchFamily="18" charset="0"/>
                      </a:endParaRPr>
                    </a:p>
                  </a:txBody>
                  <a:tcPr/>
                </a:tc>
                <a:tc>
                  <a:txBody>
                    <a:bodyPr/>
                    <a:lstStyle/>
                    <a:p>
                      <a:pPr algn="r"/>
                      <a:r>
                        <a:rPr kumimoji="1" lang="en-US" altLang="ja-JP" sz="1200" dirty="0">
                          <a:latin typeface="Times New Roman" panose="02020603050405020304" pitchFamily="18" charset="0"/>
                          <a:cs typeface="Times New Roman" panose="02020603050405020304" pitchFamily="18" charset="0"/>
                        </a:rPr>
                        <a:t>2565</a:t>
                      </a:r>
                      <a:endParaRPr kumimoji="1" lang="ja-JP"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2011690"/>
                  </a:ext>
                </a:extLst>
              </a:tr>
            </a:tbl>
          </a:graphicData>
        </a:graphic>
      </p:graphicFrame>
      <p:pic>
        <p:nvPicPr>
          <p:cNvPr id="6" name="図 5" descr="ダイアグラム&#10;&#10;自動的に生成された説明">
            <a:extLst>
              <a:ext uri="{FF2B5EF4-FFF2-40B4-BE49-F238E27FC236}">
                <a16:creationId xmlns:a16="http://schemas.microsoft.com/office/drawing/2014/main" id="{69F57712-826E-F2D8-E022-E3FDD8E41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1667" y="365125"/>
            <a:ext cx="1402133" cy="5811841"/>
          </a:xfrm>
          <a:prstGeom prst="rect">
            <a:avLst/>
          </a:prstGeom>
        </p:spPr>
      </p:pic>
      <p:pic>
        <p:nvPicPr>
          <p:cNvPr id="11" name="図 10" descr="ヒストグラム が含まれている画像&#10;&#10;自動的に生成された説明">
            <a:extLst>
              <a:ext uri="{FF2B5EF4-FFF2-40B4-BE49-F238E27FC236}">
                <a16:creationId xmlns:a16="http://schemas.microsoft.com/office/drawing/2014/main" id="{DB7CA6EB-E88D-52C5-8C7D-1CDA02BA8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421862"/>
            <a:ext cx="7972958" cy="1755102"/>
          </a:xfrm>
          <a:prstGeom prst="rect">
            <a:avLst/>
          </a:prstGeom>
        </p:spPr>
      </p:pic>
    </p:spTree>
    <p:extLst>
      <p:ext uri="{BB962C8B-B14F-4D97-AF65-F5344CB8AC3E}">
        <p14:creationId xmlns:p14="http://schemas.microsoft.com/office/powerpoint/2010/main" val="1220899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0329B71F-44D5-FE41-8F5E-189CD53D2ABC}"/>
              </a:ext>
            </a:extLst>
          </p:cNvPr>
          <p:cNvGraphicFramePr>
            <a:graphicFrameLocks noGrp="1"/>
          </p:cNvGraphicFramePr>
          <p:nvPr>
            <p:extLst>
              <p:ext uri="{D42A27DB-BD31-4B8C-83A1-F6EECF244321}">
                <p14:modId xmlns:p14="http://schemas.microsoft.com/office/powerpoint/2010/main" val="1655422677"/>
              </p:ext>
            </p:extLst>
          </p:nvPr>
        </p:nvGraphicFramePr>
        <p:xfrm>
          <a:off x="2109521" y="1475646"/>
          <a:ext cx="7972958" cy="3906708"/>
        </p:xfrm>
        <a:graphic>
          <a:graphicData uri="http://schemas.openxmlformats.org/drawingml/2006/table">
            <a:tbl>
              <a:tblPr firstRow="1">
                <a:tableStyleId>{9D7B26C5-4107-4FEC-AEDC-1716B250A1EF}</a:tableStyleId>
              </a:tblPr>
              <a:tblGrid>
                <a:gridCol w="552768">
                  <a:extLst>
                    <a:ext uri="{9D8B030D-6E8A-4147-A177-3AD203B41FA5}">
                      <a16:colId xmlns:a16="http://schemas.microsoft.com/office/drawing/2014/main" val="332912741"/>
                    </a:ext>
                  </a:extLst>
                </a:gridCol>
                <a:gridCol w="984568">
                  <a:extLst>
                    <a:ext uri="{9D8B030D-6E8A-4147-A177-3AD203B41FA5}">
                      <a16:colId xmlns:a16="http://schemas.microsoft.com/office/drawing/2014/main" val="1083467666"/>
                    </a:ext>
                  </a:extLst>
                </a:gridCol>
                <a:gridCol w="4056380">
                  <a:extLst>
                    <a:ext uri="{9D8B030D-6E8A-4147-A177-3AD203B41FA5}">
                      <a16:colId xmlns:a16="http://schemas.microsoft.com/office/drawing/2014/main" val="1858071277"/>
                    </a:ext>
                  </a:extLst>
                </a:gridCol>
                <a:gridCol w="1338580">
                  <a:extLst>
                    <a:ext uri="{9D8B030D-6E8A-4147-A177-3AD203B41FA5}">
                      <a16:colId xmlns:a16="http://schemas.microsoft.com/office/drawing/2014/main" val="3261711550"/>
                    </a:ext>
                  </a:extLst>
                </a:gridCol>
                <a:gridCol w="1040662">
                  <a:extLst>
                    <a:ext uri="{9D8B030D-6E8A-4147-A177-3AD203B41FA5}">
                      <a16:colId xmlns:a16="http://schemas.microsoft.com/office/drawing/2014/main" val="3408033411"/>
                    </a:ext>
                  </a:extLst>
                </a:gridCol>
              </a:tblGrid>
              <a:tr h="206375">
                <a:tc>
                  <a:txBody>
                    <a:bodyPr/>
                    <a:lstStyle/>
                    <a:p>
                      <a:r>
                        <a:rPr kumimoji="1" lang="en-US" altLang="ja-JP" sz="1200" b="0" dirty="0">
                          <a:latin typeface="Times New Roman" panose="02020603050405020304" pitchFamily="18" charset="0"/>
                          <a:cs typeface="Times New Roman" panose="02020603050405020304" pitchFamily="18" charset="0"/>
                        </a:rPr>
                        <a:t>layer</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type</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Times New Roman" panose="02020603050405020304" pitchFamily="18" charset="0"/>
                          <a:cs typeface="Times New Roman" panose="02020603050405020304" pitchFamily="18" charset="0"/>
                        </a:rPr>
                        <a:t>Option</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Output Shape</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Params</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4074872927"/>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1</a:t>
                      </a: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Input</a:t>
                      </a:r>
                    </a:p>
                  </a:txBody>
                  <a:tcPr>
                    <a:solidFill>
                      <a:schemeClr val="bg1"/>
                    </a:solidFill>
                  </a:tcPr>
                </a:tc>
                <a:tc>
                  <a:txBody>
                    <a:bodyPr/>
                    <a:lstStyle/>
                    <a:p>
                      <a:endParaRPr kumimoji="1" lang="ja-JP" altLang="en-US" sz="1200" b="0">
                        <a:latin typeface="Times New Roman" panose="02020603050405020304" pitchFamily="18" charset="0"/>
                        <a:cs typeface="Times New Roman" panose="02020603050405020304" pitchFamily="18" charset="0"/>
                      </a:endParaRPr>
                    </a:p>
                  </a:txBody>
                  <a:tcPr>
                    <a:solidFill>
                      <a:schemeClr val="bg1"/>
                    </a:solidFill>
                  </a:tcPr>
                </a:tc>
                <a:tc>
                  <a:txBody>
                    <a:bodyPr/>
                    <a:lstStyle/>
                    <a:p>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572787779"/>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Convolution</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filters= </a:t>
                      </a:r>
                      <a:r>
                        <a:rPr lang="en-US" altLang="ja-JP" sz="1200" b="0" dirty="0">
                          <a:latin typeface="Times New Roman" panose="02020603050405020304" pitchFamily="18" charset="0"/>
                          <a:cs typeface="Times New Roman" panose="02020603050405020304" pitchFamily="18" charset="0"/>
                        </a:rPr>
                        <a:t>32, </a:t>
                      </a:r>
                      <a:r>
                        <a:rPr lang="en-US" altLang="ja-JP" sz="1200" b="0" dirty="0" err="1">
                          <a:latin typeface="Times New Roman" panose="02020603050405020304" pitchFamily="18" charset="0"/>
                          <a:cs typeface="Times New Roman" panose="02020603050405020304" pitchFamily="18" charset="0"/>
                        </a:rPr>
                        <a:t>kernel_size</a:t>
                      </a:r>
                      <a:r>
                        <a:rPr lang="en-US" altLang="ja-JP" sz="1200" b="0" dirty="0">
                          <a:latin typeface="Times New Roman" panose="02020603050405020304" pitchFamily="18" charset="0"/>
                          <a:cs typeface="Times New Roman" panose="02020603050405020304" pitchFamily="18" charset="0"/>
                        </a:rPr>
                        <a:t>=(3,3), padding=same, activation=</a:t>
                      </a:r>
                      <a:r>
                        <a:rPr lang="en-US" altLang="ja-JP" sz="1200" b="0" dirty="0" err="1">
                          <a:latin typeface="Times New Roman" panose="02020603050405020304" pitchFamily="18" charset="0"/>
                          <a:cs typeface="Times New Roman" panose="02020603050405020304" pitchFamily="18" charset="0"/>
                        </a:rPr>
                        <a:t>relu</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80, 80,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896</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919551783"/>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3</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Convolution</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filters=32, </a:t>
                      </a:r>
                      <a:r>
                        <a:rPr kumimoji="1" lang="en-US" altLang="ja-JP" sz="1200" b="0" dirty="0" err="1">
                          <a:latin typeface="Times New Roman" panose="02020603050405020304" pitchFamily="18" charset="0"/>
                          <a:cs typeface="Times New Roman" panose="02020603050405020304" pitchFamily="18" charset="0"/>
                        </a:rPr>
                        <a:t>kernel_size</a:t>
                      </a:r>
                      <a:r>
                        <a:rPr kumimoji="1" lang="en-US" altLang="ja-JP" sz="1200" b="0" dirty="0">
                          <a:latin typeface="Times New Roman" panose="02020603050405020304" pitchFamily="18" charset="0"/>
                          <a:cs typeface="Times New Roman" panose="02020603050405020304" pitchFamily="18" charset="0"/>
                        </a:rPr>
                        <a:t>=(3,3), </a:t>
                      </a:r>
                      <a:r>
                        <a:rPr kumimoji="1" lang="en-US" altLang="ja-JP" sz="1200" b="0" dirty="0" err="1">
                          <a:latin typeface="Times New Roman" panose="02020603050405020304" pitchFamily="18" charset="0"/>
                          <a:cs typeface="Times New Roman" panose="02020603050405020304" pitchFamily="18" charset="0"/>
                        </a:rPr>
                        <a:t>relu</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Times New Roman" panose="02020603050405020304" pitchFamily="18" charset="0"/>
                          <a:cs typeface="Times New Roman" panose="02020603050405020304" pitchFamily="18" charset="0"/>
                        </a:rPr>
                        <a:t>(None, 78, 78,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9248</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453262286"/>
                  </a:ext>
                </a:extLst>
              </a:tr>
              <a:tr h="152689">
                <a:tc>
                  <a:txBody>
                    <a:bodyPr/>
                    <a:lstStyle/>
                    <a:p>
                      <a:pPr algn="r"/>
                      <a:r>
                        <a:rPr kumimoji="1" lang="en-US" altLang="ja-JP" sz="1200" b="0" dirty="0">
                          <a:latin typeface="Times New Roman" panose="02020603050405020304" pitchFamily="18" charset="0"/>
                          <a:cs typeface="Times New Roman" panose="02020603050405020304" pitchFamily="18" charset="0"/>
                        </a:rPr>
                        <a:t>4</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Pooling</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err="1">
                          <a:latin typeface="Times New Roman" panose="02020603050405020304" pitchFamily="18" charset="0"/>
                          <a:cs typeface="Times New Roman" panose="02020603050405020304" pitchFamily="18" charset="0"/>
                        </a:rPr>
                        <a:t>MaxPooling</a:t>
                      </a:r>
                      <a:r>
                        <a:rPr kumimoji="1" lang="en-US" altLang="ja-JP" sz="1200" b="0" dirty="0">
                          <a:latin typeface="Times New Roman" panose="02020603050405020304" pitchFamily="18" charset="0"/>
                          <a:cs typeface="Times New Roman" panose="02020603050405020304" pitchFamily="18" charset="0"/>
                        </a:rPr>
                        <a:t>, </a:t>
                      </a:r>
                      <a:r>
                        <a:rPr kumimoji="1" lang="en-US" altLang="ja-JP" sz="1200" b="0" dirty="0" err="1">
                          <a:latin typeface="Times New Roman" panose="02020603050405020304" pitchFamily="18" charset="0"/>
                          <a:cs typeface="Times New Roman" panose="02020603050405020304" pitchFamily="18" charset="0"/>
                        </a:rPr>
                        <a:t>pool_size</a:t>
                      </a:r>
                      <a:r>
                        <a:rPr kumimoji="1" lang="en-US" altLang="ja-JP" sz="1200" b="0" dirty="0">
                          <a:latin typeface="Times New Roman" panose="02020603050405020304" pitchFamily="18" charset="0"/>
                          <a:cs typeface="Times New Roman" panose="02020603050405020304" pitchFamily="18" charset="0"/>
                        </a:rPr>
                        <a:t>=(2,2)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39, 39,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693542205"/>
                  </a:ext>
                </a:extLst>
              </a:tr>
              <a:tr h="135991">
                <a:tc>
                  <a:txBody>
                    <a:bodyPr/>
                    <a:lstStyle/>
                    <a:p>
                      <a:pPr algn="r"/>
                      <a:r>
                        <a:rPr kumimoji="1" lang="en-US" altLang="ja-JP" sz="1200" b="0" dirty="0">
                          <a:latin typeface="Times New Roman" panose="02020603050405020304" pitchFamily="18" charset="0"/>
                          <a:cs typeface="Times New Roman" panose="02020603050405020304" pitchFamily="18" charset="0"/>
                        </a:rPr>
                        <a:t>5</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Dropout</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Dropout=0.25</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39, 39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266811298"/>
                  </a:ext>
                </a:extLst>
              </a:tr>
              <a:tr h="128818">
                <a:tc>
                  <a:txBody>
                    <a:bodyPr/>
                    <a:lstStyle/>
                    <a:p>
                      <a:pPr algn="r"/>
                      <a:r>
                        <a:rPr kumimoji="1" lang="en-US" altLang="ja-JP" sz="1200" b="0" dirty="0">
                          <a:latin typeface="Times New Roman" panose="02020603050405020304" pitchFamily="18" charset="0"/>
                          <a:cs typeface="Times New Roman" panose="02020603050405020304" pitchFamily="18" charset="0"/>
                        </a:rPr>
                        <a:t>6</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Convolution</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filters= 32, </a:t>
                      </a:r>
                      <a:r>
                        <a:rPr kumimoji="1" lang="en-US" altLang="ja-JP" sz="1200" b="0" dirty="0" err="1">
                          <a:latin typeface="Times New Roman" panose="02020603050405020304" pitchFamily="18" charset="0"/>
                          <a:cs typeface="Times New Roman" panose="02020603050405020304" pitchFamily="18" charset="0"/>
                        </a:rPr>
                        <a:t>kernel_size</a:t>
                      </a:r>
                      <a:r>
                        <a:rPr kumimoji="1" lang="en-US" altLang="ja-JP" sz="1200" b="0" dirty="0">
                          <a:latin typeface="Times New Roman" panose="02020603050405020304" pitchFamily="18" charset="0"/>
                          <a:cs typeface="Times New Roman" panose="02020603050405020304" pitchFamily="18" charset="0"/>
                        </a:rPr>
                        <a:t>=(3,3), padding=same, </a:t>
                      </a:r>
                      <a:r>
                        <a:rPr lang="en-US" altLang="ja-JP" sz="1200" b="0" dirty="0">
                          <a:latin typeface="Times New Roman" panose="02020603050405020304" pitchFamily="18" charset="0"/>
                          <a:cs typeface="Times New Roman" panose="02020603050405020304" pitchFamily="18" charset="0"/>
                        </a:rPr>
                        <a:t>activation=</a:t>
                      </a:r>
                      <a:r>
                        <a:rPr kumimoji="1" lang="en-US" altLang="ja-JP" sz="1200" b="0" dirty="0" err="1">
                          <a:latin typeface="Times New Roman" panose="02020603050405020304" pitchFamily="18" charset="0"/>
                          <a:cs typeface="Times New Roman" panose="02020603050405020304" pitchFamily="18" charset="0"/>
                        </a:rPr>
                        <a:t>relu</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39, 39,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9248</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620434791"/>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7</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Convolution</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filters= 32, </a:t>
                      </a:r>
                      <a:r>
                        <a:rPr kumimoji="1" lang="en-US" altLang="ja-JP" sz="1200" b="0" dirty="0" err="1">
                          <a:latin typeface="Times New Roman" panose="02020603050405020304" pitchFamily="18" charset="0"/>
                          <a:cs typeface="Times New Roman" panose="02020603050405020304" pitchFamily="18" charset="0"/>
                        </a:rPr>
                        <a:t>kernel_size</a:t>
                      </a:r>
                      <a:r>
                        <a:rPr kumimoji="1" lang="en-US" altLang="ja-JP" sz="1200" b="0" dirty="0">
                          <a:latin typeface="Times New Roman" panose="02020603050405020304" pitchFamily="18" charset="0"/>
                          <a:cs typeface="Times New Roman" panose="02020603050405020304" pitchFamily="18" charset="0"/>
                        </a:rPr>
                        <a:t>=(3,3), padding=same, </a:t>
                      </a:r>
                      <a:r>
                        <a:rPr lang="en-US" altLang="ja-JP" sz="1200" b="0" dirty="0">
                          <a:latin typeface="Times New Roman" panose="02020603050405020304" pitchFamily="18" charset="0"/>
                          <a:cs typeface="Times New Roman" panose="02020603050405020304" pitchFamily="18" charset="0"/>
                        </a:rPr>
                        <a:t>activation=</a:t>
                      </a:r>
                      <a:r>
                        <a:rPr kumimoji="1" lang="en-US" altLang="ja-JP" sz="1200" b="0" dirty="0" err="1">
                          <a:latin typeface="Times New Roman" panose="02020603050405020304" pitchFamily="18" charset="0"/>
                          <a:cs typeface="Times New Roman" panose="02020603050405020304" pitchFamily="18" charset="0"/>
                        </a:rPr>
                        <a:t>relu</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39, 39,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9248</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115258534"/>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8</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Pooling</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err="1">
                          <a:latin typeface="Times New Roman" panose="02020603050405020304" pitchFamily="18" charset="0"/>
                          <a:cs typeface="Times New Roman" panose="02020603050405020304" pitchFamily="18" charset="0"/>
                        </a:rPr>
                        <a:t>MaxPooling</a:t>
                      </a:r>
                      <a:r>
                        <a:rPr kumimoji="1" lang="en-US" altLang="ja-JP" sz="1200" b="0" dirty="0">
                          <a:latin typeface="Times New Roman" panose="02020603050405020304" pitchFamily="18" charset="0"/>
                          <a:cs typeface="Times New Roman" panose="02020603050405020304" pitchFamily="18" charset="0"/>
                        </a:rPr>
                        <a:t>, </a:t>
                      </a:r>
                      <a:r>
                        <a:rPr kumimoji="1" lang="en-US" altLang="ja-JP" sz="1200" b="0" dirty="0" err="1">
                          <a:latin typeface="Times New Roman" panose="02020603050405020304" pitchFamily="18" charset="0"/>
                          <a:cs typeface="Times New Roman" panose="02020603050405020304" pitchFamily="18" charset="0"/>
                        </a:rPr>
                        <a:t>pool_size</a:t>
                      </a:r>
                      <a:r>
                        <a:rPr kumimoji="1" lang="en-US" altLang="ja-JP" sz="1200" b="0" dirty="0">
                          <a:latin typeface="Times New Roman" panose="02020603050405020304" pitchFamily="18" charset="0"/>
                          <a:cs typeface="Times New Roman" panose="02020603050405020304" pitchFamily="18" charset="0"/>
                        </a:rPr>
                        <a:t>=(2,2)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19, 19, 32)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247779720"/>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9</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Flatten</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(None, 11552)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039787080"/>
                  </a:ext>
                </a:extLst>
              </a:tr>
              <a:tr h="0">
                <a:tc>
                  <a:txBody>
                    <a:bodyPr/>
                    <a:lstStyle/>
                    <a:p>
                      <a:pPr algn="r"/>
                      <a:r>
                        <a:rPr kumimoji="1" lang="en-US" altLang="ja-JP" sz="1200" b="0" dirty="0">
                          <a:latin typeface="Times New Roman" panose="02020603050405020304" pitchFamily="18" charset="0"/>
                          <a:cs typeface="Times New Roman" panose="02020603050405020304" pitchFamily="18" charset="0"/>
                        </a:rPr>
                        <a:t>10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Dropout</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Dropout=</a:t>
                      </a:r>
                      <a:r>
                        <a:rPr kumimoji="1" lang="en-US" altLang="ja-JP" sz="1200" b="0" dirty="0">
                          <a:latin typeface="Times New Roman" panose="02020603050405020304" pitchFamily="18" charset="0"/>
                          <a:cs typeface="Times New Roman" panose="02020603050405020304" pitchFamily="18" charset="0"/>
                        </a:rPr>
                        <a:t>0.25</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Times New Roman" panose="02020603050405020304" pitchFamily="18" charset="0"/>
                          <a:cs typeface="Times New Roman" panose="02020603050405020304" pitchFamily="18" charset="0"/>
                        </a:rPr>
                        <a:t>(None, 11552)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4221589468"/>
                  </a:ext>
                </a:extLst>
              </a:tr>
              <a:tr h="121528">
                <a:tc>
                  <a:txBody>
                    <a:bodyPr/>
                    <a:lstStyle/>
                    <a:p>
                      <a:pPr algn="r"/>
                      <a:r>
                        <a:rPr kumimoji="1" lang="en-US" altLang="ja-JP" sz="1200" b="0" dirty="0">
                          <a:latin typeface="Times New Roman" panose="02020603050405020304" pitchFamily="18" charset="0"/>
                          <a:cs typeface="Times New Roman" panose="02020603050405020304" pitchFamily="18" charset="0"/>
                        </a:rPr>
                        <a:t>11</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Dense</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output=512, activation=</a:t>
                      </a:r>
                      <a:r>
                        <a:rPr lang="en-US" altLang="ja-JP" sz="1200" b="0" dirty="0" err="1">
                          <a:latin typeface="Times New Roman" panose="02020603050405020304" pitchFamily="18" charset="0"/>
                          <a:cs typeface="Times New Roman" panose="02020603050405020304" pitchFamily="18" charset="0"/>
                        </a:rPr>
                        <a:t>relu</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Times New Roman" panose="02020603050405020304" pitchFamily="18" charset="0"/>
                          <a:cs typeface="Times New Roman" panose="02020603050405020304" pitchFamily="18" charset="0"/>
                        </a:rPr>
                        <a:t>(None, 512)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5915136</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615570979"/>
                  </a:ext>
                </a:extLst>
              </a:tr>
              <a:tr h="181030">
                <a:tc>
                  <a:txBody>
                    <a:bodyPr/>
                    <a:lstStyle/>
                    <a:p>
                      <a:pPr algn="r"/>
                      <a:r>
                        <a:rPr kumimoji="1" lang="en-US" altLang="ja-JP" sz="1200" b="0" dirty="0">
                          <a:latin typeface="Times New Roman" panose="02020603050405020304" pitchFamily="18" charset="0"/>
                          <a:cs typeface="Times New Roman" panose="02020603050405020304" pitchFamily="18" charset="0"/>
                        </a:rPr>
                        <a:t>12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Dropout</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Dropout=0.5</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Times New Roman" panose="02020603050405020304" pitchFamily="18" charset="0"/>
                          <a:cs typeface="Times New Roman" panose="02020603050405020304" pitchFamily="18" charset="0"/>
                        </a:rPr>
                        <a:t>(None, 512)</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0</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3036730052"/>
                  </a:ext>
                </a:extLst>
              </a:tr>
              <a:tr h="340548">
                <a:tc>
                  <a:txBody>
                    <a:bodyPr/>
                    <a:lstStyle/>
                    <a:p>
                      <a:pPr algn="r"/>
                      <a:r>
                        <a:rPr kumimoji="1" lang="en-US" altLang="ja-JP" sz="1200" b="0" dirty="0">
                          <a:latin typeface="Times New Roman" panose="02020603050405020304" pitchFamily="18" charset="0"/>
                          <a:cs typeface="Times New Roman" panose="02020603050405020304" pitchFamily="18" charset="0"/>
                        </a:rPr>
                        <a:t>13</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kumimoji="1" lang="en-US" altLang="ja-JP" sz="1200" b="0" dirty="0">
                          <a:latin typeface="Times New Roman" panose="02020603050405020304" pitchFamily="18" charset="0"/>
                          <a:cs typeface="Times New Roman" panose="02020603050405020304" pitchFamily="18" charset="0"/>
                        </a:rPr>
                        <a:t>Dense</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altLang="ja-JP" sz="1200" b="0" dirty="0">
                          <a:latin typeface="Times New Roman" panose="02020603050405020304" pitchFamily="18" charset="0"/>
                          <a:cs typeface="Times New Roman" panose="02020603050405020304" pitchFamily="18" charset="0"/>
                        </a:rPr>
                        <a:t>output=5, activation=</a:t>
                      </a:r>
                      <a:r>
                        <a:rPr lang="en-US" altLang="ja-JP" sz="1200" b="0" dirty="0" err="1">
                          <a:latin typeface="Times New Roman" panose="02020603050405020304" pitchFamily="18" charset="0"/>
                          <a:cs typeface="Times New Roman" panose="02020603050405020304" pitchFamily="18" charset="0"/>
                        </a:rPr>
                        <a:t>softmax</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Times New Roman" panose="02020603050405020304" pitchFamily="18" charset="0"/>
                          <a:cs typeface="Times New Roman" panose="02020603050405020304" pitchFamily="18" charset="0"/>
                        </a:rPr>
                        <a:t>(None, 5)</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r"/>
                      <a:r>
                        <a:rPr kumimoji="1" lang="en-US" altLang="ja-JP" sz="1200" b="0" dirty="0">
                          <a:latin typeface="Times New Roman" panose="02020603050405020304" pitchFamily="18" charset="0"/>
                          <a:cs typeface="Times New Roman" panose="02020603050405020304" pitchFamily="18" charset="0"/>
                        </a:rPr>
                        <a:t>2565</a:t>
                      </a:r>
                      <a:endParaRPr kumimoji="1" lang="ja-JP" altLang="en-US" sz="1200" b="0" dirty="0">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2332011690"/>
                  </a:ext>
                </a:extLst>
              </a:tr>
            </a:tbl>
          </a:graphicData>
        </a:graphic>
      </p:graphicFrame>
    </p:spTree>
    <p:extLst>
      <p:ext uri="{BB962C8B-B14F-4D97-AF65-F5344CB8AC3E}">
        <p14:creationId xmlns:p14="http://schemas.microsoft.com/office/powerpoint/2010/main" val="3718964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3" descr="グラフ, 折れ線グラフ&#10;&#10;自動的に生成された説明">
            <a:extLst>
              <a:ext uri="{FF2B5EF4-FFF2-40B4-BE49-F238E27FC236}">
                <a16:creationId xmlns:a16="http://schemas.microsoft.com/office/drawing/2014/main" id="{FAE93BE6-791C-538D-2DC3-B3DB7F3E79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0332" y="0"/>
            <a:ext cx="8491335" cy="6858000"/>
          </a:xfrm>
          <a:prstGeom prst="rect">
            <a:avLst/>
          </a:prstGeom>
        </p:spPr>
      </p:pic>
    </p:spTree>
    <p:extLst>
      <p:ext uri="{BB962C8B-B14F-4D97-AF65-F5344CB8AC3E}">
        <p14:creationId xmlns:p14="http://schemas.microsoft.com/office/powerpoint/2010/main" val="2645578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 散布図&#10;&#10;自動的に生成された説明">
            <a:extLst>
              <a:ext uri="{FF2B5EF4-FFF2-40B4-BE49-F238E27FC236}">
                <a16:creationId xmlns:a16="http://schemas.microsoft.com/office/drawing/2014/main" id="{A002EBBF-553B-A4E4-4F4A-29EA7EDA41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92334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 散布図&#10;&#10;自動的に生成された説明">
            <a:extLst>
              <a:ext uri="{FF2B5EF4-FFF2-40B4-BE49-F238E27FC236}">
                <a16:creationId xmlns:a16="http://schemas.microsoft.com/office/drawing/2014/main" id="{46B94BC6-29FE-0FB4-A7D2-B38E01A6ED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35151898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BD429906-26B6-8C7F-7F6F-8465F87926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3481" y="5086"/>
            <a:ext cx="8485037" cy="6852914"/>
          </a:xfrm>
        </p:spPr>
      </p:pic>
    </p:spTree>
    <p:extLst>
      <p:ext uri="{BB962C8B-B14F-4D97-AF65-F5344CB8AC3E}">
        <p14:creationId xmlns:p14="http://schemas.microsoft.com/office/powerpoint/2010/main" val="737399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8E64D7E0-5FCE-DB95-3775-BC32481D24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8285" y="-3308"/>
            <a:ext cx="8495430" cy="6861307"/>
          </a:xfrm>
        </p:spPr>
      </p:pic>
    </p:spTree>
    <p:extLst>
      <p:ext uri="{BB962C8B-B14F-4D97-AF65-F5344CB8AC3E}">
        <p14:creationId xmlns:p14="http://schemas.microsoft.com/office/powerpoint/2010/main" val="8611756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F9D0C3D7-5BBD-5B43-1574-9333CF24AC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41610366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 散布図&#10;&#10;自動的に生成された説明">
            <a:extLst>
              <a:ext uri="{FF2B5EF4-FFF2-40B4-BE49-F238E27FC236}">
                <a16:creationId xmlns:a16="http://schemas.microsoft.com/office/drawing/2014/main" id="{5B2A3B5F-2073-78CC-56C9-FC17D7EE62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3653412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917C058E-D90A-0B93-D3EB-43494AA706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2774315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 散布図&#10;&#10;自動的に生成された説明">
            <a:extLst>
              <a:ext uri="{FF2B5EF4-FFF2-40B4-BE49-F238E27FC236}">
                <a16:creationId xmlns:a16="http://schemas.microsoft.com/office/drawing/2014/main" id="{C43F4B74-74CC-5BD6-9F1F-C9E651B8A7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2079653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A81381B1-C051-AB71-99F1-7E553F7679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4008083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descr="グラフ&#10;&#10;自動的に生成された説明">
            <a:extLst>
              <a:ext uri="{FF2B5EF4-FFF2-40B4-BE49-F238E27FC236}">
                <a16:creationId xmlns:a16="http://schemas.microsoft.com/office/drawing/2014/main" id="{55A48A4D-A2BC-F124-63F7-C9E34489A5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42790049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コンテンツ プレースホルダー 6" descr="グラフ, 散布図&#10;&#10;自動的に生成された説明">
            <a:extLst>
              <a:ext uri="{FF2B5EF4-FFF2-40B4-BE49-F238E27FC236}">
                <a16:creationId xmlns:a16="http://schemas.microsoft.com/office/drawing/2014/main" id="{368CC0DC-9448-F8A7-39B1-CA013DB173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332" y="0"/>
            <a:ext cx="8491335" cy="6858000"/>
          </a:xfrm>
        </p:spPr>
      </p:pic>
    </p:spTree>
    <p:extLst>
      <p:ext uri="{BB962C8B-B14F-4D97-AF65-F5344CB8AC3E}">
        <p14:creationId xmlns:p14="http://schemas.microsoft.com/office/powerpoint/2010/main" val="2467850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D062DE-F895-A563-3C3C-8F96DA36DB27}"/>
              </a:ext>
            </a:extLst>
          </p:cNvPr>
          <p:cNvSpPr>
            <a:spLocks noGrp="1"/>
          </p:cNvSpPr>
          <p:nvPr>
            <p:ph type="title"/>
          </p:nvPr>
        </p:nvSpPr>
        <p:spPr/>
        <p:txBody>
          <a:bodyPr/>
          <a:lstStyle/>
          <a:p>
            <a:endParaRPr kumimoji="1" lang="ja-JP" altLang="en-US" dirty="0"/>
          </a:p>
        </p:txBody>
      </p:sp>
      <p:pic>
        <p:nvPicPr>
          <p:cNvPr id="5" name="コンテンツ プレースホルダー 4">
            <a:extLst>
              <a:ext uri="{FF2B5EF4-FFF2-40B4-BE49-F238E27FC236}">
                <a16:creationId xmlns:a16="http://schemas.microsoft.com/office/drawing/2014/main" id="{75EE84CA-5D5A-B579-7D51-0F1E02099C3C}"/>
              </a:ext>
            </a:extLst>
          </p:cNvPr>
          <p:cNvPicPr>
            <a:picLocks noGrp="1" noChangeAspect="1"/>
          </p:cNvPicPr>
          <p:nvPr>
            <p:ph idx="1"/>
          </p:nvPr>
        </p:nvPicPr>
        <p:blipFill>
          <a:blip r:embed="rId2"/>
          <a:stretch>
            <a:fillRect/>
          </a:stretch>
        </p:blipFill>
        <p:spPr>
          <a:xfrm>
            <a:off x="3620199" y="365125"/>
            <a:ext cx="4951602" cy="5811838"/>
          </a:xfrm>
        </p:spPr>
      </p:pic>
    </p:spTree>
    <p:extLst>
      <p:ext uri="{BB962C8B-B14F-4D97-AF65-F5344CB8AC3E}">
        <p14:creationId xmlns:p14="http://schemas.microsoft.com/office/powerpoint/2010/main" val="39576947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85B588-9F62-0C5D-5F5A-636D441B7D99}"/>
              </a:ext>
            </a:extLst>
          </p:cNvPr>
          <p:cNvSpPr>
            <a:spLocks noGrp="1"/>
          </p:cNvSpPr>
          <p:nvPr>
            <p:ph type="title"/>
          </p:nvPr>
        </p:nvSpPr>
        <p:spPr/>
        <p:txBody>
          <a:bodyPr/>
          <a:lstStyle/>
          <a:p>
            <a:endParaRPr kumimoji="1" lang="ja-JP" altLang="en-US"/>
          </a:p>
        </p:txBody>
      </p:sp>
      <p:pic>
        <p:nvPicPr>
          <p:cNvPr id="5" name="コンテンツ プレースホルダー 4">
            <a:extLst>
              <a:ext uri="{FF2B5EF4-FFF2-40B4-BE49-F238E27FC236}">
                <a16:creationId xmlns:a16="http://schemas.microsoft.com/office/drawing/2014/main" id="{A3F8E017-2604-768D-AEA5-FDD015C67740}"/>
              </a:ext>
            </a:extLst>
          </p:cNvPr>
          <p:cNvPicPr>
            <a:picLocks noGrp="1" noChangeAspect="1"/>
          </p:cNvPicPr>
          <p:nvPr>
            <p:ph idx="1"/>
          </p:nvPr>
        </p:nvPicPr>
        <p:blipFill>
          <a:blip r:embed="rId2"/>
          <a:stretch>
            <a:fillRect/>
          </a:stretch>
        </p:blipFill>
        <p:spPr>
          <a:xfrm>
            <a:off x="1561467" y="2366814"/>
            <a:ext cx="9069066" cy="2124371"/>
          </a:xfrm>
        </p:spPr>
      </p:pic>
    </p:spTree>
    <p:extLst>
      <p:ext uri="{BB962C8B-B14F-4D97-AF65-F5344CB8AC3E}">
        <p14:creationId xmlns:p14="http://schemas.microsoft.com/office/powerpoint/2010/main" val="209152208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3522</TotalTime>
  <Words>5710</Words>
  <Application>Microsoft Office PowerPoint</Application>
  <PresentationFormat>ワイド画面</PresentationFormat>
  <Paragraphs>565</Paragraphs>
  <Slides>52</Slides>
  <Notes>35</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52</vt:i4>
      </vt:variant>
    </vt:vector>
  </HeadingPairs>
  <TitlesOfParts>
    <vt:vector size="58" baseType="lpstr">
      <vt:lpstr>游ゴシック</vt:lpstr>
      <vt:lpstr>游ゴシック Light</vt:lpstr>
      <vt:lpstr>游明朝</vt:lpstr>
      <vt:lpstr>Arial</vt:lpstr>
      <vt:lpstr>Times New Roman</vt:lpstr>
      <vt:lpstr>Office テーマ</vt:lpstr>
      <vt:lpstr>畳み込みニューラル ネットワークを用いた 大脳白質病変のグレード予測</vt:lpstr>
      <vt:lpstr>背景</vt:lpstr>
      <vt:lpstr>目的</vt:lpstr>
      <vt:lpstr>倫理的配慮</vt:lpstr>
      <vt:lpstr>対象</vt:lpstr>
      <vt:lpstr>患者背景</vt:lpstr>
      <vt:lpstr>PowerPoint プレゼンテーション</vt:lpstr>
      <vt:lpstr>大脳白質病変のグレード評価</vt:lpstr>
      <vt:lpstr>MRIの撮影方法</vt:lpstr>
      <vt:lpstr>本研究におけるアキシャル(axial)の定義</vt:lpstr>
      <vt:lpstr>方法</vt:lpstr>
      <vt:lpstr>方法</vt:lpstr>
      <vt:lpstr>方法</vt:lpstr>
      <vt:lpstr>共起ネットワーク図</vt:lpstr>
      <vt:lpstr>共起ネットワーク図</vt:lpstr>
      <vt:lpstr>結果</vt:lpstr>
      <vt:lpstr>結果</vt:lpstr>
      <vt:lpstr>本研究におけるアキシャル(axial)の定義</vt:lpstr>
      <vt:lpstr>PowerPoint プレゼンテーション</vt:lpstr>
      <vt:lpstr>結果</vt:lpstr>
      <vt:lpstr>結果</vt:lpstr>
      <vt:lpstr>結果</vt:lpstr>
      <vt:lpstr>グレード別性能評価</vt:lpstr>
      <vt:lpstr>One vs Rest方式による評価</vt:lpstr>
      <vt:lpstr>グレード別性能評価</vt:lpstr>
      <vt:lpstr>PowerPoint プレゼンテーション</vt:lpstr>
      <vt:lpstr>考察</vt:lpstr>
      <vt:lpstr>考察</vt:lpstr>
      <vt:lpstr>考察</vt:lpstr>
      <vt:lpstr>謝辞</vt:lpstr>
      <vt:lpstr>参考文献</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畳み込みニューラルネットワークを用いた大脳白質病変のレベル予測</dc:title>
  <dc:creator>T120100</dc:creator>
  <cp:lastModifiedBy>一夫 石井</cp:lastModifiedBy>
  <cp:revision>410</cp:revision>
  <dcterms:created xsi:type="dcterms:W3CDTF">2023-08-21T14:08:52Z</dcterms:created>
  <dcterms:modified xsi:type="dcterms:W3CDTF">2023-10-19T03:38:59Z</dcterms:modified>
</cp:coreProperties>
</file>