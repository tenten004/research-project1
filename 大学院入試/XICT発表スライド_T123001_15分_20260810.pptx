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26"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1D74F-B4F7-49A2-AD41-777F26FD531E}" type="datetimeFigureOut">
              <a:rPr kumimoji="1" lang="ja-JP" altLang="en-US" smtClean="0"/>
              <a:t>2026/8/10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A0C7ED-6F71-4269-8D8C-7881800CB58E}" type="slidenum">
              <a:rPr kumimoji="1" lang="ja-JP" altLang="en-US" smtClean="0"/>
              <a:t>‹#›</a:t>
            </a:fld>
            <a:endParaRPr kumimoji="1" lang="ja-JP" altLang="en-US"/>
          </a:p>
        </p:txBody>
      </p:sp>
    </p:spTree>
    <p:extLst>
      <p:ext uri="{BB962C8B-B14F-4D97-AF65-F5344CB8AC3E}">
        <p14:creationId xmlns:p14="http://schemas.microsoft.com/office/powerpoint/2010/main" val="162031873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これから、</a:t>
            </a:r>
            <a:r>
              <a:rPr kumimoji="1" lang="en-US" altLang="ja-JP"/>
              <a:t>Vision Transformer</a:t>
            </a:r>
            <a:r>
              <a:rPr kumimoji="1" lang="ja-JP" altLang="en-US"/>
              <a:t>を用いた大脳白質病変グレード分類の患者単位評価について発表します。本研究では、過去の</a:t>
            </a:r>
            <a:r>
              <a:rPr kumimoji="1" lang="en-US" altLang="ja-JP"/>
              <a:t>CNN</a:t>
            </a:r>
            <a:r>
              <a:rPr kumimoji="1" lang="ja-JP" altLang="en-US"/>
              <a:t>研究を出発点に、評価設計を患者単位へ見直し、</a:t>
            </a:r>
            <a:r>
              <a:rPr kumimoji="1" lang="en-US" altLang="ja-JP"/>
              <a:t>ViT</a:t>
            </a:r>
            <a:r>
              <a:rPr kumimoji="1" lang="ja-JP" altLang="en-US"/>
              <a:t>と</a:t>
            </a:r>
            <a:r>
              <a:rPr kumimoji="1" lang="en-US" altLang="ja-JP"/>
              <a:t>CNN</a:t>
            </a:r>
            <a:r>
              <a:rPr kumimoji="1" lang="ja-JP" altLang="en-US"/>
              <a:t>を公平に比較しました。</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1</a:t>
            </a:fld>
            <a:endParaRPr kumimoji="1" lang="ja-JP" altLang="en-US"/>
          </a:p>
        </p:txBody>
      </p:sp>
    </p:spTree>
    <p:extLst>
      <p:ext uri="{BB962C8B-B14F-4D97-AF65-F5344CB8AC3E}">
        <p14:creationId xmlns:p14="http://schemas.microsoft.com/office/powerpoint/2010/main" val="3667502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大脳白質病変は脳</a:t>
            </a:r>
            <a:r>
              <a:rPr kumimoji="1" lang="en-US" altLang="ja-JP"/>
              <a:t>MRI</a:t>
            </a:r>
            <a:r>
              <a:rPr kumimoji="1" lang="ja-JP" altLang="en-US"/>
              <a:t>で高信号として観察され、加齢や高血圧と関連します。進行は脳卒中や認知機能低下のリスクとも関連するため、画像から重症度を客観的に評価する意義があります。従来は</a:t>
            </a:r>
            <a:r>
              <a:rPr kumimoji="1" lang="en-US" altLang="ja-JP"/>
              <a:t>CNN</a:t>
            </a:r>
            <a:r>
              <a:rPr kumimoji="1" lang="ja-JP" altLang="en-US"/>
              <a:t>が用いられてきました。本研究では広域的な関係を扱える</a:t>
            </a:r>
            <a:r>
              <a:rPr kumimoji="1" lang="en-US" altLang="ja-JP"/>
              <a:t>ViT</a:t>
            </a:r>
            <a:r>
              <a:rPr kumimoji="1" lang="ja-JP" altLang="en-US"/>
              <a:t>に着目しましたが、公平な比較にはまず評価単位を患者で揃えることが重要です。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2</a:t>
            </a:fld>
            <a:endParaRPr kumimoji="1" lang="ja-JP" altLang="en-US"/>
          </a:p>
        </p:txBody>
      </p:sp>
    </p:spTree>
    <p:extLst>
      <p:ext uri="{BB962C8B-B14F-4D97-AF65-F5344CB8AC3E}">
        <p14:creationId xmlns:p14="http://schemas.microsoft.com/office/powerpoint/2010/main" val="1687698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研究の経過です。まず先行</a:t>
            </a:r>
            <a:r>
              <a:rPr kumimoji="1" lang="en-US" altLang="ja-JP"/>
              <a:t>CNN</a:t>
            </a:r>
            <a:r>
              <a:rPr kumimoji="1" lang="ja-JP" altLang="en-US"/>
              <a:t>研究の再現から始めました。先行結果の</a:t>
            </a:r>
            <a:r>
              <a:rPr kumimoji="1" lang="en-US" altLang="ja-JP"/>
              <a:t>0.9209</a:t>
            </a:r>
            <a:r>
              <a:rPr kumimoji="1" lang="ja-JP" altLang="en-US"/>
              <a:t>は画像単位の分割で得られた参考値です。データを監査すると、同じ患者の別スライスが学習と評価に混在し得ることが分かりました。そこで患者単位</a:t>
            </a:r>
            <a:r>
              <a:rPr kumimoji="1" lang="en-US" altLang="ja-JP"/>
              <a:t>split</a:t>
            </a:r>
            <a:r>
              <a:rPr kumimoji="1" lang="ja-JP" altLang="en-US"/>
              <a:t>へ変更し、少数クラスを考慮して</a:t>
            </a:r>
            <a:r>
              <a:rPr kumimoji="1" lang="en-US" altLang="ja-JP"/>
              <a:t>grade 2</a:t>
            </a:r>
            <a:r>
              <a:rPr kumimoji="1" lang="ja-JP" altLang="en-US"/>
              <a:t>から</a:t>
            </a:r>
            <a:r>
              <a:rPr kumimoji="1" lang="en-US" altLang="ja-JP"/>
              <a:t>4</a:t>
            </a:r>
            <a:r>
              <a:rPr kumimoji="1" lang="ja-JP" altLang="en-US"/>
              <a:t>を統合しました。最終的に、同一</a:t>
            </a:r>
            <a:r>
              <a:rPr kumimoji="1" lang="en-US" altLang="ja-JP"/>
              <a:t>fold</a:t>
            </a:r>
            <a:r>
              <a:rPr kumimoji="1" lang="ja-JP" altLang="en-US"/>
              <a:t>・同一学習条件で</a:t>
            </a:r>
            <a:r>
              <a:rPr kumimoji="1" lang="en-US" altLang="ja-JP"/>
              <a:t>ViT</a:t>
            </a:r>
            <a:r>
              <a:rPr kumimoji="1" lang="ja-JP" altLang="en-US"/>
              <a:t>と</a:t>
            </a:r>
            <a:r>
              <a:rPr kumimoji="1" lang="en-US" altLang="ja-JP"/>
              <a:t>CNN</a:t>
            </a:r>
            <a:r>
              <a:rPr kumimoji="1" lang="ja-JP" altLang="en-US"/>
              <a:t>を比較しました。ここで</a:t>
            </a:r>
            <a:r>
              <a:rPr kumimoji="1" lang="en-US" altLang="ja-JP"/>
              <a:t>0.9209</a:t>
            </a:r>
            <a:r>
              <a:rPr kumimoji="1" lang="ja-JP" altLang="en-US"/>
              <a:t>と今回の患者単位結果は直接比較しません。</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3</a:t>
            </a:fld>
            <a:endParaRPr kumimoji="1" lang="ja-JP" altLang="en-US"/>
          </a:p>
        </p:txBody>
      </p:sp>
    </p:spTree>
    <p:extLst>
      <p:ext uri="{BB962C8B-B14F-4D97-AF65-F5344CB8AC3E}">
        <p14:creationId xmlns:p14="http://schemas.microsoft.com/office/powerpoint/2010/main" val="1121870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研究目的は、患者重複のない条件で</a:t>
            </a:r>
            <a:r>
              <a:rPr kumimoji="1" lang="en-US" altLang="ja-JP"/>
              <a:t>ViT</a:t>
            </a:r>
            <a:r>
              <a:rPr kumimoji="1" lang="ja-JP" altLang="en-US"/>
              <a:t>が</a:t>
            </a:r>
            <a:r>
              <a:rPr kumimoji="1" lang="en-US" altLang="ja-JP"/>
              <a:t>CNN</a:t>
            </a:r>
            <a:r>
              <a:rPr kumimoji="1" lang="ja-JP" altLang="en-US"/>
              <a:t>より有効かを検証することです。患者単位の分類性能だけでなく、各クラスの識別傾向と、改善量の不確実性も評価します。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4</a:t>
            </a:fld>
            <a:endParaRPr kumimoji="1" lang="ja-JP" altLang="en-US"/>
          </a:p>
        </p:txBody>
      </p:sp>
    </p:spTree>
    <p:extLst>
      <p:ext uri="{BB962C8B-B14F-4D97-AF65-F5344CB8AC3E}">
        <p14:creationId xmlns:p14="http://schemas.microsoft.com/office/powerpoint/2010/main" val="2804522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対象は</a:t>
            </a:r>
            <a:r>
              <a:rPr kumimoji="1" lang="en-US" altLang="ja-JP"/>
              <a:t>1,154</a:t>
            </a:r>
            <a:r>
              <a:rPr kumimoji="1" lang="ja-JP" altLang="en-US"/>
              <a:t>名、</a:t>
            </a:r>
            <a:r>
              <a:rPr kumimoji="1" lang="en-US" altLang="ja-JP"/>
              <a:t>FLAIR</a:t>
            </a:r>
            <a:r>
              <a:rPr kumimoji="1" lang="ja-JP" altLang="en-US"/>
              <a:t>と</a:t>
            </a:r>
            <a:r>
              <a:rPr kumimoji="1" lang="en-US" altLang="ja-JP"/>
              <a:t>T1</a:t>
            </a:r>
            <a:r>
              <a:rPr kumimoji="1" lang="ja-JP" altLang="en-US"/>
              <a:t>の全アキシャル画像</a:t>
            </a:r>
            <a:r>
              <a:rPr kumimoji="1" lang="en-US" altLang="ja-JP"/>
              <a:t>53,194</a:t>
            </a:r>
            <a:r>
              <a:rPr kumimoji="1" lang="ja-JP" altLang="en-US"/>
              <a:t>枚です。ラベルは患者単位です。</a:t>
            </a:r>
            <a:r>
              <a:rPr kumimoji="1" lang="en-US" altLang="ja-JP"/>
              <a:t>grade 3</a:t>
            </a:r>
            <a:r>
              <a:rPr kumimoji="1" lang="ja-JP" altLang="en-US"/>
              <a:t>と</a:t>
            </a:r>
            <a:r>
              <a:rPr kumimoji="1" lang="en-US" altLang="ja-JP"/>
              <a:t>4</a:t>
            </a:r>
            <a:r>
              <a:rPr kumimoji="1" lang="ja-JP" altLang="en-US"/>
              <a:t>は症例数が非常に少ないため、</a:t>
            </a:r>
            <a:r>
              <a:rPr kumimoji="1" lang="en-US" altLang="ja-JP"/>
              <a:t>grade 2</a:t>
            </a:r>
            <a:r>
              <a:rPr kumimoji="1" lang="ja-JP" altLang="en-US"/>
              <a:t>から</a:t>
            </a:r>
            <a:r>
              <a:rPr kumimoji="1" lang="en-US" altLang="ja-JP"/>
              <a:t>4</a:t>
            </a:r>
            <a:r>
              <a:rPr kumimoji="1" lang="ja-JP" altLang="en-US"/>
              <a:t>を統合し、</a:t>
            </a:r>
            <a:r>
              <a:rPr kumimoji="1" lang="en-US" altLang="ja-JP"/>
              <a:t>grade 0</a:t>
            </a:r>
            <a:r>
              <a:rPr kumimoji="1" lang="ja-JP" altLang="en-US"/>
              <a:t>、</a:t>
            </a:r>
            <a:r>
              <a:rPr kumimoji="1" lang="en-US" altLang="ja-JP"/>
              <a:t>grade 1</a:t>
            </a:r>
            <a:r>
              <a:rPr kumimoji="1" lang="ja-JP" altLang="en-US"/>
              <a:t>、</a:t>
            </a:r>
            <a:r>
              <a:rPr kumimoji="1" lang="en-US" altLang="ja-JP"/>
              <a:t>grade 2</a:t>
            </a:r>
            <a:r>
              <a:rPr kumimoji="1" lang="ja-JP" altLang="en-US"/>
              <a:t>以上の</a:t>
            </a:r>
            <a:r>
              <a:rPr kumimoji="1" lang="en-US" altLang="ja-JP"/>
              <a:t>3</a:t>
            </a:r>
            <a:r>
              <a:rPr kumimoji="1" lang="ja-JP" altLang="en-US"/>
              <a:t>クラス分類としました。</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5</a:t>
            </a:fld>
            <a:endParaRPr kumimoji="1" lang="ja-JP" altLang="en-US"/>
          </a:p>
        </p:txBody>
      </p:sp>
    </p:spTree>
    <p:extLst>
      <p:ext uri="{BB962C8B-B14F-4D97-AF65-F5344CB8AC3E}">
        <p14:creationId xmlns:p14="http://schemas.microsoft.com/office/powerpoint/2010/main" val="3124926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評価は患者単位の層化</a:t>
            </a:r>
            <a:r>
              <a:rPr kumimoji="1" lang="en-US" altLang="ja-JP"/>
              <a:t>5</a:t>
            </a:r>
            <a:r>
              <a:rPr kumimoji="1" lang="ja-JP" altLang="en-US"/>
              <a:t>分割交差検証です。同じ患者が学習と検証に重ならないようにし、全患者が検証に</a:t>
            </a:r>
            <a:r>
              <a:rPr kumimoji="1" lang="en-US" altLang="ja-JP"/>
              <a:t>1</a:t>
            </a:r>
            <a:r>
              <a:rPr kumimoji="1" lang="ja-JP" altLang="en-US"/>
              <a:t>回だけ現れる</a:t>
            </a:r>
            <a:r>
              <a:rPr kumimoji="1" lang="en-US" altLang="ja-JP"/>
              <a:t>out-of-fold</a:t>
            </a:r>
            <a:r>
              <a:rPr kumimoji="1" lang="ja-JP" altLang="en-US"/>
              <a:t>予測を得ました。これにより単一</a:t>
            </a:r>
            <a:r>
              <a:rPr kumimoji="1" lang="en-US" altLang="ja-JP"/>
              <a:t>split</a:t>
            </a:r>
            <a:r>
              <a:rPr kumimoji="1" lang="ja-JP" altLang="en-US"/>
              <a:t>への依存を抑えます。モデル間の差は同じ患者の予測を対応させた</a:t>
            </a:r>
            <a:r>
              <a:rPr kumimoji="1" lang="en-US" altLang="ja-JP"/>
              <a:t>bootstrap</a:t>
            </a:r>
            <a:r>
              <a:rPr kumimoji="1" lang="ja-JP" altLang="en-US"/>
              <a:t>を</a:t>
            </a:r>
            <a:r>
              <a:rPr kumimoji="1" lang="en-US" altLang="ja-JP"/>
              <a:t>1</a:t>
            </a:r>
            <a:r>
              <a:rPr kumimoji="1" lang="ja-JP" altLang="en-US"/>
              <a:t>万回行い、</a:t>
            </a:r>
            <a:r>
              <a:rPr kumimoji="1" lang="en-US" altLang="ja-JP"/>
              <a:t>95</a:t>
            </a:r>
            <a:r>
              <a:rPr kumimoji="1" lang="ja-JP" altLang="en-US"/>
              <a:t>パーセント信頼区間で評価しました。</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6</a:t>
            </a:fld>
            <a:endParaRPr kumimoji="1" lang="ja-JP" altLang="en-US"/>
          </a:p>
        </p:txBody>
      </p:sp>
    </p:spTree>
    <p:extLst>
      <p:ext uri="{BB962C8B-B14F-4D97-AF65-F5344CB8AC3E}">
        <p14:creationId xmlns:p14="http://schemas.microsoft.com/office/powerpoint/2010/main" val="2519582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比較するのは</a:t>
            </a:r>
            <a:r>
              <a:rPr kumimoji="1" lang="en-US" altLang="ja-JP"/>
              <a:t>ResNet18</a:t>
            </a:r>
            <a:r>
              <a:rPr kumimoji="1" lang="ja-JP" altLang="en-US"/>
              <a:t>と</a:t>
            </a:r>
            <a:r>
              <a:rPr kumimoji="1" lang="en-US" altLang="ja-JP"/>
              <a:t>DeiT-small</a:t>
            </a:r>
            <a:r>
              <a:rPr kumimoji="1" lang="ja-JP" altLang="en-US"/>
              <a:t>です。入力サイズ、</a:t>
            </a:r>
            <a:r>
              <a:rPr kumimoji="1" lang="en-US" altLang="ja-JP"/>
              <a:t>fold</a:t>
            </a:r>
            <a:r>
              <a:rPr kumimoji="1" lang="ja-JP" altLang="en-US"/>
              <a:t>、</a:t>
            </a:r>
            <a:r>
              <a:rPr kumimoji="1" lang="en-US" altLang="ja-JP"/>
              <a:t>epoch</a:t>
            </a:r>
            <a:r>
              <a:rPr kumimoji="1" lang="ja-JP" altLang="en-US"/>
              <a:t>数、</a:t>
            </a:r>
            <a:r>
              <a:rPr kumimoji="1" lang="en-US" altLang="ja-JP"/>
              <a:t>optimizer</a:t>
            </a:r>
            <a:r>
              <a:rPr kumimoji="1" lang="ja-JP" altLang="en-US"/>
              <a:t>、データ拡張を揃えました。各患者の全スライスを推論し、確信度が高い上位</a:t>
            </a:r>
            <a:r>
              <a:rPr kumimoji="1" lang="en-US" altLang="ja-JP"/>
              <a:t>5</a:t>
            </a:r>
            <a:r>
              <a:rPr kumimoji="1" lang="ja-JP" altLang="en-US"/>
              <a:t>枚のクラス確率を平均して患者予測とします。全断面を利用しながら、手動で</a:t>
            </a:r>
            <a:r>
              <a:rPr kumimoji="1" lang="en-US" altLang="ja-JP"/>
              <a:t>axial</a:t>
            </a:r>
            <a:r>
              <a:rPr kumimoji="1" lang="ja-JP" altLang="en-US"/>
              <a:t>範囲を限定しない設計です。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7</a:t>
            </a:fld>
            <a:endParaRPr kumimoji="1" lang="ja-JP" altLang="en-US"/>
          </a:p>
        </p:txBody>
      </p:sp>
    </p:spTree>
    <p:extLst>
      <p:ext uri="{BB962C8B-B14F-4D97-AF65-F5344CB8AC3E}">
        <p14:creationId xmlns:p14="http://schemas.microsoft.com/office/powerpoint/2010/main" val="2850804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主結果です。</a:t>
            </a:r>
            <a:r>
              <a:rPr kumimoji="1" lang="en-US" altLang="ja-JP"/>
              <a:t>ViT</a:t>
            </a:r>
            <a:r>
              <a:rPr kumimoji="1" lang="ja-JP" altLang="en-US"/>
              <a:t>は</a:t>
            </a:r>
            <a:r>
              <a:rPr kumimoji="1" lang="en-US" altLang="ja-JP"/>
              <a:t>4</a:t>
            </a:r>
            <a:r>
              <a:rPr kumimoji="1" lang="ja-JP" altLang="en-US"/>
              <a:t>指標すべてで</a:t>
            </a:r>
            <a:r>
              <a:rPr kumimoji="1" lang="en-US" altLang="ja-JP"/>
              <a:t>CNN</a:t>
            </a:r>
            <a:r>
              <a:rPr kumimoji="1" lang="ja-JP" altLang="en-US"/>
              <a:t>を上回りました。特に</a:t>
            </a:r>
            <a:r>
              <a:rPr kumimoji="1" lang="en-US" altLang="ja-JP"/>
              <a:t>macro ROC-AUC</a:t>
            </a:r>
            <a:r>
              <a:rPr kumimoji="1" lang="ja-JP" altLang="en-US"/>
              <a:t>は</a:t>
            </a:r>
            <a:r>
              <a:rPr kumimoji="1" lang="en-US" altLang="ja-JP"/>
              <a:t>CNN</a:t>
            </a:r>
            <a:r>
              <a:rPr kumimoji="1" lang="ja-JP" altLang="en-US"/>
              <a:t>の</a:t>
            </a:r>
            <a:r>
              <a:rPr kumimoji="1" lang="en-US" altLang="ja-JP"/>
              <a:t>0.7891</a:t>
            </a:r>
            <a:r>
              <a:rPr kumimoji="1" lang="ja-JP" altLang="en-US"/>
              <a:t>に対して</a:t>
            </a:r>
            <a:r>
              <a:rPr kumimoji="1" lang="en-US" altLang="ja-JP"/>
              <a:t>ViT</a:t>
            </a:r>
            <a:r>
              <a:rPr kumimoji="1" lang="ja-JP" altLang="en-US"/>
              <a:t>は</a:t>
            </a:r>
            <a:r>
              <a:rPr kumimoji="1" lang="en-US" altLang="ja-JP"/>
              <a:t>0.8100</a:t>
            </a:r>
            <a:r>
              <a:rPr kumimoji="1" lang="ja-JP" altLang="en-US"/>
              <a:t>で、差は</a:t>
            </a:r>
            <a:r>
              <a:rPr kumimoji="1" lang="en-US" altLang="ja-JP"/>
              <a:t>0.0209</a:t>
            </a:r>
            <a:r>
              <a:rPr kumimoji="1" lang="ja-JP" altLang="en-US"/>
              <a:t>でした。</a:t>
            </a:r>
            <a:r>
              <a:rPr kumimoji="1" lang="en-US" altLang="ja-JP"/>
              <a:t>95</a:t>
            </a:r>
            <a:r>
              <a:rPr kumimoji="1" lang="ja-JP" altLang="en-US"/>
              <a:t>パーセント信頼区間は</a:t>
            </a:r>
            <a:r>
              <a:rPr kumimoji="1" lang="en-US" altLang="ja-JP"/>
              <a:t>0.0062</a:t>
            </a:r>
            <a:r>
              <a:rPr kumimoji="1" lang="ja-JP" altLang="en-US"/>
              <a:t>から</a:t>
            </a:r>
            <a:r>
              <a:rPr kumimoji="1" lang="en-US" altLang="ja-JP"/>
              <a:t>0.0357</a:t>
            </a:r>
            <a:r>
              <a:rPr kumimoji="1" lang="ja-JP" altLang="en-US"/>
              <a:t>で、</a:t>
            </a:r>
            <a:r>
              <a:rPr kumimoji="1" lang="en-US" altLang="ja-JP"/>
              <a:t>0</a:t>
            </a:r>
            <a:r>
              <a:rPr kumimoji="1" lang="ja-JP" altLang="en-US"/>
              <a:t>を含みませんでした。一方、</a:t>
            </a:r>
            <a:r>
              <a:rPr kumimoji="1" lang="en-US" altLang="ja-JP"/>
              <a:t>Accuracy</a:t>
            </a:r>
            <a:r>
              <a:rPr kumimoji="1" lang="ja-JP" altLang="en-US"/>
              <a:t>、</a:t>
            </a:r>
            <a:r>
              <a:rPr kumimoji="1" lang="en-US" altLang="ja-JP"/>
              <a:t>macro-F1</a:t>
            </a:r>
            <a:r>
              <a:rPr kumimoji="1" lang="ja-JP" altLang="en-US"/>
              <a:t>、</a:t>
            </a:r>
            <a:r>
              <a:rPr kumimoji="1" lang="en-US" altLang="ja-JP"/>
              <a:t>Balanced Accuracy</a:t>
            </a:r>
            <a:r>
              <a:rPr kumimoji="1" lang="ja-JP" altLang="en-US"/>
              <a:t>の差は信頼区間が</a:t>
            </a:r>
            <a:r>
              <a:rPr kumimoji="1" lang="en-US" altLang="ja-JP"/>
              <a:t>0</a:t>
            </a:r>
            <a:r>
              <a:rPr kumimoji="1" lang="ja-JP" altLang="en-US"/>
              <a:t>をまたぎました。したがって、</a:t>
            </a:r>
            <a:r>
              <a:rPr kumimoji="1" lang="en-US" altLang="ja-JP"/>
              <a:t>ViT</a:t>
            </a:r>
            <a:r>
              <a:rPr kumimoji="1" lang="ja-JP" altLang="en-US"/>
              <a:t>は患者の重症度を順位づける能力を改善したといえますが、分類性能全般で優れるとは結論できません。</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8</a:t>
            </a:fld>
            <a:endParaRPr kumimoji="1" lang="ja-JP" altLang="en-US"/>
          </a:p>
        </p:txBody>
      </p:sp>
    </p:spTree>
    <p:extLst>
      <p:ext uri="{BB962C8B-B14F-4D97-AF65-F5344CB8AC3E}">
        <p14:creationId xmlns:p14="http://schemas.microsoft.com/office/powerpoint/2010/main" val="3029264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混同行列を見ると、両モデルとも</a:t>
            </a:r>
            <a:r>
              <a:rPr kumimoji="1" lang="en-US" altLang="ja-JP"/>
              <a:t>grade 0</a:t>
            </a:r>
            <a:r>
              <a:rPr kumimoji="1" lang="ja-JP" altLang="en-US"/>
              <a:t>は比較的よく分類できています。</a:t>
            </a:r>
            <a:r>
              <a:rPr kumimoji="1" lang="en-US" altLang="ja-JP"/>
              <a:t>grade 2</a:t>
            </a:r>
            <a:r>
              <a:rPr kumimoji="1" lang="ja-JP" altLang="en-US"/>
              <a:t>以上の</a:t>
            </a:r>
            <a:r>
              <a:rPr kumimoji="1" lang="en-US" altLang="ja-JP"/>
              <a:t>Recall</a:t>
            </a:r>
            <a:r>
              <a:rPr kumimoji="1" lang="ja-JP" altLang="en-US"/>
              <a:t>は</a:t>
            </a:r>
            <a:r>
              <a:rPr kumimoji="1" lang="en-US" altLang="ja-JP"/>
              <a:t>CNN 58.8</a:t>
            </a:r>
            <a:r>
              <a:rPr kumimoji="1" lang="ja-JP" altLang="en-US"/>
              <a:t>パーセント、</a:t>
            </a:r>
            <a:r>
              <a:rPr kumimoji="1" lang="en-US" altLang="ja-JP"/>
              <a:t>ViT 61.4</a:t>
            </a:r>
            <a:r>
              <a:rPr kumimoji="1" lang="ja-JP" altLang="en-US"/>
              <a:t>パーセントです。一方、</a:t>
            </a:r>
            <a:r>
              <a:rPr kumimoji="1" lang="en-US" altLang="ja-JP"/>
              <a:t>grade 1</a:t>
            </a:r>
            <a:r>
              <a:rPr kumimoji="1" lang="ja-JP" altLang="en-US"/>
              <a:t>は</a:t>
            </a:r>
            <a:r>
              <a:rPr kumimoji="1" lang="en-US" altLang="ja-JP"/>
              <a:t>CNN 34.7</a:t>
            </a:r>
            <a:r>
              <a:rPr kumimoji="1" lang="ja-JP" altLang="en-US"/>
              <a:t>パーセント、</a:t>
            </a:r>
            <a:r>
              <a:rPr kumimoji="1" lang="en-US" altLang="ja-JP"/>
              <a:t>ViT 38.5</a:t>
            </a:r>
            <a:r>
              <a:rPr kumimoji="1" lang="ja-JP" altLang="en-US"/>
              <a:t>パーセントにとどまり、多くが</a:t>
            </a:r>
            <a:r>
              <a:rPr kumimoji="1" lang="en-US" altLang="ja-JP"/>
              <a:t>grade 0</a:t>
            </a:r>
            <a:r>
              <a:rPr kumimoji="1" lang="ja-JP" altLang="en-US"/>
              <a:t>へ誤分類されました。</a:t>
            </a:r>
            <a:r>
              <a:rPr kumimoji="1" lang="en-US" altLang="ja-JP"/>
              <a:t>ViT</a:t>
            </a:r>
            <a:r>
              <a:rPr kumimoji="1" lang="ja-JP" altLang="en-US"/>
              <a:t>で改善傾向はありますが、差の信頼区間は</a:t>
            </a:r>
            <a:r>
              <a:rPr kumimoji="1" lang="en-US" altLang="ja-JP"/>
              <a:t>0</a:t>
            </a:r>
            <a:r>
              <a:rPr kumimoji="1" lang="ja-JP" altLang="en-US"/>
              <a:t>を含みます。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9</a:t>
            </a:fld>
            <a:endParaRPr kumimoji="1" lang="ja-JP" altLang="en-US"/>
          </a:p>
        </p:txBody>
      </p:sp>
    </p:spTree>
    <p:extLst>
      <p:ext uri="{BB962C8B-B14F-4D97-AF65-F5344CB8AC3E}">
        <p14:creationId xmlns:p14="http://schemas.microsoft.com/office/powerpoint/2010/main" val="1215080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grade 1</a:t>
            </a:r>
            <a:r>
              <a:rPr kumimoji="1" lang="ja-JP" altLang="en-US"/>
              <a:t>の誤分類を技術的に監査しました。</a:t>
            </a:r>
            <a:r>
              <a:rPr kumimoji="1" lang="en-US" altLang="ja-JP"/>
              <a:t>444</a:t>
            </a:r>
            <a:r>
              <a:rPr kumimoji="1" lang="ja-JP" altLang="en-US"/>
              <a:t>名のうち</a:t>
            </a:r>
            <a:r>
              <a:rPr kumimoji="1" lang="en-US" altLang="ja-JP"/>
              <a:t>233</a:t>
            </a:r>
            <a:r>
              <a:rPr kumimoji="1" lang="ja-JP" altLang="en-US"/>
              <a:t>名は両モデルとも誤分類し、そのうち</a:t>
            </a:r>
            <a:r>
              <a:rPr kumimoji="1" lang="en-US" altLang="ja-JP"/>
              <a:t>196</a:t>
            </a:r>
            <a:r>
              <a:rPr kumimoji="1" lang="ja-JP" altLang="en-US"/>
              <a:t>名は両方とも</a:t>
            </a:r>
            <a:r>
              <a:rPr kumimoji="1" lang="en-US" altLang="ja-JP"/>
              <a:t>grade 0</a:t>
            </a:r>
            <a:r>
              <a:rPr kumimoji="1" lang="ja-JP" altLang="en-US"/>
              <a:t>へ分類しました。一方、画像枚数不足などの技術的フラグは</a:t>
            </a:r>
            <a:r>
              <a:rPr kumimoji="1" lang="en-US" altLang="ja-JP"/>
              <a:t>3</a:t>
            </a:r>
            <a:r>
              <a:rPr kumimoji="1" lang="ja-JP" altLang="en-US"/>
              <a:t>名だけでした。したがって単純なデータ欠損よりも、</a:t>
            </a:r>
            <a:r>
              <a:rPr kumimoji="1" lang="en-US" altLang="ja-JP"/>
              <a:t>grade 0</a:t>
            </a:r>
            <a:r>
              <a:rPr kumimoji="1" lang="ja-JP" altLang="en-US"/>
              <a:t>と</a:t>
            </a:r>
            <a:r>
              <a:rPr kumimoji="1" lang="en-US" altLang="ja-JP"/>
              <a:t>1</a:t>
            </a:r>
            <a:r>
              <a:rPr kumimoji="1" lang="ja-JP" altLang="en-US"/>
              <a:t>の境界性、ラベルの揺らぎ、あるいは</a:t>
            </a:r>
            <a:r>
              <a:rPr kumimoji="1" lang="en-US" altLang="ja-JP"/>
              <a:t>top-5</a:t>
            </a:r>
            <a:r>
              <a:rPr kumimoji="1" lang="ja-JP" altLang="en-US"/>
              <a:t>で適切なスライスを拾えているかが課題と考えられます。医療者による盲検レビューは今後実施します。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10</a:t>
            </a:fld>
            <a:endParaRPr kumimoji="1" lang="ja-JP" altLang="en-US"/>
          </a:p>
        </p:txBody>
      </p:sp>
    </p:spTree>
    <p:extLst>
      <p:ext uri="{BB962C8B-B14F-4D97-AF65-F5344CB8AC3E}">
        <p14:creationId xmlns:p14="http://schemas.microsoft.com/office/powerpoint/2010/main" val="2376767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今回、</a:t>
            </a:r>
            <a:r>
              <a:rPr kumimoji="1" lang="en-US" altLang="ja-JP"/>
              <a:t>ViT</a:t>
            </a:r>
            <a:r>
              <a:rPr kumimoji="1" lang="ja-JP" altLang="en-US"/>
              <a:t>は</a:t>
            </a:r>
            <a:r>
              <a:rPr kumimoji="1" lang="en-US" altLang="ja-JP"/>
              <a:t>macro ROC-AUC</a:t>
            </a:r>
            <a:r>
              <a:rPr kumimoji="1" lang="ja-JP" altLang="en-US"/>
              <a:t>を改善し、詳細解析では</a:t>
            </a:r>
            <a:r>
              <a:rPr kumimoji="1" lang="en-US" altLang="ja-JP"/>
              <a:t>NLL</a:t>
            </a:r>
            <a:r>
              <a:rPr kumimoji="1" lang="ja-JP" altLang="en-US"/>
              <a:t>や</a:t>
            </a:r>
            <a:r>
              <a:rPr kumimoji="1" lang="en-US" altLang="ja-JP"/>
              <a:t>Brier score</a:t>
            </a:r>
            <a:r>
              <a:rPr kumimoji="1" lang="ja-JP" altLang="en-US"/>
              <a:t>も改善しました。ただし</a:t>
            </a:r>
            <a:r>
              <a:rPr kumimoji="1" lang="en-US" altLang="ja-JP"/>
              <a:t>Accuracy</a:t>
            </a:r>
            <a:r>
              <a:rPr kumimoji="1" lang="ja-JP" altLang="en-US"/>
              <a:t>と</a:t>
            </a:r>
            <a:r>
              <a:rPr kumimoji="1" lang="en-US" altLang="ja-JP"/>
              <a:t>macro-F1</a:t>
            </a:r>
            <a:r>
              <a:rPr kumimoji="1" lang="ja-JP" altLang="en-US"/>
              <a:t>の優位性は未確定です。限界として単施設データであること、探索後に</a:t>
            </a:r>
            <a:r>
              <a:rPr kumimoji="1" lang="en-US" altLang="ja-JP"/>
              <a:t>protocol</a:t>
            </a:r>
            <a:r>
              <a:rPr kumimoji="1" lang="ja-JP" altLang="en-US"/>
              <a:t>を固定したこと、</a:t>
            </a:r>
            <a:r>
              <a:rPr kumimoji="1" lang="en-US" altLang="ja-JP"/>
              <a:t>top-5</a:t>
            </a:r>
            <a:r>
              <a:rPr kumimoji="1" lang="ja-JP" altLang="en-US"/>
              <a:t>が後処理で患者内の断面関係を直接学習していないことがあります。今後は外部検証、</a:t>
            </a:r>
            <a:r>
              <a:rPr kumimoji="1" lang="en-US" altLang="ja-JP"/>
              <a:t>grade 1</a:t>
            </a:r>
            <a:r>
              <a:rPr kumimoji="1" lang="ja-JP" altLang="en-US"/>
              <a:t>の盲検再評価、そして</a:t>
            </a:r>
            <a:r>
              <a:rPr kumimoji="1" lang="en-US" altLang="ja-JP"/>
              <a:t>MIL</a:t>
            </a:r>
            <a:r>
              <a:rPr kumimoji="1" lang="ja-JP" altLang="en-US"/>
              <a:t>や</a:t>
            </a:r>
            <a:r>
              <a:rPr kumimoji="1" lang="en-US" altLang="ja-JP"/>
              <a:t>Transformer</a:t>
            </a:r>
            <a:r>
              <a:rPr kumimoji="1" lang="ja-JP" altLang="en-US"/>
              <a:t>による患者単位学習へ進めます。</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11</a:t>
            </a:fld>
            <a:endParaRPr kumimoji="1" lang="ja-JP" altLang="en-US"/>
          </a:p>
        </p:txBody>
      </p:sp>
    </p:spTree>
    <p:extLst>
      <p:ext uri="{BB962C8B-B14F-4D97-AF65-F5344CB8AC3E}">
        <p14:creationId xmlns:p14="http://schemas.microsoft.com/office/powerpoint/2010/main" val="3451794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まとめです。患者重複のない</a:t>
            </a:r>
            <a:r>
              <a:rPr kumimoji="1" lang="en-US" altLang="ja-JP"/>
              <a:t>5-fold OOF</a:t>
            </a:r>
            <a:r>
              <a:rPr kumimoji="1" lang="ja-JP" altLang="en-US"/>
              <a:t>評価で</a:t>
            </a:r>
            <a:r>
              <a:rPr kumimoji="1" lang="en-US" altLang="ja-JP"/>
              <a:t>ViT</a:t>
            </a:r>
            <a:r>
              <a:rPr kumimoji="1" lang="ja-JP" altLang="en-US"/>
              <a:t>と</a:t>
            </a:r>
            <a:r>
              <a:rPr kumimoji="1" lang="en-US" altLang="ja-JP"/>
              <a:t>CNN</a:t>
            </a:r>
            <a:r>
              <a:rPr kumimoji="1" lang="ja-JP" altLang="en-US"/>
              <a:t>を比較しました。</a:t>
            </a:r>
            <a:r>
              <a:rPr kumimoji="1" lang="en-US" altLang="ja-JP"/>
              <a:t>ViT</a:t>
            </a:r>
            <a:r>
              <a:rPr kumimoji="1" lang="ja-JP" altLang="en-US"/>
              <a:t>は</a:t>
            </a:r>
            <a:r>
              <a:rPr kumimoji="1" lang="en-US" altLang="ja-JP"/>
              <a:t>macro ROC-AUC</a:t>
            </a:r>
            <a:r>
              <a:rPr kumimoji="1" lang="ja-JP" altLang="en-US"/>
              <a:t>を</a:t>
            </a:r>
            <a:r>
              <a:rPr kumimoji="1" lang="en-US" altLang="ja-JP"/>
              <a:t>0.0209</a:t>
            </a:r>
            <a:r>
              <a:rPr kumimoji="1" lang="ja-JP" altLang="en-US"/>
              <a:t>改善しましたが、</a:t>
            </a:r>
            <a:r>
              <a:rPr kumimoji="1" lang="en-US" altLang="ja-JP"/>
              <a:t>Accuracy</a:t>
            </a:r>
            <a:r>
              <a:rPr kumimoji="1" lang="ja-JP" altLang="en-US"/>
              <a:t>と</a:t>
            </a:r>
            <a:r>
              <a:rPr kumimoji="1" lang="en-US" altLang="ja-JP"/>
              <a:t>macro-F1</a:t>
            </a:r>
            <a:r>
              <a:rPr kumimoji="1" lang="ja-JP" altLang="en-US"/>
              <a:t>の優位性は確認できませんでした。</a:t>
            </a:r>
            <a:r>
              <a:rPr kumimoji="1" lang="en-US" altLang="ja-JP"/>
              <a:t>grade 1</a:t>
            </a:r>
            <a:r>
              <a:rPr kumimoji="1" lang="ja-JP" altLang="en-US"/>
              <a:t>の識別改善と外部検証が次の課題です。ご清聴ありがとうございました。</a:t>
            </a:r>
          </a:p>
        </p:txBody>
      </p:sp>
      <p:sp>
        <p:nvSpPr>
          <p:cNvPr id="4" name="スライド番号プレースホルダー 3"/>
          <p:cNvSpPr>
            <a:spLocks noGrp="1"/>
          </p:cNvSpPr>
          <p:nvPr>
            <p:ph type="sldNum" sz="quarter" idx="5"/>
          </p:nvPr>
        </p:nvSpPr>
        <p:spPr/>
        <p:txBody>
          <a:bodyPr/>
          <a:lstStyle/>
          <a:p>
            <a:fld id="{7CA0C7ED-6F71-4269-8D8C-7881800CB58E}" type="slidenum">
              <a:rPr kumimoji="1" lang="ja-JP" altLang="en-US" smtClean="0"/>
              <a:t>12</a:t>
            </a:fld>
            <a:endParaRPr kumimoji="1" lang="ja-JP" altLang="en-US"/>
          </a:p>
        </p:txBody>
      </p:sp>
    </p:spTree>
    <p:extLst>
      <p:ext uri="{BB962C8B-B14F-4D97-AF65-F5344CB8AC3E}">
        <p14:creationId xmlns:p14="http://schemas.microsoft.com/office/powerpoint/2010/main" val="1619293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9EA7B-7523-8D76-1713-E597CF17E2D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92354D1-055A-AE06-1AC5-806DD66411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459438E-6929-408C-E98E-F1272CE8D7C5}"/>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8257059E-11F4-44FC-E72B-CA9395788DD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B4C2D36-4B37-DA3F-68FE-A855585EAFDE}"/>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2552349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7361B0-6022-A5FA-A550-83ECBCDFC56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492C203-2A14-130B-7B84-1EF51D6AD2B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7185782-4968-7BBB-FC53-BA700C752A62}"/>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D4E835CC-5C89-7F7B-A765-4C37F87FE6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71BCE7-E840-9FF3-E4E4-B7C25BB0E483}"/>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83534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99EC46-B1CF-7066-45E0-7FA0294317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13866B2-7360-D82D-43C4-347B7C2158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DCF4352-2ED1-8853-9CB9-1837BF1CC679}"/>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A78A600D-9ABB-90CA-7B3E-17105C929F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523D58-EA9F-00C6-5380-A8542360DFF4}"/>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4074939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27A0AE-8013-F707-0B9F-83A75E26D7B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1B92455-8A1E-1206-93DA-A799BE2CEDC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2579093-33D2-5684-CFF8-F3440EBAC77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494E600-6312-8A97-1266-5D48C6691548}"/>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6183264A-001E-231F-75C8-5C2E1CA74C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D5B5AF2-E6DF-3E02-05E4-AB85F370F331}"/>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4110455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58E933-B818-118D-8243-AADA37BCA37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DA91974-B4E6-E4DA-DF6D-6456A14FE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ECF34E2-CA04-0D78-71BC-AB7EF54FCA6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0FA76C1-9FAE-B73E-EFD7-7C913153E8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81A90B6-2A22-4795-F7D5-CA4FB71AF7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A8DE30A-F239-8A2B-3448-260323CE548D}"/>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8" name="フッター プレースホルダー 7">
            <a:extLst>
              <a:ext uri="{FF2B5EF4-FFF2-40B4-BE49-F238E27FC236}">
                <a16:creationId xmlns:a16="http://schemas.microsoft.com/office/drawing/2014/main" id="{3DACB169-864B-BE9B-8FFD-8FABF4554AC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E517710-9619-DC52-9D7A-E525558BAFC3}"/>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802605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231174-E5D7-63CB-5058-B05EE52207F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BF8E58E-5443-1624-567C-B963C4AF3304}"/>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4" name="フッター プレースホルダー 3">
            <a:extLst>
              <a:ext uri="{FF2B5EF4-FFF2-40B4-BE49-F238E27FC236}">
                <a16:creationId xmlns:a16="http://schemas.microsoft.com/office/drawing/2014/main" id="{EBAE3DB4-914D-8567-EEF2-2663BF86050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12DF3F6-1FEA-83E2-BFAF-2C9948657FBA}"/>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3797112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578716B-FBF2-A3F9-E579-85788A19EF25}"/>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3" name="フッター プレースホルダー 2">
            <a:extLst>
              <a:ext uri="{FF2B5EF4-FFF2-40B4-BE49-F238E27FC236}">
                <a16:creationId xmlns:a16="http://schemas.microsoft.com/office/drawing/2014/main" id="{D8E93DAF-361C-3543-DFB1-E645A3F5F87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FAEB283-3882-F782-90CA-ABC614D0E223}"/>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387743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E74C6-68B1-BAAD-8A9B-F54BD78EA3A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07D60BC-792D-594F-4A8C-0AB30FB6D0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CFB59CB-82FF-C474-FC4B-F7340F2815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278CF0C-6795-D08A-C333-637385424A90}"/>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3316F973-421E-3D90-F87B-D09C7A7EC4E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FDBB711-2646-FEEA-4928-9CE6C688133B}"/>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1612868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D48878-2CB7-5321-1D78-F3E6DF5D34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3C1F450-BEFE-1864-E226-4612F26A76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C40978A-15A4-DD1A-7DDB-5E691C77AC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CA0073C-1A6A-4642-AAFA-14A86BD10BBB}"/>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6" name="フッター プレースホルダー 5">
            <a:extLst>
              <a:ext uri="{FF2B5EF4-FFF2-40B4-BE49-F238E27FC236}">
                <a16:creationId xmlns:a16="http://schemas.microsoft.com/office/drawing/2014/main" id="{8FF3DAD7-4359-F387-B6D1-77E1C45403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E0A96E8-1217-50DC-2294-21E4FC5DD20E}"/>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57477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B67BB5-55DC-072C-0D1D-C60B51C7E35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CD6B164-FD5E-8F98-8FD4-37C2098B7C6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4B5D788-7626-4B7D-5C2C-BE668962714A}"/>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E13F7716-1ECD-735B-62FF-A28677538B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E3D414-A3FB-9EC4-9728-E24C71786637}"/>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4000631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0E80F-F502-15E3-E563-5EC12CDA09D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C994FBB-9C4D-9EA0-C430-BF9A6137351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054F6E0-87E3-7886-2384-45B8DFD2F3B2}"/>
              </a:ext>
            </a:extLst>
          </p:cNvPr>
          <p:cNvSpPr>
            <a:spLocks noGrp="1"/>
          </p:cNvSpPr>
          <p:nvPr>
            <p:ph type="dt" sz="half" idx="10"/>
          </p:nvPr>
        </p:nvSpPr>
        <p:spPr/>
        <p:txBody>
          <a:body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49B04EBD-FB36-234E-F414-30D8D9FBFF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F6A757-2509-2C3D-9BBB-A5F1FD2D095E}"/>
              </a:ext>
            </a:extLst>
          </p:cNvPr>
          <p:cNvSpPr>
            <a:spLocks noGrp="1"/>
          </p:cNvSpPr>
          <p:nvPr>
            <p:ph type="sldNum" sz="quarter" idx="12"/>
          </p:nvPr>
        </p:nvSpPr>
        <p:spPr/>
        <p:txBody>
          <a:body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258358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13EA3A2-8AD6-DE34-5871-D9DB06C18D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71DAF4E-410E-AAA9-16EB-7DBEA42E9F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08FEEA-CEB6-7220-91CD-C765706739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977B50-9F29-4A25-913F-95586650BF4C}" type="datetimeFigureOut">
              <a:rPr kumimoji="1" lang="ja-JP" altLang="en-US" smtClean="0"/>
              <a:t>2026/8/10</a:t>
            </a:fld>
            <a:endParaRPr kumimoji="1" lang="ja-JP" altLang="en-US"/>
          </a:p>
        </p:txBody>
      </p:sp>
      <p:sp>
        <p:nvSpPr>
          <p:cNvPr id="5" name="フッター プレースホルダー 4">
            <a:extLst>
              <a:ext uri="{FF2B5EF4-FFF2-40B4-BE49-F238E27FC236}">
                <a16:creationId xmlns:a16="http://schemas.microsoft.com/office/drawing/2014/main" id="{126B63EA-D776-5E40-5C9F-1A9BD0A96A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DE0BB5D-349F-A8E9-2287-1601ADC95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0D0A6A-D65F-4C66-A1AE-63CF0AFEAF73}" type="slidenum">
              <a:rPr kumimoji="1" lang="ja-JP" altLang="en-US" smtClean="0"/>
              <a:t>‹#›</a:t>
            </a:fld>
            <a:endParaRPr kumimoji="1" lang="ja-JP" altLang="en-US"/>
          </a:p>
        </p:txBody>
      </p:sp>
    </p:spTree>
    <p:extLst>
      <p:ext uri="{BB962C8B-B14F-4D97-AF65-F5344CB8AC3E}">
        <p14:creationId xmlns:p14="http://schemas.microsoft.com/office/powerpoint/2010/main" val="1219384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5075FB4-5C3F-D22E-654C-D0B41025AC8F}"/>
              </a:ext>
            </a:extLst>
          </p:cNvPr>
          <p:cNvSpPr/>
          <p:nvPr/>
        </p:nvSpPr>
        <p:spPr>
          <a:xfrm>
            <a:off x="0" y="0"/>
            <a:ext cx="12192000" cy="1092200"/>
          </a:xfrm>
          <a:prstGeom prst="rect">
            <a:avLst/>
          </a:prstGeom>
          <a:solidFill>
            <a:srgbClr val="1F3C5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EDA1648-A38F-753C-BDF2-8D305CCDC539}"/>
              </a:ext>
            </a:extLst>
          </p:cNvPr>
          <p:cNvSpPr txBox="1"/>
          <p:nvPr/>
        </p:nvSpPr>
        <p:spPr>
          <a:xfrm>
            <a:off x="736600" y="381000"/>
            <a:ext cx="2032000" cy="276999"/>
          </a:xfrm>
          <a:prstGeom prst="rect">
            <a:avLst/>
          </a:prstGeom>
          <a:noFill/>
        </p:spPr>
        <p:txBody>
          <a:bodyPr vert="horz" wrap="square" lIns="0" tIns="0" rIns="0" bIns="0" rtlCol="0" anchor="t">
            <a:noAutofit/>
          </a:bodyPr>
          <a:lstStyle/>
          <a:p>
            <a:r>
              <a:rPr kumimoji="1" lang="en-US" altLang="ja-JP" sz="1600" b="1">
                <a:solidFill>
                  <a:srgbClr val="FFFFFF"/>
                </a:solidFill>
                <a:latin typeface="Yu Gothic" panose="020B0400000000000000" pitchFamily="50" charset="-128"/>
                <a:ea typeface="Yu Gothic" panose="020B0400000000000000" pitchFamily="50" charset="-128"/>
              </a:rPr>
              <a:t>X-ICT</a:t>
            </a:r>
            <a:endParaRPr kumimoji="1" lang="ja-JP" altLang="en-US" sz="1600" b="1">
              <a:solidFill>
                <a:srgbClr val="FFFFFF"/>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6C8FB148-7E21-62A2-D681-D00590CB3885}"/>
              </a:ext>
            </a:extLst>
          </p:cNvPr>
          <p:cNvSpPr txBox="1"/>
          <p:nvPr/>
        </p:nvSpPr>
        <p:spPr>
          <a:xfrm>
            <a:off x="736600" y="1841500"/>
            <a:ext cx="10731500" cy="276999"/>
          </a:xfrm>
          <a:prstGeom prst="rect">
            <a:avLst/>
          </a:prstGeom>
          <a:noFill/>
        </p:spPr>
        <p:txBody>
          <a:bodyPr vert="horz" wrap="square" lIns="0" tIns="0" rIns="0" bIns="0" rtlCol="0" anchor="t">
            <a:noAutofit/>
          </a:bodyPr>
          <a:lstStyle/>
          <a:p>
            <a:r>
              <a:rPr kumimoji="1" lang="en-US" altLang="ja-JP" sz="3000" b="1">
                <a:solidFill>
                  <a:srgbClr val="1F3C59"/>
                </a:solidFill>
                <a:latin typeface="Yu Gothic" panose="020B0400000000000000" pitchFamily="50" charset="-128"/>
                <a:ea typeface="Yu Gothic" panose="020B0400000000000000" pitchFamily="50" charset="-128"/>
              </a:rPr>
              <a:t>Vision Transformer</a:t>
            </a:r>
            <a:r>
              <a:rPr kumimoji="1" lang="ja-JP" altLang="en-US" sz="3000" b="1">
                <a:solidFill>
                  <a:srgbClr val="1F3C59"/>
                </a:solidFill>
                <a:latin typeface="Yu Gothic" panose="020B0400000000000000" pitchFamily="50" charset="-128"/>
                <a:ea typeface="Yu Gothic" panose="020B0400000000000000" pitchFamily="50" charset="-128"/>
              </a:rPr>
              <a:t>を用いた
大脳白質病変グレード分類の患者単位評価</a:t>
            </a:r>
          </a:p>
        </p:txBody>
      </p:sp>
      <p:cxnSp>
        <p:nvCxnSpPr>
          <p:cNvPr id="5" name="直線コネクタ 4">
            <a:extLst>
              <a:ext uri="{FF2B5EF4-FFF2-40B4-BE49-F238E27FC236}">
                <a16:creationId xmlns:a16="http://schemas.microsoft.com/office/drawing/2014/main" id="{8AA87833-13AE-D960-510A-518B366FFEA0}"/>
              </a:ext>
            </a:extLst>
          </p:cNvPr>
          <p:cNvCxnSpPr/>
          <p:nvPr/>
        </p:nvCxnSpPr>
        <p:spPr>
          <a:xfrm>
            <a:off x="736600" y="3670300"/>
            <a:ext cx="10693400" cy="0"/>
          </a:xfrm>
          <a:prstGeom prst="line">
            <a:avLst/>
          </a:prstGeom>
          <a:ln w="31750">
            <a:solidFill>
              <a:srgbClr val="2F6690"/>
            </a:solidFill>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1A940529-23AA-E868-75A0-B5310CBA753B}"/>
              </a:ext>
            </a:extLst>
          </p:cNvPr>
          <p:cNvSpPr txBox="1"/>
          <p:nvPr/>
        </p:nvSpPr>
        <p:spPr>
          <a:xfrm>
            <a:off x="736600" y="4000500"/>
            <a:ext cx="6350000" cy="276999"/>
          </a:xfrm>
          <a:prstGeom prst="rect">
            <a:avLst/>
          </a:prstGeom>
          <a:noFill/>
        </p:spPr>
        <p:txBody>
          <a:bodyPr vert="horz" wrap="square" lIns="0" tIns="0" rIns="0" bIns="0" rtlCol="0" anchor="t">
            <a:noAutofit/>
          </a:bodyPr>
          <a:lstStyle/>
          <a:p>
            <a:r>
              <a:rPr kumimoji="1" lang="ja-JP" altLang="en-US">
                <a:solidFill>
                  <a:srgbClr val="242424"/>
                </a:solidFill>
                <a:latin typeface="Yu Gothic" panose="020B0400000000000000" pitchFamily="50" charset="-128"/>
                <a:ea typeface="Yu Gothic" panose="020B0400000000000000" pitchFamily="50" charset="-128"/>
              </a:rPr>
              <a:t>浅川 天夢　／　石井 一夫</a:t>
            </a:r>
          </a:p>
        </p:txBody>
      </p:sp>
      <p:sp>
        <p:nvSpPr>
          <p:cNvPr id="7" name="テキスト ボックス 6">
            <a:extLst>
              <a:ext uri="{FF2B5EF4-FFF2-40B4-BE49-F238E27FC236}">
                <a16:creationId xmlns:a16="http://schemas.microsoft.com/office/drawing/2014/main" id="{F2DED342-C057-AE74-E2A3-97A8A329145A}"/>
              </a:ext>
            </a:extLst>
          </p:cNvPr>
          <p:cNvSpPr txBox="1"/>
          <p:nvPr/>
        </p:nvSpPr>
        <p:spPr>
          <a:xfrm>
            <a:off x="736600" y="4495800"/>
            <a:ext cx="7874000" cy="276999"/>
          </a:xfrm>
          <a:prstGeom prst="rect">
            <a:avLst/>
          </a:prstGeom>
          <a:noFill/>
        </p:spPr>
        <p:txBody>
          <a:bodyPr vert="horz" wrap="square" lIns="0" tIns="0" rIns="0" bIns="0" rtlCol="0" anchor="t">
            <a:noAutofit/>
          </a:bodyPr>
          <a:lstStyle/>
          <a:p>
            <a:r>
              <a:rPr kumimoji="1" lang="zh-TW" altLang="en-US" sz="1400">
                <a:solidFill>
                  <a:srgbClr val="666666"/>
                </a:solidFill>
                <a:latin typeface="Yu Gothic" panose="020B0400000000000000" pitchFamily="50" charset="-128"/>
                <a:ea typeface="Yu Gothic" panose="020B0400000000000000" pitchFamily="50" charset="-128"/>
              </a:rPr>
              <a:t>公立諏訪東京理科大学 工学部 情報応用工学科</a:t>
            </a:r>
            <a:endParaRPr kumimoji="1" lang="ja-JP" altLang="en-US" sz="1400">
              <a:solidFill>
                <a:srgbClr val="666666"/>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7CD6011C-412B-4F22-800C-C2AFCDBB7835}"/>
              </a:ext>
            </a:extLst>
          </p:cNvPr>
          <p:cNvSpPr txBox="1"/>
          <p:nvPr/>
        </p:nvSpPr>
        <p:spPr>
          <a:xfrm>
            <a:off x="736600" y="5384800"/>
            <a:ext cx="9144000" cy="276999"/>
          </a:xfrm>
          <a:prstGeom prst="rect">
            <a:avLst/>
          </a:prstGeom>
          <a:noFill/>
        </p:spPr>
        <p:txBody>
          <a:bodyPr vert="horz" wrap="square" lIns="0" tIns="0" rIns="0" bIns="0" rtlCol="0" anchor="t">
            <a:noAutofit/>
          </a:bodyPr>
          <a:lstStyle/>
          <a:p>
            <a:r>
              <a:rPr kumimoji="1" lang="ja-JP" altLang="en-US" sz="1700" b="1">
                <a:solidFill>
                  <a:srgbClr val="2F6690"/>
                </a:solidFill>
                <a:latin typeface="Yu Gothic" panose="020B0400000000000000" pitchFamily="50" charset="-128"/>
                <a:ea typeface="Yu Gothic" panose="020B0400000000000000" pitchFamily="50" charset="-128"/>
              </a:rPr>
              <a:t>患者重複のない</a:t>
            </a:r>
            <a:r>
              <a:rPr kumimoji="1" lang="en-US" altLang="ja-JP" sz="1700" b="1">
                <a:solidFill>
                  <a:srgbClr val="2F6690"/>
                </a:solidFill>
                <a:latin typeface="Yu Gothic" panose="020B0400000000000000" pitchFamily="50" charset="-128"/>
                <a:ea typeface="Yu Gothic" panose="020B0400000000000000" pitchFamily="50" charset="-128"/>
              </a:rPr>
              <a:t>5</a:t>
            </a:r>
            <a:r>
              <a:rPr kumimoji="1" lang="ja-JP" altLang="en-US" sz="1700" b="1">
                <a:solidFill>
                  <a:srgbClr val="2F6690"/>
                </a:solidFill>
                <a:latin typeface="Yu Gothic" panose="020B0400000000000000" pitchFamily="50" charset="-128"/>
                <a:ea typeface="Yu Gothic" panose="020B0400000000000000" pitchFamily="50" charset="-128"/>
              </a:rPr>
              <a:t>分割交差検証で</a:t>
            </a:r>
            <a:r>
              <a:rPr kumimoji="1" lang="en-US" altLang="ja-JP" sz="1700" b="1">
                <a:solidFill>
                  <a:srgbClr val="2F6690"/>
                </a:solidFill>
                <a:latin typeface="Yu Gothic" panose="020B0400000000000000" pitchFamily="50" charset="-128"/>
                <a:ea typeface="Yu Gothic" panose="020B0400000000000000" pitchFamily="50" charset="-128"/>
              </a:rPr>
              <a:t>ViT</a:t>
            </a:r>
            <a:r>
              <a:rPr kumimoji="1" lang="ja-JP" altLang="en-US" sz="1700" b="1">
                <a:solidFill>
                  <a:srgbClr val="2F6690"/>
                </a:solidFill>
                <a:latin typeface="Yu Gothic" panose="020B0400000000000000" pitchFamily="50" charset="-128"/>
                <a:ea typeface="Yu Gothic" panose="020B0400000000000000" pitchFamily="50" charset="-128"/>
              </a:rPr>
              <a:t>と</a:t>
            </a:r>
            <a:r>
              <a:rPr kumimoji="1" lang="en-US" altLang="ja-JP" sz="1700" b="1">
                <a:solidFill>
                  <a:srgbClr val="2F6690"/>
                </a:solidFill>
                <a:latin typeface="Yu Gothic" panose="020B0400000000000000" pitchFamily="50" charset="-128"/>
                <a:ea typeface="Yu Gothic" panose="020B0400000000000000" pitchFamily="50" charset="-128"/>
              </a:rPr>
              <a:t>CNN</a:t>
            </a:r>
            <a:r>
              <a:rPr kumimoji="1" lang="ja-JP" altLang="en-US" sz="1700" b="1">
                <a:solidFill>
                  <a:srgbClr val="2F6690"/>
                </a:solidFill>
                <a:latin typeface="Yu Gothic" panose="020B0400000000000000" pitchFamily="50" charset="-128"/>
                <a:ea typeface="Yu Gothic" panose="020B0400000000000000" pitchFamily="50" charset="-128"/>
              </a:rPr>
              <a:t>を比較</a:t>
            </a:r>
          </a:p>
        </p:txBody>
      </p:sp>
      <p:sp>
        <p:nvSpPr>
          <p:cNvPr id="9" name="テキスト ボックス 8">
            <a:extLst>
              <a:ext uri="{FF2B5EF4-FFF2-40B4-BE49-F238E27FC236}">
                <a16:creationId xmlns:a16="http://schemas.microsoft.com/office/drawing/2014/main" id="{9F2B98D3-2539-F824-3968-89E14A84554A}"/>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0:30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0" name="テキスト ボックス 9">
            <a:extLst>
              <a:ext uri="{FF2B5EF4-FFF2-40B4-BE49-F238E27FC236}">
                <a16:creationId xmlns:a16="http://schemas.microsoft.com/office/drawing/2014/main" id="{9862A9A7-E4A4-018D-A79B-407D6D100F76}"/>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1877239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FE642C1-DB15-CDCE-B9B2-D943413CA659}"/>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BACKGROUND</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75F4836F-3D4E-42A4-0DC2-22A81878033E}"/>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研究背景：白質病変を画像から客観評価する</a:t>
            </a:r>
          </a:p>
        </p:txBody>
      </p:sp>
      <p:cxnSp>
        <p:nvCxnSpPr>
          <p:cNvPr id="4" name="直線コネクタ 3">
            <a:extLst>
              <a:ext uri="{FF2B5EF4-FFF2-40B4-BE49-F238E27FC236}">
                <a16:creationId xmlns:a16="http://schemas.microsoft.com/office/drawing/2014/main" id="{40AD4E7B-2699-F20D-1107-D56E84629DFA}"/>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3EDBDC21-B221-9461-BF37-372348330C67}"/>
              </a:ext>
            </a:extLst>
          </p:cNvPr>
          <p:cNvSpPr/>
          <p:nvPr/>
        </p:nvSpPr>
        <p:spPr>
          <a:xfrm>
            <a:off x="698500" y="1524000"/>
            <a:ext cx="3365500" cy="3810000"/>
          </a:xfrm>
          <a:prstGeom prst="roundRect">
            <a:avLst/>
          </a:prstGeom>
          <a:solidFill>
            <a:srgbClr val="EFF5FA"/>
          </a:solidFill>
          <a:ln w="12700">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66664F1-969A-91A4-4597-11706C1C09B5}"/>
              </a:ext>
            </a:extLst>
          </p:cNvPr>
          <p:cNvSpPr txBox="1"/>
          <p:nvPr/>
        </p:nvSpPr>
        <p:spPr>
          <a:xfrm>
            <a:off x="1016000" y="1841500"/>
            <a:ext cx="2730500" cy="276999"/>
          </a:xfrm>
          <a:prstGeom prst="rect">
            <a:avLst/>
          </a:prstGeom>
          <a:noFill/>
        </p:spPr>
        <p:txBody>
          <a:bodyPr vert="horz" wrap="square" lIns="0" tIns="0" rIns="0" bIns="0" rtlCol="0" anchor="t">
            <a:noAutofit/>
          </a:bodyPr>
          <a:lstStyle/>
          <a:p>
            <a:pPr algn="ctr"/>
            <a:r>
              <a:rPr kumimoji="1" lang="zh-TW" altLang="en-US" sz="2200" b="1">
                <a:solidFill>
                  <a:srgbClr val="1F3C59"/>
                </a:solidFill>
                <a:latin typeface="Yu Gothic" panose="020B0400000000000000" pitchFamily="50" charset="-128"/>
                <a:ea typeface="Yu Gothic" panose="020B0400000000000000" pitchFamily="50" charset="-128"/>
              </a:rPr>
              <a:t>大脳白質病変</a:t>
            </a:r>
            <a:endParaRPr kumimoji="1" lang="ja-JP" altLang="en-US" sz="2200" b="1">
              <a:solidFill>
                <a:srgbClr val="1F3C59"/>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82826068-AF86-9DDF-EA6A-B25FA46C5208}"/>
              </a:ext>
            </a:extLst>
          </p:cNvPr>
          <p:cNvSpPr txBox="1"/>
          <p:nvPr/>
        </p:nvSpPr>
        <p:spPr>
          <a:xfrm>
            <a:off x="1016000" y="2603500"/>
            <a:ext cx="2730500" cy="276999"/>
          </a:xfrm>
          <a:prstGeom prst="rect">
            <a:avLst/>
          </a:prstGeom>
          <a:noFill/>
        </p:spPr>
        <p:txBody>
          <a:bodyPr vert="horz" wrap="square" lIns="0" tIns="0" rIns="0" bIns="0" rtlCol="0" anchor="t">
            <a:noAutofit/>
          </a:bodyPr>
          <a:lstStyle/>
          <a:p>
            <a:pPr algn="ctr"/>
            <a:r>
              <a:rPr kumimoji="1" lang="ja-JP" altLang="en-US" sz="1700">
                <a:solidFill>
                  <a:srgbClr val="242424"/>
                </a:solidFill>
                <a:latin typeface="Yu Gothic" panose="020B0400000000000000" pitchFamily="50" charset="-128"/>
                <a:ea typeface="Yu Gothic" panose="020B0400000000000000" pitchFamily="50" charset="-128"/>
              </a:rPr>
              <a:t>脳</a:t>
            </a:r>
            <a:r>
              <a:rPr kumimoji="1" lang="en-US" altLang="ja-JP" sz="1700">
                <a:solidFill>
                  <a:srgbClr val="242424"/>
                </a:solidFill>
                <a:latin typeface="Yu Gothic" panose="020B0400000000000000" pitchFamily="50" charset="-128"/>
                <a:ea typeface="Yu Gothic" panose="020B0400000000000000" pitchFamily="50" charset="-128"/>
              </a:rPr>
              <a:t>MRI</a:t>
            </a:r>
            <a:r>
              <a:rPr kumimoji="1" lang="ja-JP" altLang="en-US" sz="1700">
                <a:solidFill>
                  <a:srgbClr val="242424"/>
                </a:solidFill>
                <a:latin typeface="Yu Gothic" panose="020B0400000000000000" pitchFamily="50" charset="-128"/>
                <a:ea typeface="Yu Gothic" panose="020B0400000000000000" pitchFamily="50" charset="-128"/>
              </a:rPr>
              <a:t>の</a:t>
            </a:r>
            <a:r>
              <a:rPr kumimoji="1" lang="en-US" altLang="ja-JP" sz="1700">
                <a:solidFill>
                  <a:srgbClr val="242424"/>
                </a:solidFill>
                <a:latin typeface="Yu Gothic" panose="020B0400000000000000" pitchFamily="50" charset="-128"/>
                <a:ea typeface="Yu Gothic" panose="020B0400000000000000" pitchFamily="50" charset="-128"/>
              </a:rPr>
              <a:t>T2</a:t>
            </a:r>
            <a:r>
              <a:rPr kumimoji="1" lang="ja-JP" altLang="en-US" sz="1700">
                <a:solidFill>
                  <a:srgbClr val="242424"/>
                </a:solidFill>
                <a:latin typeface="Yu Gothic" panose="020B0400000000000000" pitchFamily="50" charset="-128"/>
                <a:ea typeface="Yu Gothic" panose="020B0400000000000000" pitchFamily="50" charset="-128"/>
              </a:rPr>
              <a:t>・</a:t>
            </a:r>
            <a:r>
              <a:rPr kumimoji="1" lang="en-US" altLang="ja-JP" sz="1700">
                <a:solidFill>
                  <a:srgbClr val="242424"/>
                </a:solidFill>
                <a:latin typeface="Yu Gothic" panose="020B0400000000000000" pitchFamily="50" charset="-128"/>
                <a:ea typeface="Yu Gothic" panose="020B0400000000000000" pitchFamily="50" charset="-128"/>
              </a:rPr>
              <a:t>FLAIR</a:t>
            </a:r>
            <a:r>
              <a:rPr kumimoji="1" lang="ja-JP" altLang="en-US" sz="1700">
                <a:solidFill>
                  <a:srgbClr val="242424"/>
                </a:solidFill>
                <a:latin typeface="Yu Gothic" panose="020B0400000000000000" pitchFamily="50" charset="-128"/>
                <a:ea typeface="Yu Gothic" panose="020B0400000000000000" pitchFamily="50" charset="-128"/>
              </a:rPr>
              <a:t>で
高信号として観察</a:t>
            </a:r>
          </a:p>
        </p:txBody>
      </p:sp>
      <p:sp>
        <p:nvSpPr>
          <p:cNvPr id="8" name="テキスト ボックス 7">
            <a:extLst>
              <a:ext uri="{FF2B5EF4-FFF2-40B4-BE49-F238E27FC236}">
                <a16:creationId xmlns:a16="http://schemas.microsoft.com/office/drawing/2014/main" id="{48094937-D988-D7B4-DF35-9895410B3676}"/>
              </a:ext>
            </a:extLst>
          </p:cNvPr>
          <p:cNvSpPr txBox="1"/>
          <p:nvPr/>
        </p:nvSpPr>
        <p:spPr>
          <a:xfrm>
            <a:off x="1016000" y="3708400"/>
            <a:ext cx="2730500" cy="276999"/>
          </a:xfrm>
          <a:prstGeom prst="rect">
            <a:avLst/>
          </a:prstGeom>
          <a:noFill/>
        </p:spPr>
        <p:txBody>
          <a:bodyPr vert="horz" wrap="square" lIns="0" tIns="0" rIns="0" bIns="0" rtlCol="0" anchor="t">
            <a:noAutofit/>
          </a:bodyPr>
          <a:lstStyle/>
          <a:p>
            <a:pPr algn="ctr"/>
            <a:r>
              <a:rPr kumimoji="1" lang="ja-JP" altLang="en-US" sz="1600">
                <a:solidFill>
                  <a:srgbClr val="242424"/>
                </a:solidFill>
                <a:latin typeface="Yu Gothic" panose="020B0400000000000000" pitchFamily="50" charset="-128"/>
                <a:ea typeface="Yu Gothic" panose="020B0400000000000000" pitchFamily="50" charset="-128"/>
              </a:rPr>
              <a:t>加齢・高血圧と関連
脳卒中・認知機能低下の
リスク指標</a:t>
            </a:r>
          </a:p>
        </p:txBody>
      </p:sp>
      <p:sp>
        <p:nvSpPr>
          <p:cNvPr id="9" name="テキスト ボックス 8">
            <a:extLst>
              <a:ext uri="{FF2B5EF4-FFF2-40B4-BE49-F238E27FC236}">
                <a16:creationId xmlns:a16="http://schemas.microsoft.com/office/drawing/2014/main" id="{DB3F8C73-A03E-A9AF-77AD-66FDFE0022E1}"/>
              </a:ext>
            </a:extLst>
          </p:cNvPr>
          <p:cNvSpPr txBox="1"/>
          <p:nvPr/>
        </p:nvSpPr>
        <p:spPr>
          <a:xfrm>
            <a:off x="4699000" y="1841500"/>
            <a:ext cx="6350000" cy="276999"/>
          </a:xfrm>
          <a:prstGeom prst="rect">
            <a:avLst/>
          </a:prstGeom>
          <a:noFill/>
        </p:spPr>
        <p:txBody>
          <a:bodyPr vert="horz" wrap="square" lIns="0" tIns="0" rIns="0" bIns="0" rtlCol="0" anchor="t">
            <a:noAutofit/>
          </a:bodyPr>
          <a:lstStyle/>
          <a:p>
            <a:r>
              <a:rPr kumimoji="1" lang="ja-JP" altLang="en-US" sz="2100" b="1">
                <a:solidFill>
                  <a:srgbClr val="2F6690"/>
                </a:solidFill>
                <a:latin typeface="Yu Gothic" panose="020B0400000000000000" pitchFamily="50" charset="-128"/>
                <a:ea typeface="Yu Gothic" panose="020B0400000000000000" pitchFamily="50" charset="-128"/>
              </a:rPr>
              <a:t>→ 重症度を再現性高く評価したい</a:t>
            </a:r>
          </a:p>
        </p:txBody>
      </p:sp>
      <p:sp>
        <p:nvSpPr>
          <p:cNvPr id="10" name="四角形: 角を丸くする 9">
            <a:extLst>
              <a:ext uri="{FF2B5EF4-FFF2-40B4-BE49-F238E27FC236}">
                <a16:creationId xmlns:a16="http://schemas.microsoft.com/office/drawing/2014/main" id="{F5B981D5-24BA-08EB-A4EC-B8D96354D138}"/>
              </a:ext>
            </a:extLst>
          </p:cNvPr>
          <p:cNvSpPr/>
          <p:nvPr/>
        </p:nvSpPr>
        <p:spPr>
          <a:xfrm>
            <a:off x="4699000" y="2603500"/>
            <a:ext cx="6350000" cy="11176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CE73F43-E1A5-8E0A-984B-7417404D2CCC}"/>
              </a:ext>
            </a:extLst>
          </p:cNvPr>
          <p:cNvSpPr txBox="1"/>
          <p:nvPr/>
        </p:nvSpPr>
        <p:spPr>
          <a:xfrm>
            <a:off x="4978400" y="2794000"/>
            <a:ext cx="1905000" cy="276999"/>
          </a:xfrm>
          <a:prstGeom prst="rect">
            <a:avLst/>
          </a:prstGeom>
          <a:noFill/>
        </p:spPr>
        <p:txBody>
          <a:bodyPr vert="horz" wrap="square" lIns="0" tIns="0" rIns="0" bIns="0" rtlCol="0" anchor="t">
            <a:noAutofit/>
          </a:bodyPr>
          <a:lstStyle/>
          <a:p>
            <a:r>
              <a:rPr kumimoji="1" lang="ja-JP" altLang="en-US" sz="1700" b="1">
                <a:solidFill>
                  <a:srgbClr val="1F3C59"/>
                </a:solidFill>
                <a:latin typeface="Yu Gothic" panose="020B0400000000000000" pitchFamily="50" charset="-128"/>
                <a:ea typeface="Yu Gothic" panose="020B0400000000000000" pitchFamily="50" charset="-128"/>
              </a:rPr>
              <a:t>従来：</a:t>
            </a:r>
            <a:r>
              <a:rPr kumimoji="1" lang="en-US" altLang="ja-JP" sz="1700" b="1">
                <a:solidFill>
                  <a:srgbClr val="1F3C59"/>
                </a:solidFill>
                <a:latin typeface="Yu Gothic" panose="020B0400000000000000" pitchFamily="50" charset="-128"/>
                <a:ea typeface="Yu Gothic" panose="020B0400000000000000" pitchFamily="50" charset="-128"/>
              </a:rPr>
              <a:t>CNN</a:t>
            </a:r>
            <a:endParaRPr kumimoji="1" lang="ja-JP" altLang="en-US" sz="1700" b="1">
              <a:solidFill>
                <a:srgbClr val="1F3C59"/>
              </a:solidFill>
              <a:latin typeface="Yu Gothic" panose="020B0400000000000000" pitchFamily="50" charset="-128"/>
              <a:ea typeface="Yu Gothic" panose="020B0400000000000000" pitchFamily="50" charset="-128"/>
            </a:endParaRPr>
          </a:p>
        </p:txBody>
      </p:sp>
      <p:sp>
        <p:nvSpPr>
          <p:cNvPr id="12" name="テキスト ボックス 11">
            <a:extLst>
              <a:ext uri="{FF2B5EF4-FFF2-40B4-BE49-F238E27FC236}">
                <a16:creationId xmlns:a16="http://schemas.microsoft.com/office/drawing/2014/main" id="{C4A5A7AE-614F-DE9F-96E2-155C0FA367D0}"/>
              </a:ext>
            </a:extLst>
          </p:cNvPr>
          <p:cNvSpPr txBox="1"/>
          <p:nvPr/>
        </p:nvSpPr>
        <p:spPr>
          <a:xfrm>
            <a:off x="4978400" y="3213100"/>
            <a:ext cx="5461000" cy="276999"/>
          </a:xfrm>
          <a:prstGeom prst="rect">
            <a:avLst/>
          </a:prstGeom>
          <a:noFill/>
        </p:spPr>
        <p:txBody>
          <a:bodyPr vert="horz" wrap="square" lIns="0" tIns="0" rIns="0" bIns="0" rtlCol="0" anchor="t">
            <a:noAutofit/>
          </a:bodyPr>
          <a:lstStyle/>
          <a:p>
            <a:r>
              <a:rPr kumimoji="1" lang="ja-JP" altLang="en-US" sz="1400">
                <a:solidFill>
                  <a:srgbClr val="242424"/>
                </a:solidFill>
                <a:latin typeface="Yu Gothic" panose="020B0400000000000000" pitchFamily="50" charset="-128"/>
                <a:ea typeface="Yu Gothic" panose="020B0400000000000000" pitchFamily="50" charset="-128"/>
              </a:rPr>
              <a:t>局所的な画像特徴の抽出に強い</a:t>
            </a:r>
          </a:p>
        </p:txBody>
      </p:sp>
      <p:sp>
        <p:nvSpPr>
          <p:cNvPr id="13" name="四角形: 角を丸くする 12">
            <a:extLst>
              <a:ext uri="{FF2B5EF4-FFF2-40B4-BE49-F238E27FC236}">
                <a16:creationId xmlns:a16="http://schemas.microsoft.com/office/drawing/2014/main" id="{F46EB7F3-F4EF-F361-BC01-EA505B04B07C}"/>
              </a:ext>
            </a:extLst>
          </p:cNvPr>
          <p:cNvSpPr/>
          <p:nvPr/>
        </p:nvSpPr>
        <p:spPr>
          <a:xfrm>
            <a:off x="4699000" y="4000500"/>
            <a:ext cx="6350000" cy="11176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F6C1D742-4A37-1BC4-5AA2-9AEE59AD8448}"/>
              </a:ext>
            </a:extLst>
          </p:cNvPr>
          <p:cNvSpPr txBox="1"/>
          <p:nvPr/>
        </p:nvSpPr>
        <p:spPr>
          <a:xfrm>
            <a:off x="4978400" y="4191000"/>
            <a:ext cx="1905000" cy="276999"/>
          </a:xfrm>
          <a:prstGeom prst="rect">
            <a:avLst/>
          </a:prstGeom>
          <a:noFill/>
        </p:spPr>
        <p:txBody>
          <a:bodyPr vert="horz" wrap="square" lIns="0" tIns="0" rIns="0" bIns="0" rtlCol="0" anchor="t">
            <a:noAutofit/>
          </a:bodyPr>
          <a:lstStyle/>
          <a:p>
            <a:r>
              <a:rPr kumimoji="1" lang="ja-JP" altLang="en-US" sz="1700" b="1">
                <a:solidFill>
                  <a:srgbClr val="2F6690"/>
                </a:solidFill>
                <a:latin typeface="Yu Gothic" panose="020B0400000000000000" pitchFamily="50" charset="-128"/>
                <a:ea typeface="Yu Gothic" panose="020B0400000000000000" pitchFamily="50" charset="-128"/>
              </a:rPr>
              <a:t>本研究：</a:t>
            </a:r>
            <a:r>
              <a:rPr kumimoji="1" lang="en-US" altLang="ja-JP" sz="1700" b="1">
                <a:solidFill>
                  <a:srgbClr val="2F6690"/>
                </a:solidFill>
                <a:latin typeface="Yu Gothic" panose="020B0400000000000000" pitchFamily="50" charset="-128"/>
                <a:ea typeface="Yu Gothic" panose="020B0400000000000000" pitchFamily="50" charset="-128"/>
              </a:rPr>
              <a:t>ViT</a:t>
            </a:r>
            <a:endParaRPr kumimoji="1" lang="ja-JP" altLang="en-US" sz="1700" b="1">
              <a:solidFill>
                <a:srgbClr val="2F6690"/>
              </a:solidFill>
              <a:latin typeface="Yu Gothic" panose="020B0400000000000000" pitchFamily="50" charset="-128"/>
              <a:ea typeface="Yu Gothic" panose="020B0400000000000000" pitchFamily="50" charset="-128"/>
            </a:endParaRPr>
          </a:p>
        </p:txBody>
      </p:sp>
      <p:sp>
        <p:nvSpPr>
          <p:cNvPr id="15" name="テキスト ボックス 14">
            <a:extLst>
              <a:ext uri="{FF2B5EF4-FFF2-40B4-BE49-F238E27FC236}">
                <a16:creationId xmlns:a16="http://schemas.microsoft.com/office/drawing/2014/main" id="{92C48A87-EFA7-18BF-232E-7F3C18BA3C77}"/>
              </a:ext>
            </a:extLst>
          </p:cNvPr>
          <p:cNvSpPr txBox="1"/>
          <p:nvPr/>
        </p:nvSpPr>
        <p:spPr>
          <a:xfrm>
            <a:off x="4978400" y="4610100"/>
            <a:ext cx="5461000" cy="276999"/>
          </a:xfrm>
          <a:prstGeom prst="rect">
            <a:avLst/>
          </a:prstGeom>
          <a:noFill/>
        </p:spPr>
        <p:txBody>
          <a:bodyPr vert="horz" wrap="square" lIns="0" tIns="0" rIns="0" bIns="0" rtlCol="0" anchor="t">
            <a:noAutofit/>
          </a:bodyPr>
          <a:lstStyle/>
          <a:p>
            <a:r>
              <a:rPr kumimoji="1" lang="en-US" altLang="ja-JP" sz="1400">
                <a:solidFill>
                  <a:srgbClr val="242424"/>
                </a:solidFill>
                <a:latin typeface="Yu Gothic" panose="020B0400000000000000" pitchFamily="50" charset="-128"/>
                <a:ea typeface="Yu Gothic" panose="020B0400000000000000" pitchFamily="50" charset="-128"/>
              </a:rPr>
              <a:t>Self-Attention</a:t>
            </a:r>
            <a:r>
              <a:rPr kumimoji="1" lang="ja-JP" altLang="en-US" sz="1400">
                <a:solidFill>
                  <a:srgbClr val="242424"/>
                </a:solidFill>
                <a:latin typeface="Yu Gothic" panose="020B0400000000000000" pitchFamily="50" charset="-128"/>
                <a:ea typeface="Yu Gothic" panose="020B0400000000000000" pitchFamily="50" charset="-128"/>
              </a:rPr>
              <a:t>で広域的な関係を扱う</a:t>
            </a:r>
          </a:p>
        </p:txBody>
      </p:sp>
      <p:sp>
        <p:nvSpPr>
          <p:cNvPr id="16" name="テキスト ボックス 15">
            <a:extLst>
              <a:ext uri="{FF2B5EF4-FFF2-40B4-BE49-F238E27FC236}">
                <a16:creationId xmlns:a16="http://schemas.microsoft.com/office/drawing/2014/main" id="{5B262368-B8BA-7458-D08C-DFFF23B789C6}"/>
              </a:ext>
            </a:extLst>
          </p:cNvPr>
          <p:cNvSpPr txBox="1"/>
          <p:nvPr/>
        </p:nvSpPr>
        <p:spPr>
          <a:xfrm>
            <a:off x="1968500" y="5753100"/>
            <a:ext cx="8255000" cy="276999"/>
          </a:xfrm>
          <a:prstGeom prst="rect">
            <a:avLst/>
          </a:prstGeom>
          <a:noFill/>
        </p:spPr>
        <p:txBody>
          <a:bodyPr vert="horz" wrap="square" lIns="0" tIns="0" rIns="0" bIns="0" rtlCol="0" anchor="t">
            <a:noAutofit/>
          </a:bodyPr>
          <a:lstStyle/>
          <a:p>
            <a:pPr algn="ctr"/>
            <a:r>
              <a:rPr kumimoji="1" lang="ja-JP" altLang="en-US" sz="1600" b="1">
                <a:solidFill>
                  <a:srgbClr val="C0392B"/>
                </a:solidFill>
                <a:latin typeface="Yu Gothic" panose="020B0400000000000000" pitchFamily="50" charset="-128"/>
                <a:ea typeface="Yu Gothic" panose="020B0400000000000000" pitchFamily="50" charset="-128"/>
              </a:rPr>
              <a:t>ただし、モデル比較より先に評価単位を揃える必要がある</a:t>
            </a:r>
          </a:p>
        </p:txBody>
      </p:sp>
      <p:sp>
        <p:nvSpPr>
          <p:cNvPr id="17" name="テキスト ボックス 16">
            <a:extLst>
              <a:ext uri="{FF2B5EF4-FFF2-40B4-BE49-F238E27FC236}">
                <a16:creationId xmlns:a16="http://schemas.microsoft.com/office/drawing/2014/main" id="{1ECFC891-9EA5-1B3F-832D-96482332EEE7}"/>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Debette &amp; Markus, BMJ, 2010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8" name="テキスト ボックス 17">
            <a:extLst>
              <a:ext uri="{FF2B5EF4-FFF2-40B4-BE49-F238E27FC236}">
                <a16:creationId xmlns:a16="http://schemas.microsoft.com/office/drawing/2014/main" id="{84AEA629-CBDB-EC10-7FF1-E349648B267C}"/>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9" name="テキスト ボックス 18">
            <a:extLst>
              <a:ext uri="{FF2B5EF4-FFF2-40B4-BE49-F238E27FC236}">
                <a16:creationId xmlns:a16="http://schemas.microsoft.com/office/drawing/2014/main" id="{56927FF4-8610-9ABE-5C32-664B203A2471}"/>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2</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1389615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029A2D5-1DCC-6179-6F36-F30BB33F08C3}"/>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RESEARCH JOURNEY</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87222CD2-0C10-0A20-B001-40705FD55129}"/>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これまでの活動：再現から評価設計の見直しへ</a:t>
            </a:r>
          </a:p>
        </p:txBody>
      </p:sp>
      <p:cxnSp>
        <p:nvCxnSpPr>
          <p:cNvPr id="4" name="直線コネクタ 3">
            <a:extLst>
              <a:ext uri="{FF2B5EF4-FFF2-40B4-BE49-F238E27FC236}">
                <a16:creationId xmlns:a16="http://schemas.microsoft.com/office/drawing/2014/main" id="{477F6002-A862-A1AD-111C-5777CB076020}"/>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073E8B25-FE12-740A-DD34-32F5F5AFA6A9}"/>
              </a:ext>
            </a:extLst>
          </p:cNvPr>
          <p:cNvSpPr/>
          <p:nvPr/>
        </p:nvSpPr>
        <p:spPr>
          <a:xfrm>
            <a:off x="635000" y="1587500"/>
            <a:ext cx="2603500" cy="1397000"/>
          </a:xfrm>
          <a:prstGeom prst="roundRect">
            <a:avLst/>
          </a:prstGeom>
          <a:solidFill>
            <a:srgbClr val="F2F2F2"/>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7184649A-E438-8988-B74D-FA4B63BCF07B}"/>
              </a:ext>
            </a:extLst>
          </p:cNvPr>
          <p:cNvSpPr/>
          <p:nvPr/>
        </p:nvSpPr>
        <p:spPr>
          <a:xfrm>
            <a:off x="812800" y="1765300"/>
            <a:ext cx="381000" cy="381000"/>
          </a:xfrm>
          <a:prstGeom prst="ellipse">
            <a:avLst/>
          </a:prstGeom>
          <a:solidFill>
            <a:srgbClr val="2F669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C3915F81-5AA8-C694-3A7B-34BF9A147692}"/>
              </a:ext>
            </a:extLst>
          </p:cNvPr>
          <p:cNvSpPr txBox="1"/>
          <p:nvPr/>
        </p:nvSpPr>
        <p:spPr>
          <a:xfrm>
            <a:off x="812800" y="1816100"/>
            <a:ext cx="381000" cy="276999"/>
          </a:xfrm>
          <a:prstGeom prst="rect">
            <a:avLst/>
          </a:prstGeom>
          <a:noFill/>
        </p:spPr>
        <p:txBody>
          <a:bodyPr vert="horz" wrap="square" lIns="0" tIns="0" rIns="0" bIns="0" rtlCol="0" anchor="t">
            <a:noAutofit/>
          </a:bodyPr>
          <a:lstStyle/>
          <a:p>
            <a:pPr algn="ctr"/>
            <a:r>
              <a:rPr kumimoji="1" lang="en-US" altLang="ja-JP" sz="1200" b="1">
                <a:solidFill>
                  <a:srgbClr val="FFFFFF"/>
                </a:solidFill>
                <a:latin typeface="Yu Gothic" panose="020B0400000000000000" pitchFamily="50" charset="-128"/>
                <a:ea typeface="Yu Gothic" panose="020B0400000000000000" pitchFamily="50" charset="-128"/>
              </a:rPr>
              <a:t>1</a:t>
            </a:r>
            <a:endParaRPr kumimoji="1" lang="ja-JP" altLang="en-US" sz="1200" b="1">
              <a:solidFill>
                <a:srgbClr val="FFFFFF"/>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F4BE4318-0866-1582-65F7-CF5E05565CCB}"/>
              </a:ext>
            </a:extLst>
          </p:cNvPr>
          <p:cNvSpPr txBox="1"/>
          <p:nvPr/>
        </p:nvSpPr>
        <p:spPr>
          <a:xfrm>
            <a:off x="1320800" y="1765300"/>
            <a:ext cx="1739900" cy="276999"/>
          </a:xfrm>
          <a:prstGeom prst="rect">
            <a:avLst/>
          </a:prstGeom>
          <a:noFill/>
        </p:spPr>
        <p:txBody>
          <a:bodyPr vert="horz" wrap="square" lIns="0" tIns="0" rIns="0" bIns="0" rtlCol="0" anchor="t">
            <a:noAutofit/>
          </a:bodyPr>
          <a:lstStyle/>
          <a:p>
            <a:r>
              <a:rPr kumimoji="1" lang="ja-JP" altLang="en-US" sz="1600" b="1">
                <a:solidFill>
                  <a:srgbClr val="1F3C59"/>
                </a:solidFill>
                <a:latin typeface="Yu Gothic" panose="020B0400000000000000" pitchFamily="50" charset="-128"/>
                <a:ea typeface="Yu Gothic" panose="020B0400000000000000" pitchFamily="50" charset="-128"/>
              </a:rPr>
              <a:t>先行研究を再現</a:t>
            </a:r>
          </a:p>
        </p:txBody>
      </p:sp>
      <p:sp>
        <p:nvSpPr>
          <p:cNvPr id="9" name="テキスト ボックス 8">
            <a:extLst>
              <a:ext uri="{FF2B5EF4-FFF2-40B4-BE49-F238E27FC236}">
                <a16:creationId xmlns:a16="http://schemas.microsoft.com/office/drawing/2014/main" id="{674EBC5B-7D98-AA93-4A5E-8735784EB2C6}"/>
              </a:ext>
            </a:extLst>
          </p:cNvPr>
          <p:cNvSpPr txBox="1"/>
          <p:nvPr/>
        </p:nvSpPr>
        <p:spPr>
          <a:xfrm>
            <a:off x="838200" y="2247900"/>
            <a:ext cx="2197100" cy="276999"/>
          </a:xfrm>
          <a:prstGeom prst="rect">
            <a:avLst/>
          </a:prstGeom>
          <a:noFill/>
        </p:spPr>
        <p:txBody>
          <a:bodyPr vert="horz" wrap="square" lIns="0" tIns="0" rIns="0" bIns="0" rtlCol="0" anchor="t">
            <a:noAutofit/>
          </a:bodyPr>
          <a:lstStyle/>
          <a:p>
            <a:r>
              <a:rPr kumimoji="1" lang="en-US" altLang="ja-JP" sz="1200">
                <a:solidFill>
                  <a:srgbClr val="242424"/>
                </a:solidFill>
                <a:latin typeface="Yu Gothic" panose="020B0400000000000000" pitchFamily="50" charset="-128"/>
                <a:ea typeface="Yu Gothic" panose="020B0400000000000000" pitchFamily="50" charset="-128"/>
              </a:rPr>
              <a:t>CNN</a:t>
            </a:r>
            <a:r>
              <a:rPr kumimoji="1" lang="ja-JP" altLang="en-US" sz="1200">
                <a:solidFill>
                  <a:srgbClr val="242424"/>
                </a:solidFill>
                <a:latin typeface="Yu Gothic" panose="020B0400000000000000" pitchFamily="50" charset="-128"/>
                <a:ea typeface="Yu Gothic" panose="020B0400000000000000" pitchFamily="50" charset="-128"/>
              </a:rPr>
              <a:t>・</a:t>
            </a:r>
            <a:r>
              <a:rPr kumimoji="1" lang="en-US" altLang="ja-JP" sz="1200">
                <a:solidFill>
                  <a:srgbClr val="242424"/>
                </a:solidFill>
                <a:latin typeface="Yu Gothic" panose="020B0400000000000000" pitchFamily="50" charset="-128"/>
                <a:ea typeface="Yu Gothic" panose="020B0400000000000000" pitchFamily="50" charset="-128"/>
              </a:rPr>
              <a:t>FLAIR</a:t>
            </a:r>
            <a:r>
              <a:rPr kumimoji="1" lang="ja-JP" altLang="en-US" sz="1200">
                <a:solidFill>
                  <a:srgbClr val="242424"/>
                </a:solidFill>
                <a:latin typeface="Yu Gothic" panose="020B0400000000000000" pitchFamily="50" charset="-128"/>
                <a:ea typeface="Yu Gothic" panose="020B0400000000000000" pitchFamily="50" charset="-128"/>
              </a:rPr>
              <a:t>＋</a:t>
            </a:r>
            <a:r>
              <a:rPr kumimoji="1" lang="en-US" altLang="ja-JP" sz="1200">
                <a:solidFill>
                  <a:srgbClr val="242424"/>
                </a:solidFill>
                <a:latin typeface="Yu Gothic" panose="020B0400000000000000" pitchFamily="50" charset="-128"/>
                <a:ea typeface="Yu Gothic" panose="020B0400000000000000" pitchFamily="50" charset="-128"/>
              </a:rPr>
              <a:t>T1</a:t>
            </a:r>
            <a:r>
              <a:rPr kumimoji="1" lang="ja-JP" altLang="en-US" sz="1200">
                <a:solidFill>
                  <a:srgbClr val="242424"/>
                </a:solidFill>
                <a:latin typeface="Yu Gothic" panose="020B0400000000000000" pitchFamily="50" charset="-128"/>
                <a:ea typeface="Yu Gothic" panose="020B0400000000000000" pitchFamily="50" charset="-128"/>
              </a:rPr>
              <a:t>・</a:t>
            </a:r>
            <a:r>
              <a:rPr kumimoji="1" lang="en-US" altLang="ja-JP" sz="1200">
                <a:solidFill>
                  <a:srgbClr val="242424"/>
                </a:solidFill>
                <a:latin typeface="Yu Gothic" panose="020B0400000000000000" pitchFamily="50" charset="-128"/>
                <a:ea typeface="Yu Gothic" panose="020B0400000000000000" pitchFamily="50" charset="-128"/>
              </a:rPr>
              <a:t>axial 9–15
</a:t>
            </a:r>
            <a:r>
              <a:rPr kumimoji="1" lang="ja-JP" altLang="en-US" sz="1200">
                <a:solidFill>
                  <a:srgbClr val="242424"/>
                </a:solidFill>
                <a:latin typeface="Yu Gothic" panose="020B0400000000000000" pitchFamily="50" charset="-128"/>
                <a:ea typeface="Yu Gothic" panose="020B0400000000000000" pitchFamily="50" charset="-128"/>
              </a:rPr>
              <a:t>画像単位 </a:t>
            </a:r>
            <a:r>
              <a:rPr kumimoji="1" lang="en-US" altLang="ja-JP" sz="1200">
                <a:solidFill>
                  <a:srgbClr val="242424"/>
                </a:solidFill>
                <a:latin typeface="Yu Gothic" panose="020B0400000000000000" pitchFamily="50" charset="-128"/>
                <a:ea typeface="Yu Gothic" panose="020B0400000000000000" pitchFamily="50" charset="-128"/>
              </a:rPr>
              <a:t>accuracy 0.9209</a:t>
            </a:r>
            <a:r>
              <a:rPr kumimoji="1" lang="ja-JP" altLang="en-US" sz="1200">
                <a:solidFill>
                  <a:srgbClr val="242424"/>
                </a:solidFill>
                <a:latin typeface="Yu Gothic" panose="020B0400000000000000" pitchFamily="50" charset="-128"/>
                <a:ea typeface="Yu Gothic" panose="020B0400000000000000" pitchFamily="50" charset="-128"/>
              </a:rPr>
              <a:t>を参照</a:t>
            </a:r>
          </a:p>
        </p:txBody>
      </p:sp>
      <p:sp>
        <p:nvSpPr>
          <p:cNvPr id="10" name="テキスト ボックス 9">
            <a:extLst>
              <a:ext uri="{FF2B5EF4-FFF2-40B4-BE49-F238E27FC236}">
                <a16:creationId xmlns:a16="http://schemas.microsoft.com/office/drawing/2014/main" id="{D4F770F1-9498-0AD1-B9F2-72FD2933F438}"/>
              </a:ext>
            </a:extLst>
          </p:cNvPr>
          <p:cNvSpPr txBox="1"/>
          <p:nvPr/>
        </p:nvSpPr>
        <p:spPr>
          <a:xfrm>
            <a:off x="3302000" y="2057400"/>
            <a:ext cx="444500" cy="276999"/>
          </a:xfrm>
          <a:prstGeom prst="rect">
            <a:avLst/>
          </a:prstGeom>
          <a:noFill/>
        </p:spPr>
        <p:txBody>
          <a:bodyPr vert="horz" wrap="square" lIns="0" tIns="0" rIns="0" bIns="0" rtlCol="0" anchor="t">
            <a:noAutofit/>
          </a:bodyPr>
          <a:lstStyle/>
          <a:p>
            <a:pPr algn="ctr"/>
            <a:r>
              <a:rPr kumimoji="1" lang="ja-JP" altLang="en-US" sz="2200" b="1">
                <a:solidFill>
                  <a:srgbClr val="2F6690"/>
                </a:solidFill>
                <a:latin typeface="Yu Gothic" panose="020B0400000000000000" pitchFamily="50" charset="-128"/>
                <a:ea typeface="Yu Gothic" panose="020B0400000000000000" pitchFamily="50" charset="-128"/>
              </a:rPr>
              <a:t>→</a:t>
            </a:r>
          </a:p>
        </p:txBody>
      </p:sp>
      <p:sp>
        <p:nvSpPr>
          <p:cNvPr id="11" name="四角形: 角を丸くする 10">
            <a:extLst>
              <a:ext uri="{FF2B5EF4-FFF2-40B4-BE49-F238E27FC236}">
                <a16:creationId xmlns:a16="http://schemas.microsoft.com/office/drawing/2014/main" id="{C8B22BCB-5738-A22E-35D5-ACCFE43CAAF8}"/>
              </a:ext>
            </a:extLst>
          </p:cNvPr>
          <p:cNvSpPr/>
          <p:nvPr/>
        </p:nvSpPr>
        <p:spPr>
          <a:xfrm>
            <a:off x="3810000" y="1587500"/>
            <a:ext cx="2603500" cy="1397000"/>
          </a:xfrm>
          <a:prstGeom prst="roundRect">
            <a:avLst/>
          </a:prstGeom>
          <a:solidFill>
            <a:srgbClr val="FCEBE9"/>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2B70FBF3-BC9A-F866-1AC1-058AAE35BF3C}"/>
              </a:ext>
            </a:extLst>
          </p:cNvPr>
          <p:cNvSpPr/>
          <p:nvPr/>
        </p:nvSpPr>
        <p:spPr>
          <a:xfrm>
            <a:off x="3987800" y="1765300"/>
            <a:ext cx="381000" cy="381000"/>
          </a:xfrm>
          <a:prstGeom prst="ellipse">
            <a:avLst/>
          </a:prstGeom>
          <a:solidFill>
            <a:srgbClr val="2F669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B43C17A-1243-8510-1900-3DA9D6B96A3F}"/>
              </a:ext>
            </a:extLst>
          </p:cNvPr>
          <p:cNvSpPr txBox="1"/>
          <p:nvPr/>
        </p:nvSpPr>
        <p:spPr>
          <a:xfrm>
            <a:off x="3987800" y="1816100"/>
            <a:ext cx="381000" cy="276999"/>
          </a:xfrm>
          <a:prstGeom prst="rect">
            <a:avLst/>
          </a:prstGeom>
          <a:noFill/>
        </p:spPr>
        <p:txBody>
          <a:bodyPr vert="horz" wrap="square" lIns="0" tIns="0" rIns="0" bIns="0" rtlCol="0" anchor="t">
            <a:noAutofit/>
          </a:bodyPr>
          <a:lstStyle/>
          <a:p>
            <a:pPr algn="ctr"/>
            <a:r>
              <a:rPr kumimoji="1" lang="en-US" altLang="ja-JP" sz="1200" b="1">
                <a:solidFill>
                  <a:srgbClr val="FFFFFF"/>
                </a:solidFill>
                <a:latin typeface="Yu Gothic" panose="020B0400000000000000" pitchFamily="50" charset="-128"/>
                <a:ea typeface="Yu Gothic" panose="020B0400000000000000" pitchFamily="50" charset="-128"/>
              </a:rPr>
              <a:t>2</a:t>
            </a:r>
            <a:endParaRPr kumimoji="1" lang="ja-JP" altLang="en-US" sz="1200" b="1">
              <a:solidFill>
                <a:srgbClr val="FFFFFF"/>
              </a:solidFill>
              <a:latin typeface="Yu Gothic" panose="020B0400000000000000" pitchFamily="50" charset="-128"/>
              <a:ea typeface="Yu Gothic" panose="020B0400000000000000" pitchFamily="50" charset="-128"/>
            </a:endParaRPr>
          </a:p>
        </p:txBody>
      </p:sp>
      <p:sp>
        <p:nvSpPr>
          <p:cNvPr id="14" name="テキスト ボックス 13">
            <a:extLst>
              <a:ext uri="{FF2B5EF4-FFF2-40B4-BE49-F238E27FC236}">
                <a16:creationId xmlns:a16="http://schemas.microsoft.com/office/drawing/2014/main" id="{5A6EBE05-04B5-3B3D-69F5-F332506C503C}"/>
              </a:ext>
            </a:extLst>
          </p:cNvPr>
          <p:cNvSpPr txBox="1"/>
          <p:nvPr/>
        </p:nvSpPr>
        <p:spPr>
          <a:xfrm>
            <a:off x="4495800" y="1765300"/>
            <a:ext cx="1739900" cy="276999"/>
          </a:xfrm>
          <a:prstGeom prst="rect">
            <a:avLst/>
          </a:prstGeom>
          <a:noFill/>
        </p:spPr>
        <p:txBody>
          <a:bodyPr vert="horz" wrap="square" lIns="0" tIns="0" rIns="0" bIns="0" rtlCol="0" anchor="t">
            <a:noAutofit/>
          </a:bodyPr>
          <a:lstStyle/>
          <a:p>
            <a:r>
              <a:rPr kumimoji="1" lang="ja-JP" altLang="en-US" sz="1600" b="1">
                <a:solidFill>
                  <a:srgbClr val="1F3C59"/>
                </a:solidFill>
                <a:latin typeface="Yu Gothic" panose="020B0400000000000000" pitchFamily="50" charset="-128"/>
                <a:ea typeface="Yu Gothic" panose="020B0400000000000000" pitchFamily="50" charset="-128"/>
              </a:rPr>
              <a:t>分割を監査</a:t>
            </a:r>
          </a:p>
        </p:txBody>
      </p:sp>
      <p:sp>
        <p:nvSpPr>
          <p:cNvPr id="15" name="テキスト ボックス 14">
            <a:extLst>
              <a:ext uri="{FF2B5EF4-FFF2-40B4-BE49-F238E27FC236}">
                <a16:creationId xmlns:a16="http://schemas.microsoft.com/office/drawing/2014/main" id="{53285FDB-B1D3-FAC7-A0F8-0247B8DDD993}"/>
              </a:ext>
            </a:extLst>
          </p:cNvPr>
          <p:cNvSpPr txBox="1"/>
          <p:nvPr/>
        </p:nvSpPr>
        <p:spPr>
          <a:xfrm>
            <a:off x="4013200" y="2247900"/>
            <a:ext cx="2197100" cy="276999"/>
          </a:xfrm>
          <a:prstGeom prst="rect">
            <a:avLst/>
          </a:prstGeom>
          <a:noFill/>
        </p:spPr>
        <p:txBody>
          <a:bodyPr vert="horz" wrap="square" lIns="0" tIns="0" rIns="0" bIns="0" rtlCol="0" anchor="t">
            <a:noAutofit/>
          </a:bodyPr>
          <a:lstStyle/>
          <a:p>
            <a:r>
              <a:rPr kumimoji="1" lang="ja-JP" altLang="en-US" sz="1200">
                <a:solidFill>
                  <a:srgbClr val="242424"/>
                </a:solidFill>
                <a:latin typeface="Yu Gothic" panose="020B0400000000000000" pitchFamily="50" charset="-128"/>
                <a:ea typeface="Yu Gothic" panose="020B0400000000000000" pitchFamily="50" charset="-128"/>
              </a:rPr>
              <a:t>同一患者の別スライスが
学習・評価に混在し得ると確認</a:t>
            </a:r>
          </a:p>
        </p:txBody>
      </p:sp>
      <p:sp>
        <p:nvSpPr>
          <p:cNvPr id="16" name="テキスト ボックス 15">
            <a:extLst>
              <a:ext uri="{FF2B5EF4-FFF2-40B4-BE49-F238E27FC236}">
                <a16:creationId xmlns:a16="http://schemas.microsoft.com/office/drawing/2014/main" id="{C4219CAE-A616-8B73-C17F-DD3CE86B8EEA}"/>
              </a:ext>
            </a:extLst>
          </p:cNvPr>
          <p:cNvSpPr txBox="1"/>
          <p:nvPr/>
        </p:nvSpPr>
        <p:spPr>
          <a:xfrm>
            <a:off x="6477000" y="2057400"/>
            <a:ext cx="444500" cy="276999"/>
          </a:xfrm>
          <a:prstGeom prst="rect">
            <a:avLst/>
          </a:prstGeom>
          <a:noFill/>
        </p:spPr>
        <p:txBody>
          <a:bodyPr vert="horz" wrap="square" lIns="0" tIns="0" rIns="0" bIns="0" rtlCol="0" anchor="t">
            <a:noAutofit/>
          </a:bodyPr>
          <a:lstStyle/>
          <a:p>
            <a:pPr algn="ctr"/>
            <a:r>
              <a:rPr kumimoji="1" lang="ja-JP" altLang="en-US" sz="2200" b="1">
                <a:solidFill>
                  <a:srgbClr val="2F6690"/>
                </a:solidFill>
                <a:latin typeface="Yu Gothic" panose="020B0400000000000000" pitchFamily="50" charset="-128"/>
                <a:ea typeface="Yu Gothic" panose="020B0400000000000000" pitchFamily="50" charset="-128"/>
              </a:rPr>
              <a:t>→</a:t>
            </a:r>
          </a:p>
        </p:txBody>
      </p:sp>
      <p:sp>
        <p:nvSpPr>
          <p:cNvPr id="17" name="四角形: 角を丸くする 16">
            <a:extLst>
              <a:ext uri="{FF2B5EF4-FFF2-40B4-BE49-F238E27FC236}">
                <a16:creationId xmlns:a16="http://schemas.microsoft.com/office/drawing/2014/main" id="{309250DE-B926-F993-D00A-2C36B1A8DFE7}"/>
              </a:ext>
            </a:extLst>
          </p:cNvPr>
          <p:cNvSpPr/>
          <p:nvPr/>
        </p:nvSpPr>
        <p:spPr>
          <a:xfrm>
            <a:off x="6985000" y="1587500"/>
            <a:ext cx="2222500" cy="1397000"/>
          </a:xfrm>
          <a:prstGeom prst="roundRect">
            <a:avLst/>
          </a:prstGeom>
          <a:solidFill>
            <a:srgbClr val="EFF5FA"/>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6B7E0680-9CCD-2421-1B36-BA8D24DF84AA}"/>
              </a:ext>
            </a:extLst>
          </p:cNvPr>
          <p:cNvSpPr/>
          <p:nvPr/>
        </p:nvSpPr>
        <p:spPr>
          <a:xfrm>
            <a:off x="7162800" y="1765300"/>
            <a:ext cx="381000" cy="381000"/>
          </a:xfrm>
          <a:prstGeom prst="ellipse">
            <a:avLst/>
          </a:prstGeom>
          <a:solidFill>
            <a:srgbClr val="2F669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68FC489A-2AF2-0B6B-EFED-3C4BC0337113}"/>
              </a:ext>
            </a:extLst>
          </p:cNvPr>
          <p:cNvSpPr txBox="1"/>
          <p:nvPr/>
        </p:nvSpPr>
        <p:spPr>
          <a:xfrm>
            <a:off x="7162800" y="1816100"/>
            <a:ext cx="381000" cy="276999"/>
          </a:xfrm>
          <a:prstGeom prst="rect">
            <a:avLst/>
          </a:prstGeom>
          <a:noFill/>
        </p:spPr>
        <p:txBody>
          <a:bodyPr vert="horz" wrap="square" lIns="0" tIns="0" rIns="0" bIns="0" rtlCol="0" anchor="t">
            <a:noAutofit/>
          </a:bodyPr>
          <a:lstStyle/>
          <a:p>
            <a:pPr algn="ctr"/>
            <a:r>
              <a:rPr kumimoji="1" lang="en-US" altLang="ja-JP" sz="1200" b="1">
                <a:solidFill>
                  <a:srgbClr val="FFFFFF"/>
                </a:solidFill>
                <a:latin typeface="Yu Gothic" panose="020B0400000000000000" pitchFamily="50" charset="-128"/>
                <a:ea typeface="Yu Gothic" panose="020B0400000000000000" pitchFamily="50" charset="-128"/>
              </a:rPr>
              <a:t>3</a:t>
            </a:r>
            <a:endParaRPr kumimoji="1" lang="ja-JP" altLang="en-US" sz="1200" b="1">
              <a:solidFill>
                <a:srgbClr val="FFFFFF"/>
              </a:solidFill>
              <a:latin typeface="Yu Gothic" panose="020B0400000000000000" pitchFamily="50" charset="-128"/>
              <a:ea typeface="Yu Gothic" panose="020B0400000000000000" pitchFamily="50" charset="-128"/>
            </a:endParaRPr>
          </a:p>
        </p:txBody>
      </p:sp>
      <p:sp>
        <p:nvSpPr>
          <p:cNvPr id="20" name="テキスト ボックス 19">
            <a:extLst>
              <a:ext uri="{FF2B5EF4-FFF2-40B4-BE49-F238E27FC236}">
                <a16:creationId xmlns:a16="http://schemas.microsoft.com/office/drawing/2014/main" id="{D5B15CE8-0BED-EFD1-494D-2BC650C35960}"/>
              </a:ext>
            </a:extLst>
          </p:cNvPr>
          <p:cNvSpPr txBox="1"/>
          <p:nvPr/>
        </p:nvSpPr>
        <p:spPr>
          <a:xfrm>
            <a:off x="7670800" y="1765300"/>
            <a:ext cx="1358900" cy="276999"/>
          </a:xfrm>
          <a:prstGeom prst="rect">
            <a:avLst/>
          </a:prstGeom>
          <a:noFill/>
        </p:spPr>
        <p:txBody>
          <a:bodyPr vert="horz" wrap="square" lIns="0" tIns="0" rIns="0" bIns="0" rtlCol="0" anchor="t">
            <a:noAutofit/>
          </a:bodyPr>
          <a:lstStyle/>
          <a:p>
            <a:r>
              <a:rPr kumimoji="1" lang="ja-JP" altLang="en-US" sz="1600" b="1">
                <a:solidFill>
                  <a:srgbClr val="1F3C59"/>
                </a:solidFill>
                <a:latin typeface="Yu Gothic" panose="020B0400000000000000" pitchFamily="50" charset="-128"/>
                <a:ea typeface="Yu Gothic" panose="020B0400000000000000" pitchFamily="50" charset="-128"/>
              </a:rPr>
              <a:t>課題を再定義</a:t>
            </a:r>
          </a:p>
        </p:txBody>
      </p:sp>
      <p:sp>
        <p:nvSpPr>
          <p:cNvPr id="21" name="テキスト ボックス 20">
            <a:extLst>
              <a:ext uri="{FF2B5EF4-FFF2-40B4-BE49-F238E27FC236}">
                <a16:creationId xmlns:a16="http://schemas.microsoft.com/office/drawing/2014/main" id="{9736E40A-DB25-2415-74C7-B303DB81644D}"/>
              </a:ext>
            </a:extLst>
          </p:cNvPr>
          <p:cNvSpPr txBox="1"/>
          <p:nvPr/>
        </p:nvSpPr>
        <p:spPr>
          <a:xfrm>
            <a:off x="7188200" y="2247900"/>
            <a:ext cx="1816100" cy="276999"/>
          </a:xfrm>
          <a:prstGeom prst="rect">
            <a:avLst/>
          </a:prstGeom>
          <a:noFill/>
        </p:spPr>
        <p:txBody>
          <a:bodyPr vert="horz" wrap="square" lIns="0" tIns="0" rIns="0" bIns="0" rtlCol="0" anchor="t">
            <a:noAutofit/>
          </a:bodyPr>
          <a:lstStyle/>
          <a:p>
            <a:r>
              <a:rPr kumimoji="1" lang="ja-JP" altLang="en-US" sz="1200">
                <a:solidFill>
                  <a:srgbClr val="242424"/>
                </a:solidFill>
                <a:latin typeface="Yu Gothic" panose="020B0400000000000000" pitchFamily="50" charset="-128"/>
                <a:ea typeface="Yu Gothic" panose="020B0400000000000000" pitchFamily="50" charset="-128"/>
              </a:rPr>
              <a:t>患者単位</a:t>
            </a:r>
            <a:r>
              <a:rPr kumimoji="1" lang="en-US" altLang="ja-JP" sz="1200">
                <a:solidFill>
                  <a:srgbClr val="242424"/>
                </a:solidFill>
                <a:latin typeface="Yu Gothic" panose="020B0400000000000000" pitchFamily="50" charset="-128"/>
                <a:ea typeface="Yu Gothic" panose="020B0400000000000000" pitchFamily="50" charset="-128"/>
              </a:rPr>
              <a:t>split</a:t>
            </a:r>
            <a:r>
              <a:rPr kumimoji="1" lang="ja-JP" altLang="en-US" sz="1200">
                <a:solidFill>
                  <a:srgbClr val="242424"/>
                </a:solidFill>
                <a:latin typeface="Yu Gothic" panose="020B0400000000000000" pitchFamily="50" charset="-128"/>
                <a:ea typeface="Yu Gothic" panose="020B0400000000000000" pitchFamily="50" charset="-128"/>
              </a:rPr>
              <a:t>・</a:t>
            </a:r>
            <a:r>
              <a:rPr kumimoji="1" lang="en-US" altLang="ja-JP" sz="1200">
                <a:solidFill>
                  <a:srgbClr val="242424"/>
                </a:solidFill>
                <a:latin typeface="Yu Gothic" panose="020B0400000000000000" pitchFamily="50" charset="-128"/>
                <a:ea typeface="Yu Gothic" panose="020B0400000000000000" pitchFamily="50" charset="-128"/>
              </a:rPr>
              <a:t>3</a:t>
            </a:r>
            <a:r>
              <a:rPr kumimoji="1" lang="ja-JP" altLang="en-US" sz="1200">
                <a:solidFill>
                  <a:srgbClr val="242424"/>
                </a:solidFill>
                <a:latin typeface="Yu Gothic" panose="020B0400000000000000" pitchFamily="50" charset="-128"/>
                <a:ea typeface="Yu Gothic" panose="020B0400000000000000" pitchFamily="50" charset="-128"/>
              </a:rPr>
              <a:t>クラス化
全アキシャルを利用</a:t>
            </a:r>
          </a:p>
        </p:txBody>
      </p:sp>
      <p:sp>
        <p:nvSpPr>
          <p:cNvPr id="22" name="テキスト ボックス 21">
            <a:extLst>
              <a:ext uri="{FF2B5EF4-FFF2-40B4-BE49-F238E27FC236}">
                <a16:creationId xmlns:a16="http://schemas.microsoft.com/office/drawing/2014/main" id="{835D7D96-C4BB-0480-62CA-1C7FBAC8E932}"/>
              </a:ext>
            </a:extLst>
          </p:cNvPr>
          <p:cNvSpPr txBox="1"/>
          <p:nvPr/>
        </p:nvSpPr>
        <p:spPr>
          <a:xfrm>
            <a:off x="9271000" y="2057400"/>
            <a:ext cx="444500" cy="276999"/>
          </a:xfrm>
          <a:prstGeom prst="rect">
            <a:avLst/>
          </a:prstGeom>
          <a:noFill/>
        </p:spPr>
        <p:txBody>
          <a:bodyPr vert="horz" wrap="square" lIns="0" tIns="0" rIns="0" bIns="0" rtlCol="0" anchor="t">
            <a:noAutofit/>
          </a:bodyPr>
          <a:lstStyle/>
          <a:p>
            <a:pPr algn="ctr"/>
            <a:r>
              <a:rPr kumimoji="1" lang="ja-JP" altLang="en-US" sz="2200" b="1">
                <a:solidFill>
                  <a:srgbClr val="2F6690"/>
                </a:solidFill>
                <a:latin typeface="Yu Gothic" panose="020B0400000000000000" pitchFamily="50" charset="-128"/>
                <a:ea typeface="Yu Gothic" panose="020B0400000000000000" pitchFamily="50" charset="-128"/>
              </a:rPr>
              <a:t>→</a:t>
            </a:r>
          </a:p>
        </p:txBody>
      </p:sp>
      <p:sp>
        <p:nvSpPr>
          <p:cNvPr id="23" name="四角形: 角を丸くする 22">
            <a:extLst>
              <a:ext uri="{FF2B5EF4-FFF2-40B4-BE49-F238E27FC236}">
                <a16:creationId xmlns:a16="http://schemas.microsoft.com/office/drawing/2014/main" id="{28383DEB-FB4B-C642-F252-9EE79CDD9CF2}"/>
              </a:ext>
            </a:extLst>
          </p:cNvPr>
          <p:cNvSpPr/>
          <p:nvPr/>
        </p:nvSpPr>
        <p:spPr>
          <a:xfrm>
            <a:off x="9779000" y="1587500"/>
            <a:ext cx="1841500" cy="1397000"/>
          </a:xfrm>
          <a:prstGeom prst="roundRect">
            <a:avLst/>
          </a:prstGeom>
          <a:solidFill>
            <a:srgbClr val="E8F5E9"/>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BCEB47EC-C684-B445-A433-EA14BD7BC341}"/>
              </a:ext>
            </a:extLst>
          </p:cNvPr>
          <p:cNvSpPr/>
          <p:nvPr/>
        </p:nvSpPr>
        <p:spPr>
          <a:xfrm>
            <a:off x="9956800" y="1765300"/>
            <a:ext cx="381000" cy="381000"/>
          </a:xfrm>
          <a:prstGeom prst="ellipse">
            <a:avLst/>
          </a:prstGeom>
          <a:solidFill>
            <a:srgbClr val="2F669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DDEAE8A-344E-0CD3-72CD-AB3E135284B7}"/>
              </a:ext>
            </a:extLst>
          </p:cNvPr>
          <p:cNvSpPr txBox="1"/>
          <p:nvPr/>
        </p:nvSpPr>
        <p:spPr>
          <a:xfrm>
            <a:off x="9956800" y="1816100"/>
            <a:ext cx="381000" cy="276999"/>
          </a:xfrm>
          <a:prstGeom prst="rect">
            <a:avLst/>
          </a:prstGeom>
          <a:noFill/>
        </p:spPr>
        <p:txBody>
          <a:bodyPr vert="horz" wrap="square" lIns="0" tIns="0" rIns="0" bIns="0" rtlCol="0" anchor="t">
            <a:noAutofit/>
          </a:bodyPr>
          <a:lstStyle/>
          <a:p>
            <a:pPr algn="ctr"/>
            <a:r>
              <a:rPr kumimoji="1" lang="en-US" altLang="ja-JP" sz="1200" b="1">
                <a:solidFill>
                  <a:srgbClr val="FFFFFF"/>
                </a:solidFill>
                <a:latin typeface="Yu Gothic" panose="020B0400000000000000" pitchFamily="50" charset="-128"/>
                <a:ea typeface="Yu Gothic" panose="020B0400000000000000" pitchFamily="50" charset="-128"/>
              </a:rPr>
              <a:t>4</a:t>
            </a:r>
            <a:endParaRPr kumimoji="1" lang="ja-JP" altLang="en-US" sz="1200" b="1">
              <a:solidFill>
                <a:srgbClr val="FFFFFF"/>
              </a:solidFill>
              <a:latin typeface="Yu Gothic" panose="020B0400000000000000" pitchFamily="50" charset="-128"/>
              <a:ea typeface="Yu Gothic" panose="020B0400000000000000" pitchFamily="50" charset="-128"/>
            </a:endParaRPr>
          </a:p>
        </p:txBody>
      </p:sp>
      <p:sp>
        <p:nvSpPr>
          <p:cNvPr id="26" name="テキスト ボックス 25">
            <a:extLst>
              <a:ext uri="{FF2B5EF4-FFF2-40B4-BE49-F238E27FC236}">
                <a16:creationId xmlns:a16="http://schemas.microsoft.com/office/drawing/2014/main" id="{1B9F4866-1E9F-D233-69B3-CC2491CD30AC}"/>
              </a:ext>
            </a:extLst>
          </p:cNvPr>
          <p:cNvSpPr txBox="1"/>
          <p:nvPr/>
        </p:nvSpPr>
        <p:spPr>
          <a:xfrm>
            <a:off x="10464800" y="1765300"/>
            <a:ext cx="977900" cy="276999"/>
          </a:xfrm>
          <a:prstGeom prst="rect">
            <a:avLst/>
          </a:prstGeom>
          <a:noFill/>
        </p:spPr>
        <p:txBody>
          <a:bodyPr vert="horz" wrap="square" lIns="0" tIns="0" rIns="0" bIns="0" rtlCol="0" anchor="t">
            <a:noAutofit/>
          </a:bodyPr>
          <a:lstStyle/>
          <a:p>
            <a:r>
              <a:rPr kumimoji="1" lang="ja-JP" altLang="en-US" sz="1600" b="1">
                <a:solidFill>
                  <a:srgbClr val="1F3C59"/>
                </a:solidFill>
                <a:latin typeface="Yu Gothic" panose="020B0400000000000000" pitchFamily="50" charset="-128"/>
                <a:ea typeface="Yu Gothic" panose="020B0400000000000000" pitchFamily="50" charset="-128"/>
              </a:rPr>
              <a:t>最終比較</a:t>
            </a:r>
          </a:p>
        </p:txBody>
      </p:sp>
      <p:sp>
        <p:nvSpPr>
          <p:cNvPr id="27" name="テキスト ボックス 26">
            <a:extLst>
              <a:ext uri="{FF2B5EF4-FFF2-40B4-BE49-F238E27FC236}">
                <a16:creationId xmlns:a16="http://schemas.microsoft.com/office/drawing/2014/main" id="{79274C5D-903E-63AF-9831-8AB5FE9808AC}"/>
              </a:ext>
            </a:extLst>
          </p:cNvPr>
          <p:cNvSpPr txBox="1"/>
          <p:nvPr/>
        </p:nvSpPr>
        <p:spPr>
          <a:xfrm>
            <a:off x="9982200" y="2247900"/>
            <a:ext cx="1435100" cy="276999"/>
          </a:xfrm>
          <a:prstGeom prst="rect">
            <a:avLst/>
          </a:prstGeom>
          <a:noFill/>
        </p:spPr>
        <p:txBody>
          <a:bodyPr vert="horz" wrap="square" lIns="0" tIns="0" rIns="0" bIns="0" rtlCol="0" anchor="t">
            <a:noAutofit/>
          </a:bodyPr>
          <a:lstStyle/>
          <a:p>
            <a:r>
              <a:rPr kumimoji="1" lang="ja-JP" altLang="en-US" sz="1200">
                <a:solidFill>
                  <a:srgbClr val="242424"/>
                </a:solidFill>
                <a:latin typeface="Yu Gothic" panose="020B0400000000000000" pitchFamily="50" charset="-128"/>
                <a:ea typeface="Yu Gothic" panose="020B0400000000000000" pitchFamily="50" charset="-128"/>
              </a:rPr>
              <a:t>同一</a:t>
            </a:r>
            <a:r>
              <a:rPr kumimoji="1" lang="en-US" altLang="ja-JP" sz="1200">
                <a:solidFill>
                  <a:srgbClr val="242424"/>
                </a:solidFill>
                <a:latin typeface="Yu Gothic" panose="020B0400000000000000" pitchFamily="50" charset="-128"/>
                <a:ea typeface="Yu Gothic" panose="020B0400000000000000" pitchFamily="50" charset="-128"/>
              </a:rPr>
              <a:t>5-fold</a:t>
            </a:r>
            <a:r>
              <a:rPr kumimoji="1" lang="ja-JP" altLang="en-US" sz="1200">
                <a:solidFill>
                  <a:srgbClr val="242424"/>
                </a:solidFill>
                <a:latin typeface="Yu Gothic" panose="020B0400000000000000" pitchFamily="50" charset="-128"/>
                <a:ea typeface="Yu Gothic" panose="020B0400000000000000" pitchFamily="50" charset="-128"/>
              </a:rPr>
              <a:t>・同一条件で
</a:t>
            </a:r>
            <a:r>
              <a:rPr kumimoji="1" lang="en-US" altLang="ja-JP" sz="1200">
                <a:solidFill>
                  <a:srgbClr val="242424"/>
                </a:solidFill>
                <a:latin typeface="Yu Gothic" panose="020B0400000000000000" pitchFamily="50" charset="-128"/>
                <a:ea typeface="Yu Gothic" panose="020B0400000000000000" pitchFamily="50" charset="-128"/>
              </a:rPr>
              <a:t>ViT</a:t>
            </a:r>
            <a:r>
              <a:rPr kumimoji="1" lang="ja-JP" altLang="en-US" sz="1200">
                <a:solidFill>
                  <a:srgbClr val="242424"/>
                </a:solidFill>
                <a:latin typeface="Yu Gothic" panose="020B0400000000000000" pitchFamily="50" charset="-128"/>
                <a:ea typeface="Yu Gothic" panose="020B0400000000000000" pitchFamily="50" charset="-128"/>
              </a:rPr>
              <a:t>と</a:t>
            </a:r>
            <a:r>
              <a:rPr kumimoji="1" lang="en-US" altLang="ja-JP" sz="1200">
                <a:solidFill>
                  <a:srgbClr val="242424"/>
                </a:solidFill>
                <a:latin typeface="Yu Gothic" panose="020B0400000000000000" pitchFamily="50" charset="-128"/>
                <a:ea typeface="Yu Gothic" panose="020B0400000000000000" pitchFamily="50" charset="-128"/>
              </a:rPr>
              <a:t>CNN</a:t>
            </a:r>
            <a:r>
              <a:rPr kumimoji="1" lang="ja-JP" altLang="en-US" sz="1200">
                <a:solidFill>
                  <a:srgbClr val="242424"/>
                </a:solidFill>
                <a:latin typeface="Yu Gothic" panose="020B0400000000000000" pitchFamily="50" charset="-128"/>
                <a:ea typeface="Yu Gothic" panose="020B0400000000000000" pitchFamily="50" charset="-128"/>
              </a:rPr>
              <a:t>を</a:t>
            </a:r>
            <a:r>
              <a:rPr kumimoji="1" lang="en-US" altLang="ja-JP" sz="1200">
                <a:solidFill>
                  <a:srgbClr val="242424"/>
                </a:solidFill>
                <a:latin typeface="Yu Gothic" panose="020B0400000000000000" pitchFamily="50" charset="-128"/>
                <a:ea typeface="Yu Gothic" panose="020B0400000000000000" pitchFamily="50" charset="-128"/>
              </a:rPr>
              <a:t>OOF</a:t>
            </a:r>
            <a:r>
              <a:rPr kumimoji="1" lang="ja-JP" altLang="en-US" sz="1200">
                <a:solidFill>
                  <a:srgbClr val="242424"/>
                </a:solidFill>
                <a:latin typeface="Yu Gothic" panose="020B0400000000000000" pitchFamily="50" charset="-128"/>
                <a:ea typeface="Yu Gothic" panose="020B0400000000000000" pitchFamily="50" charset="-128"/>
              </a:rPr>
              <a:t>評価</a:t>
            </a:r>
          </a:p>
        </p:txBody>
      </p:sp>
      <p:sp>
        <p:nvSpPr>
          <p:cNvPr id="28" name="四角形: 角を丸くする 27">
            <a:extLst>
              <a:ext uri="{FF2B5EF4-FFF2-40B4-BE49-F238E27FC236}">
                <a16:creationId xmlns:a16="http://schemas.microsoft.com/office/drawing/2014/main" id="{E80E1881-3A3C-987A-01B7-5316CC8F707F}"/>
              </a:ext>
            </a:extLst>
          </p:cNvPr>
          <p:cNvSpPr/>
          <p:nvPr/>
        </p:nvSpPr>
        <p:spPr>
          <a:xfrm>
            <a:off x="1206500" y="3810000"/>
            <a:ext cx="9779000" cy="1333500"/>
          </a:xfrm>
          <a:prstGeom prst="roundRect">
            <a:avLst/>
          </a:prstGeom>
          <a:solidFill>
            <a:srgbClr val="FFFFFF"/>
          </a:solidFill>
          <a:ln w="12700">
            <a:solidFill>
              <a:srgbClr val="C039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532EA82-25C2-EA93-B2AE-0DAEF4E4276B}"/>
              </a:ext>
            </a:extLst>
          </p:cNvPr>
          <p:cNvSpPr txBox="1"/>
          <p:nvPr/>
        </p:nvSpPr>
        <p:spPr>
          <a:xfrm>
            <a:off x="1524000" y="4064000"/>
            <a:ext cx="1778000" cy="276999"/>
          </a:xfrm>
          <a:prstGeom prst="rect">
            <a:avLst/>
          </a:prstGeom>
          <a:noFill/>
        </p:spPr>
        <p:txBody>
          <a:bodyPr vert="horz" wrap="square" lIns="0" tIns="0" rIns="0" bIns="0" rtlCol="0" anchor="t">
            <a:noAutofit/>
          </a:bodyPr>
          <a:lstStyle/>
          <a:p>
            <a:r>
              <a:rPr kumimoji="1" lang="ja-JP" altLang="en-US" b="1">
                <a:solidFill>
                  <a:srgbClr val="C0392B"/>
                </a:solidFill>
                <a:latin typeface="Yu Gothic" panose="020B0400000000000000" pitchFamily="50" charset="-128"/>
                <a:ea typeface="Yu Gothic" panose="020B0400000000000000" pitchFamily="50" charset="-128"/>
              </a:rPr>
              <a:t>重要な転換</a:t>
            </a:r>
          </a:p>
        </p:txBody>
      </p:sp>
      <p:sp>
        <p:nvSpPr>
          <p:cNvPr id="30" name="テキスト ボックス 29">
            <a:extLst>
              <a:ext uri="{FF2B5EF4-FFF2-40B4-BE49-F238E27FC236}">
                <a16:creationId xmlns:a16="http://schemas.microsoft.com/office/drawing/2014/main" id="{47ED2C61-54EA-3F72-3107-5C85B27AE3F4}"/>
              </a:ext>
            </a:extLst>
          </p:cNvPr>
          <p:cNvSpPr txBox="1"/>
          <p:nvPr/>
        </p:nvSpPr>
        <p:spPr>
          <a:xfrm>
            <a:off x="1524000" y="4533900"/>
            <a:ext cx="8890000" cy="276999"/>
          </a:xfrm>
          <a:prstGeom prst="rect">
            <a:avLst/>
          </a:prstGeom>
          <a:noFill/>
        </p:spPr>
        <p:txBody>
          <a:bodyPr vert="horz" wrap="square" lIns="0" tIns="0" rIns="0" bIns="0" rtlCol="0" anchor="t">
            <a:noAutofit/>
          </a:bodyPr>
          <a:lstStyle/>
          <a:p>
            <a:r>
              <a:rPr kumimoji="1" lang="en-US" altLang="ja-JP" sz="1700" b="1">
                <a:solidFill>
                  <a:srgbClr val="242424"/>
                </a:solidFill>
                <a:latin typeface="Yu Gothic" panose="020B0400000000000000" pitchFamily="50" charset="-128"/>
                <a:ea typeface="Yu Gothic" panose="020B0400000000000000" pitchFamily="50" charset="-128"/>
              </a:rPr>
              <a:t>0.9209</a:t>
            </a:r>
            <a:r>
              <a:rPr kumimoji="1" lang="ja-JP" altLang="en-US" sz="1700" b="1">
                <a:solidFill>
                  <a:srgbClr val="242424"/>
                </a:solidFill>
                <a:latin typeface="Yu Gothic" panose="020B0400000000000000" pitchFamily="50" charset="-128"/>
                <a:ea typeface="Yu Gothic" panose="020B0400000000000000" pitchFamily="50" charset="-128"/>
              </a:rPr>
              <a:t>は画像単位の参考値。患者単位</a:t>
            </a:r>
            <a:r>
              <a:rPr kumimoji="1" lang="en-US" altLang="ja-JP" sz="1700" b="1">
                <a:solidFill>
                  <a:srgbClr val="242424"/>
                </a:solidFill>
                <a:latin typeface="Yu Gothic" panose="020B0400000000000000" pitchFamily="50" charset="-128"/>
                <a:ea typeface="Yu Gothic" panose="020B0400000000000000" pitchFamily="50" charset="-128"/>
              </a:rPr>
              <a:t>OOF</a:t>
            </a:r>
            <a:r>
              <a:rPr kumimoji="1" lang="ja-JP" altLang="en-US" sz="1700" b="1">
                <a:solidFill>
                  <a:srgbClr val="242424"/>
                </a:solidFill>
                <a:latin typeface="Yu Gothic" panose="020B0400000000000000" pitchFamily="50" charset="-128"/>
                <a:ea typeface="Yu Gothic" panose="020B0400000000000000" pitchFamily="50" charset="-128"/>
              </a:rPr>
              <a:t>の結果とは直接比較しない。</a:t>
            </a:r>
          </a:p>
        </p:txBody>
      </p:sp>
      <p:sp>
        <p:nvSpPr>
          <p:cNvPr id="31" name="テキスト ボックス 30">
            <a:extLst>
              <a:ext uri="{FF2B5EF4-FFF2-40B4-BE49-F238E27FC236}">
                <a16:creationId xmlns:a16="http://schemas.microsoft.com/office/drawing/2014/main" id="{91694847-5681-0BAA-7AF2-23357BEDDAF3}"/>
              </a:ext>
            </a:extLst>
          </p:cNvPr>
          <p:cNvSpPr txBox="1"/>
          <p:nvPr/>
        </p:nvSpPr>
        <p:spPr>
          <a:xfrm>
            <a:off x="1524000" y="5588000"/>
            <a:ext cx="9144000" cy="276999"/>
          </a:xfrm>
          <a:prstGeom prst="rect">
            <a:avLst/>
          </a:prstGeom>
          <a:noFill/>
        </p:spPr>
        <p:txBody>
          <a:bodyPr vert="horz" wrap="square" lIns="0" tIns="0" rIns="0" bIns="0" rtlCol="0" anchor="t">
            <a:noAutofit/>
          </a:bodyPr>
          <a:lstStyle/>
          <a:p>
            <a:pPr algn="ctr"/>
            <a:r>
              <a:rPr kumimoji="1" lang="ja-JP" altLang="en-US" sz="1600" b="1">
                <a:solidFill>
                  <a:srgbClr val="2F6690"/>
                </a:solidFill>
                <a:latin typeface="Yu Gothic" panose="020B0400000000000000" pitchFamily="50" charset="-128"/>
                <a:ea typeface="Yu Gothic" panose="020B0400000000000000" pitchFamily="50" charset="-128"/>
              </a:rPr>
              <a:t>過去発表の</a:t>
            </a:r>
            <a:r>
              <a:rPr kumimoji="1" lang="en-US" altLang="ja-JP" sz="1600" b="1">
                <a:solidFill>
                  <a:srgbClr val="2F6690"/>
                </a:solidFill>
                <a:latin typeface="Yu Gothic" panose="020B0400000000000000" pitchFamily="50" charset="-128"/>
                <a:ea typeface="Yu Gothic" panose="020B0400000000000000" pitchFamily="50" charset="-128"/>
              </a:rPr>
              <a:t>『</a:t>
            </a:r>
            <a:r>
              <a:rPr kumimoji="1" lang="ja-JP" altLang="en-US" sz="1600" b="1">
                <a:solidFill>
                  <a:srgbClr val="2F6690"/>
                </a:solidFill>
                <a:latin typeface="Yu Gothic" panose="020B0400000000000000" pitchFamily="50" charset="-128"/>
                <a:ea typeface="Yu Gothic" panose="020B0400000000000000" pitchFamily="50" charset="-128"/>
              </a:rPr>
              <a:t>全断面＋</a:t>
            </a:r>
            <a:r>
              <a:rPr kumimoji="1" lang="en-US" altLang="ja-JP" sz="1600" b="1">
                <a:solidFill>
                  <a:srgbClr val="2F6690"/>
                </a:solidFill>
                <a:latin typeface="Yu Gothic" panose="020B0400000000000000" pitchFamily="50" charset="-128"/>
                <a:ea typeface="Yu Gothic" panose="020B0400000000000000" pitchFamily="50" charset="-128"/>
              </a:rPr>
              <a:t>ViT』</a:t>
            </a:r>
            <a:r>
              <a:rPr kumimoji="1" lang="ja-JP" altLang="en-US" sz="1600" b="1">
                <a:solidFill>
                  <a:srgbClr val="2F6690"/>
                </a:solidFill>
                <a:latin typeface="Yu Gothic" panose="020B0400000000000000" pitchFamily="50" charset="-128"/>
                <a:ea typeface="Yu Gothic" panose="020B0400000000000000" pitchFamily="50" charset="-128"/>
              </a:rPr>
              <a:t>という方向性を、臨床利用に近い評価設計で検証した</a:t>
            </a:r>
          </a:p>
        </p:txBody>
      </p:sp>
      <p:sp>
        <p:nvSpPr>
          <p:cNvPr id="32" name="テキスト ボックス 31">
            <a:extLst>
              <a:ext uri="{FF2B5EF4-FFF2-40B4-BE49-F238E27FC236}">
                <a16:creationId xmlns:a16="http://schemas.microsoft.com/office/drawing/2014/main" id="{72C2C27F-A8DF-86A5-10E1-EE3D245D1D59}"/>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ja-JP" altLang="en-US" sz="800">
                <a:solidFill>
                  <a:srgbClr val="666666"/>
                </a:solidFill>
                <a:latin typeface="Yu Gothic" panose="020B0400000000000000" pitchFamily="50" charset="-128"/>
                <a:ea typeface="Yu Gothic" panose="020B0400000000000000" pitchFamily="50" charset="-128"/>
              </a:rPr>
              <a:t>先行研究および本研究の実験記録に基づく</a:t>
            </a:r>
          </a:p>
        </p:txBody>
      </p:sp>
      <p:sp>
        <p:nvSpPr>
          <p:cNvPr id="33" name="テキスト ボックス 32">
            <a:extLst>
              <a:ext uri="{FF2B5EF4-FFF2-40B4-BE49-F238E27FC236}">
                <a16:creationId xmlns:a16="http://schemas.microsoft.com/office/drawing/2014/main" id="{98563D38-B7C0-200F-37B5-BC9164AB5967}"/>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1:30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34" name="テキスト ボックス 33">
            <a:extLst>
              <a:ext uri="{FF2B5EF4-FFF2-40B4-BE49-F238E27FC236}">
                <a16:creationId xmlns:a16="http://schemas.microsoft.com/office/drawing/2014/main" id="{5BDC80DA-868B-ADF3-80CE-8FC92C5D175E}"/>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3</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2948289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1923E9-CEAD-8CB8-FE20-4EDBB4E5DD38}"/>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OBJECTIVE</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83AC4C97-8E75-1BED-C537-09DA45E4A89A}"/>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研究目的</a:t>
            </a:r>
          </a:p>
        </p:txBody>
      </p:sp>
      <p:cxnSp>
        <p:nvCxnSpPr>
          <p:cNvPr id="4" name="直線コネクタ 3">
            <a:extLst>
              <a:ext uri="{FF2B5EF4-FFF2-40B4-BE49-F238E27FC236}">
                <a16:creationId xmlns:a16="http://schemas.microsoft.com/office/drawing/2014/main" id="{0B995FA9-3697-3467-92F0-BDAF1603C160}"/>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E8A50E7C-5776-A0B7-9412-5C8BCA9831D5}"/>
              </a:ext>
            </a:extLst>
          </p:cNvPr>
          <p:cNvSpPr txBox="1"/>
          <p:nvPr/>
        </p:nvSpPr>
        <p:spPr>
          <a:xfrm>
            <a:off x="1270000" y="1587500"/>
            <a:ext cx="9652000" cy="276999"/>
          </a:xfrm>
          <a:prstGeom prst="rect">
            <a:avLst/>
          </a:prstGeom>
          <a:noFill/>
        </p:spPr>
        <p:txBody>
          <a:bodyPr vert="horz" wrap="square" lIns="0" tIns="0" rIns="0" bIns="0" rtlCol="0" anchor="t">
            <a:noAutofit/>
          </a:bodyPr>
          <a:lstStyle/>
          <a:p>
            <a:pPr algn="ctr"/>
            <a:r>
              <a:rPr kumimoji="1" lang="ja-JP" altLang="en-US" sz="2600" b="1">
                <a:solidFill>
                  <a:srgbClr val="1F3C59"/>
                </a:solidFill>
                <a:latin typeface="Yu Gothic" panose="020B0400000000000000" pitchFamily="50" charset="-128"/>
                <a:ea typeface="Yu Gothic" panose="020B0400000000000000" pitchFamily="50" charset="-128"/>
              </a:rPr>
              <a:t>患者重複のない条件で、</a:t>
            </a:r>
            <a:r>
              <a:rPr kumimoji="1" lang="en-US" altLang="ja-JP" sz="2600" b="1">
                <a:solidFill>
                  <a:srgbClr val="1F3C59"/>
                </a:solidFill>
                <a:latin typeface="Yu Gothic" panose="020B0400000000000000" pitchFamily="50" charset="-128"/>
                <a:ea typeface="Yu Gothic" panose="020B0400000000000000" pitchFamily="50" charset="-128"/>
              </a:rPr>
              <a:t>ViT</a:t>
            </a:r>
            <a:r>
              <a:rPr kumimoji="1" lang="ja-JP" altLang="en-US" sz="2600" b="1">
                <a:solidFill>
                  <a:srgbClr val="1F3C59"/>
                </a:solidFill>
                <a:latin typeface="Yu Gothic" panose="020B0400000000000000" pitchFamily="50" charset="-128"/>
                <a:ea typeface="Yu Gothic" panose="020B0400000000000000" pitchFamily="50" charset="-128"/>
              </a:rPr>
              <a:t>は</a:t>
            </a:r>
            <a:r>
              <a:rPr kumimoji="1" lang="en-US" altLang="ja-JP" sz="2600" b="1">
                <a:solidFill>
                  <a:srgbClr val="1F3C59"/>
                </a:solidFill>
                <a:latin typeface="Yu Gothic" panose="020B0400000000000000" pitchFamily="50" charset="-128"/>
                <a:ea typeface="Yu Gothic" panose="020B0400000000000000" pitchFamily="50" charset="-128"/>
              </a:rPr>
              <a:t>CNN</a:t>
            </a:r>
            <a:r>
              <a:rPr kumimoji="1" lang="ja-JP" altLang="en-US" sz="2600" b="1">
                <a:solidFill>
                  <a:srgbClr val="1F3C59"/>
                </a:solidFill>
                <a:latin typeface="Yu Gothic" panose="020B0400000000000000" pitchFamily="50" charset="-128"/>
                <a:ea typeface="Yu Gothic" panose="020B0400000000000000" pitchFamily="50" charset="-128"/>
              </a:rPr>
              <a:t>より有効か？</a:t>
            </a:r>
          </a:p>
        </p:txBody>
      </p:sp>
      <p:sp>
        <p:nvSpPr>
          <p:cNvPr id="6" name="四角形: 角を丸くする 5">
            <a:extLst>
              <a:ext uri="{FF2B5EF4-FFF2-40B4-BE49-F238E27FC236}">
                <a16:creationId xmlns:a16="http://schemas.microsoft.com/office/drawing/2014/main" id="{A3C9B25C-7180-1AC8-17E9-28DCAAC1526E}"/>
              </a:ext>
            </a:extLst>
          </p:cNvPr>
          <p:cNvSpPr/>
          <p:nvPr/>
        </p:nvSpPr>
        <p:spPr>
          <a:xfrm>
            <a:off x="1143000" y="2667000"/>
            <a:ext cx="3111500" cy="1968500"/>
          </a:xfrm>
          <a:prstGeom prst="roundRect">
            <a:avLst/>
          </a:prstGeom>
          <a:solidFill>
            <a:srgbClr val="EFF5FA"/>
          </a:solidFill>
          <a:ln w="12700">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B871221-8430-D888-45BB-B9C96B651C5C}"/>
              </a:ext>
            </a:extLst>
          </p:cNvPr>
          <p:cNvSpPr txBox="1"/>
          <p:nvPr/>
        </p:nvSpPr>
        <p:spPr>
          <a:xfrm>
            <a:off x="1460500" y="2921000"/>
            <a:ext cx="24765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RQ1</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F0E2A85C-F71C-A204-E6FB-F609F406B8DB}"/>
              </a:ext>
            </a:extLst>
          </p:cNvPr>
          <p:cNvSpPr txBox="1"/>
          <p:nvPr/>
        </p:nvSpPr>
        <p:spPr>
          <a:xfrm>
            <a:off x="1460500" y="3467100"/>
            <a:ext cx="2476500" cy="276999"/>
          </a:xfrm>
          <a:prstGeom prst="rect">
            <a:avLst/>
          </a:prstGeom>
          <a:noFill/>
        </p:spPr>
        <p:txBody>
          <a:bodyPr vert="horz" wrap="square" lIns="0" tIns="0" rIns="0" bIns="0" rtlCol="0" anchor="t">
            <a:noAutofit/>
          </a:bodyPr>
          <a:lstStyle/>
          <a:p>
            <a:pPr algn="ctr"/>
            <a:r>
              <a:rPr kumimoji="1" lang="ja-JP" altLang="en-US" sz="2100" b="1">
                <a:solidFill>
                  <a:srgbClr val="242424"/>
                </a:solidFill>
                <a:latin typeface="Yu Gothic" panose="020B0400000000000000" pitchFamily="50" charset="-128"/>
                <a:ea typeface="Yu Gothic" panose="020B0400000000000000" pitchFamily="50" charset="-128"/>
              </a:rPr>
              <a:t>患者単位の
分類性能</a:t>
            </a:r>
          </a:p>
        </p:txBody>
      </p:sp>
      <p:sp>
        <p:nvSpPr>
          <p:cNvPr id="9" name="四角形: 角を丸くする 8">
            <a:extLst>
              <a:ext uri="{FF2B5EF4-FFF2-40B4-BE49-F238E27FC236}">
                <a16:creationId xmlns:a16="http://schemas.microsoft.com/office/drawing/2014/main" id="{BB1BFAE6-9A05-B944-D40C-7A2A91C281FA}"/>
              </a:ext>
            </a:extLst>
          </p:cNvPr>
          <p:cNvSpPr/>
          <p:nvPr/>
        </p:nvSpPr>
        <p:spPr>
          <a:xfrm>
            <a:off x="4533900" y="2667000"/>
            <a:ext cx="3111500" cy="1968500"/>
          </a:xfrm>
          <a:prstGeom prst="roundRect">
            <a:avLst/>
          </a:prstGeom>
          <a:solidFill>
            <a:srgbClr val="EFF5FA"/>
          </a:solidFill>
          <a:ln w="12700">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504CBF03-63F4-3681-93D9-BA9C044ADAA6}"/>
              </a:ext>
            </a:extLst>
          </p:cNvPr>
          <p:cNvSpPr txBox="1"/>
          <p:nvPr/>
        </p:nvSpPr>
        <p:spPr>
          <a:xfrm>
            <a:off x="4851400" y="2921000"/>
            <a:ext cx="24765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RQ2</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1" name="テキスト ボックス 10">
            <a:extLst>
              <a:ext uri="{FF2B5EF4-FFF2-40B4-BE49-F238E27FC236}">
                <a16:creationId xmlns:a16="http://schemas.microsoft.com/office/drawing/2014/main" id="{0C350E9D-E958-FCD0-F545-62C531D01F64}"/>
              </a:ext>
            </a:extLst>
          </p:cNvPr>
          <p:cNvSpPr txBox="1"/>
          <p:nvPr/>
        </p:nvSpPr>
        <p:spPr>
          <a:xfrm>
            <a:off x="4851400" y="3467100"/>
            <a:ext cx="2476500" cy="276999"/>
          </a:xfrm>
          <a:prstGeom prst="rect">
            <a:avLst/>
          </a:prstGeom>
          <a:noFill/>
        </p:spPr>
        <p:txBody>
          <a:bodyPr vert="horz" wrap="square" lIns="0" tIns="0" rIns="0" bIns="0" rtlCol="0" anchor="t">
            <a:noAutofit/>
          </a:bodyPr>
          <a:lstStyle/>
          <a:p>
            <a:pPr algn="ctr"/>
            <a:r>
              <a:rPr kumimoji="1" lang="ja-JP" altLang="en-US" sz="2100" b="1">
                <a:solidFill>
                  <a:srgbClr val="242424"/>
                </a:solidFill>
                <a:latin typeface="Yu Gothic" panose="020B0400000000000000" pitchFamily="50" charset="-128"/>
                <a:ea typeface="Yu Gothic" panose="020B0400000000000000" pitchFamily="50" charset="-128"/>
              </a:rPr>
              <a:t>クラス別の
識別傾向</a:t>
            </a:r>
          </a:p>
        </p:txBody>
      </p:sp>
      <p:sp>
        <p:nvSpPr>
          <p:cNvPr id="12" name="四角形: 角を丸くする 11">
            <a:extLst>
              <a:ext uri="{FF2B5EF4-FFF2-40B4-BE49-F238E27FC236}">
                <a16:creationId xmlns:a16="http://schemas.microsoft.com/office/drawing/2014/main" id="{F841FE73-4E2D-11F1-209E-54E63FEC4996}"/>
              </a:ext>
            </a:extLst>
          </p:cNvPr>
          <p:cNvSpPr/>
          <p:nvPr/>
        </p:nvSpPr>
        <p:spPr>
          <a:xfrm>
            <a:off x="7937500" y="2667000"/>
            <a:ext cx="3111500" cy="1968500"/>
          </a:xfrm>
          <a:prstGeom prst="roundRect">
            <a:avLst/>
          </a:prstGeom>
          <a:solidFill>
            <a:srgbClr val="EFF5FA"/>
          </a:solidFill>
          <a:ln w="12700">
            <a:solidFill>
              <a:srgbClr val="DEEB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DF50EA7-BC87-C827-C314-DD8FEB28842C}"/>
              </a:ext>
            </a:extLst>
          </p:cNvPr>
          <p:cNvSpPr txBox="1"/>
          <p:nvPr/>
        </p:nvSpPr>
        <p:spPr>
          <a:xfrm>
            <a:off x="8255000" y="2921000"/>
            <a:ext cx="24765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RQ3</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4" name="テキスト ボックス 13">
            <a:extLst>
              <a:ext uri="{FF2B5EF4-FFF2-40B4-BE49-F238E27FC236}">
                <a16:creationId xmlns:a16="http://schemas.microsoft.com/office/drawing/2014/main" id="{34BA5BF6-DCB3-A7CA-4001-AF60CF7EACEF}"/>
              </a:ext>
            </a:extLst>
          </p:cNvPr>
          <p:cNvSpPr txBox="1"/>
          <p:nvPr/>
        </p:nvSpPr>
        <p:spPr>
          <a:xfrm>
            <a:off x="8255000" y="3467100"/>
            <a:ext cx="2476500" cy="276999"/>
          </a:xfrm>
          <a:prstGeom prst="rect">
            <a:avLst/>
          </a:prstGeom>
          <a:noFill/>
        </p:spPr>
        <p:txBody>
          <a:bodyPr vert="horz" wrap="square" lIns="0" tIns="0" rIns="0" bIns="0" rtlCol="0" anchor="t">
            <a:noAutofit/>
          </a:bodyPr>
          <a:lstStyle/>
          <a:p>
            <a:pPr algn="ctr"/>
            <a:r>
              <a:rPr kumimoji="1" lang="ja-JP" altLang="en-US" sz="2100" b="1">
                <a:solidFill>
                  <a:srgbClr val="242424"/>
                </a:solidFill>
                <a:latin typeface="Yu Gothic" panose="020B0400000000000000" pitchFamily="50" charset="-128"/>
                <a:ea typeface="Yu Gothic" panose="020B0400000000000000" pitchFamily="50" charset="-128"/>
              </a:rPr>
              <a:t>改善量の
不確実性</a:t>
            </a:r>
          </a:p>
        </p:txBody>
      </p:sp>
      <p:sp>
        <p:nvSpPr>
          <p:cNvPr id="15" name="テキスト ボックス 14">
            <a:extLst>
              <a:ext uri="{FF2B5EF4-FFF2-40B4-BE49-F238E27FC236}">
                <a16:creationId xmlns:a16="http://schemas.microsoft.com/office/drawing/2014/main" id="{8FB1DF3A-3C53-03AC-46F4-A50D38D00B27}"/>
              </a:ext>
            </a:extLst>
          </p:cNvPr>
          <p:cNvSpPr txBox="1"/>
          <p:nvPr/>
        </p:nvSpPr>
        <p:spPr>
          <a:xfrm>
            <a:off x="1270000" y="5295900"/>
            <a:ext cx="9652000" cy="276999"/>
          </a:xfrm>
          <a:prstGeom prst="rect">
            <a:avLst/>
          </a:prstGeom>
          <a:noFill/>
        </p:spPr>
        <p:txBody>
          <a:bodyPr vert="horz" wrap="square" lIns="0" tIns="0" rIns="0" bIns="0" rtlCol="0" anchor="t">
            <a:noAutofit/>
          </a:bodyPr>
          <a:lstStyle/>
          <a:p>
            <a:pPr algn="ctr"/>
            <a:r>
              <a:rPr kumimoji="1" lang="ja-JP" altLang="en-US" sz="1500">
                <a:solidFill>
                  <a:srgbClr val="666666"/>
                </a:solidFill>
                <a:latin typeface="Yu Gothic" panose="020B0400000000000000" pitchFamily="50" charset="-128"/>
                <a:ea typeface="Yu Gothic" panose="020B0400000000000000" pitchFamily="50" charset="-128"/>
              </a:rPr>
              <a:t>評価指標：</a:t>
            </a:r>
            <a:r>
              <a:rPr kumimoji="1" lang="en-US" altLang="ja-JP" sz="1500">
                <a:solidFill>
                  <a:srgbClr val="666666"/>
                </a:solidFill>
                <a:latin typeface="Yu Gothic" panose="020B0400000000000000" pitchFamily="50" charset="-128"/>
                <a:ea typeface="Yu Gothic" panose="020B0400000000000000" pitchFamily="50" charset="-128"/>
              </a:rPr>
              <a:t>Accuracy / macro-F1 / macro ROC-AUC / Balanced Accuracy / </a:t>
            </a:r>
            <a:r>
              <a:rPr kumimoji="1" lang="ja-JP" altLang="en-US" sz="1500">
                <a:solidFill>
                  <a:srgbClr val="666666"/>
                </a:solidFill>
                <a:latin typeface="Yu Gothic" panose="020B0400000000000000" pitchFamily="50" charset="-128"/>
                <a:ea typeface="Yu Gothic" panose="020B0400000000000000" pitchFamily="50" charset="-128"/>
              </a:rPr>
              <a:t>クラス別</a:t>
            </a:r>
            <a:r>
              <a:rPr kumimoji="1" lang="en-US" altLang="ja-JP" sz="1500">
                <a:solidFill>
                  <a:srgbClr val="666666"/>
                </a:solidFill>
                <a:latin typeface="Yu Gothic" panose="020B0400000000000000" pitchFamily="50" charset="-128"/>
                <a:ea typeface="Yu Gothic" panose="020B0400000000000000" pitchFamily="50" charset="-128"/>
              </a:rPr>
              <a:t>Recall</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95240893-8B72-9FDE-6E28-A3B96BF37064}"/>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0:50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DA867611-28D8-9B47-FD91-C2C9696797D4}"/>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4</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3054909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3365986-68C2-D17B-7F5B-C6FE87E1772E}"/>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DATA</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0622F113-2CB3-7204-11A9-9CBEEEAB25E6}"/>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対象データと分類課題</a:t>
            </a:r>
          </a:p>
        </p:txBody>
      </p:sp>
      <p:cxnSp>
        <p:nvCxnSpPr>
          <p:cNvPr id="4" name="直線コネクタ 3">
            <a:extLst>
              <a:ext uri="{FF2B5EF4-FFF2-40B4-BE49-F238E27FC236}">
                <a16:creationId xmlns:a16="http://schemas.microsoft.com/office/drawing/2014/main" id="{0D4DA042-70AD-85A4-6A9C-4D26619A6B82}"/>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42F3E0D0-ACEC-C9E1-4382-1C1967A71152}"/>
              </a:ext>
            </a:extLst>
          </p:cNvPr>
          <p:cNvSpPr/>
          <p:nvPr/>
        </p:nvSpPr>
        <p:spPr>
          <a:xfrm>
            <a:off x="762000" y="15494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22BE92C1-5A2F-77BF-C09A-3EC6EA2B11C0}"/>
              </a:ext>
            </a:extLst>
          </p:cNvPr>
          <p:cNvSpPr txBox="1"/>
          <p:nvPr/>
        </p:nvSpPr>
        <p:spPr>
          <a:xfrm>
            <a:off x="939800" y="1714500"/>
            <a:ext cx="2057400" cy="276999"/>
          </a:xfrm>
          <a:prstGeom prst="rect">
            <a:avLst/>
          </a:prstGeom>
          <a:noFill/>
        </p:spPr>
        <p:txBody>
          <a:bodyPr vert="horz" wrap="square" lIns="0" tIns="0" rIns="0" bIns="0" rtlCol="0" anchor="t">
            <a:noAutofit/>
          </a:bodyPr>
          <a:lstStyle/>
          <a:p>
            <a:pPr algn="ctr"/>
            <a:r>
              <a:rPr kumimoji="1" lang="en-US" altLang="ja-JP" sz="2800" b="1">
                <a:solidFill>
                  <a:srgbClr val="2F6690"/>
                </a:solidFill>
                <a:latin typeface="Yu Gothic" panose="020B0400000000000000" pitchFamily="50" charset="-128"/>
                <a:ea typeface="Yu Gothic" panose="020B0400000000000000" pitchFamily="50" charset="-128"/>
              </a:rPr>
              <a:t>1,154</a:t>
            </a:r>
            <a:r>
              <a:rPr kumimoji="1" lang="ja-JP" altLang="en-US" sz="2800" b="1">
                <a:solidFill>
                  <a:srgbClr val="2F6690"/>
                </a:solidFill>
                <a:latin typeface="Yu Gothic" panose="020B0400000000000000" pitchFamily="50" charset="-128"/>
                <a:ea typeface="Yu Gothic" panose="020B0400000000000000" pitchFamily="50" charset="-128"/>
              </a:rPr>
              <a:t>名</a:t>
            </a:r>
          </a:p>
        </p:txBody>
      </p:sp>
      <p:sp>
        <p:nvSpPr>
          <p:cNvPr id="7" name="テキスト ボックス 6">
            <a:extLst>
              <a:ext uri="{FF2B5EF4-FFF2-40B4-BE49-F238E27FC236}">
                <a16:creationId xmlns:a16="http://schemas.microsoft.com/office/drawing/2014/main" id="{EEDCA788-BABF-457F-1347-1DF20581ED9A}"/>
              </a:ext>
            </a:extLst>
          </p:cNvPr>
          <p:cNvSpPr txBox="1"/>
          <p:nvPr/>
        </p:nvSpPr>
        <p:spPr>
          <a:xfrm>
            <a:off x="939800" y="23241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脳ドック受診者</a:t>
            </a:r>
          </a:p>
        </p:txBody>
      </p:sp>
      <p:sp>
        <p:nvSpPr>
          <p:cNvPr id="8" name="四角形: 角を丸くする 7">
            <a:extLst>
              <a:ext uri="{FF2B5EF4-FFF2-40B4-BE49-F238E27FC236}">
                <a16:creationId xmlns:a16="http://schemas.microsoft.com/office/drawing/2014/main" id="{19DE805C-272A-3F81-15EA-AED683E8934D}"/>
              </a:ext>
            </a:extLst>
          </p:cNvPr>
          <p:cNvSpPr/>
          <p:nvPr/>
        </p:nvSpPr>
        <p:spPr>
          <a:xfrm>
            <a:off x="3365500" y="15494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5B96AA7-7098-680E-DC2E-A51879B12BDF}"/>
              </a:ext>
            </a:extLst>
          </p:cNvPr>
          <p:cNvSpPr txBox="1"/>
          <p:nvPr/>
        </p:nvSpPr>
        <p:spPr>
          <a:xfrm>
            <a:off x="3543300" y="1714500"/>
            <a:ext cx="2057400" cy="276999"/>
          </a:xfrm>
          <a:prstGeom prst="rect">
            <a:avLst/>
          </a:prstGeom>
          <a:noFill/>
        </p:spPr>
        <p:txBody>
          <a:bodyPr vert="horz" wrap="square" lIns="0" tIns="0" rIns="0" bIns="0" rtlCol="0" anchor="t">
            <a:noAutofit/>
          </a:bodyPr>
          <a:lstStyle/>
          <a:p>
            <a:pPr algn="ctr"/>
            <a:r>
              <a:rPr kumimoji="1" lang="en-US" altLang="ja-JP" sz="2800" b="1">
                <a:solidFill>
                  <a:srgbClr val="2F6690"/>
                </a:solidFill>
                <a:latin typeface="Yu Gothic" panose="020B0400000000000000" pitchFamily="50" charset="-128"/>
                <a:ea typeface="Yu Gothic" panose="020B0400000000000000" pitchFamily="50" charset="-128"/>
              </a:rPr>
              <a:t>53,194</a:t>
            </a:r>
            <a:r>
              <a:rPr kumimoji="1" lang="ja-JP" altLang="en-US" sz="2800" b="1">
                <a:solidFill>
                  <a:srgbClr val="2F6690"/>
                </a:solidFill>
                <a:latin typeface="Yu Gothic" panose="020B0400000000000000" pitchFamily="50" charset="-128"/>
                <a:ea typeface="Yu Gothic" panose="020B0400000000000000" pitchFamily="50" charset="-128"/>
              </a:rPr>
              <a:t>枚</a:t>
            </a:r>
          </a:p>
        </p:txBody>
      </p:sp>
      <p:sp>
        <p:nvSpPr>
          <p:cNvPr id="10" name="テキスト ボックス 9">
            <a:extLst>
              <a:ext uri="{FF2B5EF4-FFF2-40B4-BE49-F238E27FC236}">
                <a16:creationId xmlns:a16="http://schemas.microsoft.com/office/drawing/2014/main" id="{DD889B7E-FFB7-0A75-B31A-213021A98F55}"/>
              </a:ext>
            </a:extLst>
          </p:cNvPr>
          <p:cNvSpPr txBox="1"/>
          <p:nvPr/>
        </p:nvSpPr>
        <p:spPr>
          <a:xfrm>
            <a:off x="3543300" y="23241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全アキシャル画像</a:t>
            </a:r>
          </a:p>
        </p:txBody>
      </p:sp>
      <p:sp>
        <p:nvSpPr>
          <p:cNvPr id="11" name="四角形: 角を丸くする 10">
            <a:extLst>
              <a:ext uri="{FF2B5EF4-FFF2-40B4-BE49-F238E27FC236}">
                <a16:creationId xmlns:a16="http://schemas.microsoft.com/office/drawing/2014/main" id="{05D4EC07-48B8-656D-07D0-DACA495F0BF6}"/>
              </a:ext>
            </a:extLst>
          </p:cNvPr>
          <p:cNvSpPr/>
          <p:nvPr/>
        </p:nvSpPr>
        <p:spPr>
          <a:xfrm>
            <a:off x="5969000" y="15494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41BE503-BA0D-AF35-70E9-39A8D870F7CB}"/>
              </a:ext>
            </a:extLst>
          </p:cNvPr>
          <p:cNvSpPr txBox="1"/>
          <p:nvPr/>
        </p:nvSpPr>
        <p:spPr>
          <a:xfrm>
            <a:off x="6146800" y="1714500"/>
            <a:ext cx="2057400" cy="276999"/>
          </a:xfrm>
          <a:prstGeom prst="rect">
            <a:avLst/>
          </a:prstGeom>
          <a:noFill/>
        </p:spPr>
        <p:txBody>
          <a:bodyPr vert="horz" wrap="square" lIns="0" tIns="0" rIns="0" bIns="0" rtlCol="0" anchor="t">
            <a:noAutofit/>
          </a:bodyPr>
          <a:lstStyle/>
          <a:p>
            <a:pPr algn="ctr"/>
            <a:r>
              <a:rPr kumimoji="1" lang="en-US" altLang="ja-JP" sz="2800" b="1">
                <a:solidFill>
                  <a:srgbClr val="2F6690"/>
                </a:solidFill>
                <a:latin typeface="Yu Gothic" panose="020B0400000000000000" pitchFamily="50" charset="-128"/>
                <a:ea typeface="Yu Gothic" panose="020B0400000000000000" pitchFamily="50" charset="-128"/>
              </a:rPr>
              <a:t>FLAIR</a:t>
            </a:r>
            <a:r>
              <a:rPr kumimoji="1" lang="ja-JP" altLang="en-US" sz="2800" b="1">
                <a:solidFill>
                  <a:srgbClr val="2F6690"/>
                </a:solidFill>
                <a:latin typeface="Yu Gothic" panose="020B0400000000000000" pitchFamily="50" charset="-128"/>
                <a:ea typeface="Yu Gothic" panose="020B0400000000000000" pitchFamily="50" charset="-128"/>
              </a:rPr>
              <a:t>＋</a:t>
            </a:r>
            <a:r>
              <a:rPr kumimoji="1" lang="en-US" altLang="ja-JP" sz="2800" b="1">
                <a:solidFill>
                  <a:srgbClr val="2F6690"/>
                </a:solidFill>
                <a:latin typeface="Yu Gothic" panose="020B0400000000000000" pitchFamily="50" charset="-128"/>
                <a:ea typeface="Yu Gothic" panose="020B0400000000000000" pitchFamily="50" charset="-128"/>
              </a:rPr>
              <a:t>T1</a:t>
            </a:r>
            <a:endParaRPr kumimoji="1" lang="ja-JP" altLang="en-US" sz="2800" b="1">
              <a:solidFill>
                <a:srgbClr val="2F6690"/>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3263A7C2-E9CC-113B-0810-7715BE2BC3F8}"/>
              </a:ext>
            </a:extLst>
          </p:cNvPr>
          <p:cNvSpPr txBox="1"/>
          <p:nvPr/>
        </p:nvSpPr>
        <p:spPr>
          <a:xfrm>
            <a:off x="6146800" y="23241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最終比較の入力</a:t>
            </a:r>
          </a:p>
        </p:txBody>
      </p:sp>
      <p:sp>
        <p:nvSpPr>
          <p:cNvPr id="14" name="四角形: 角を丸くする 13">
            <a:extLst>
              <a:ext uri="{FF2B5EF4-FFF2-40B4-BE49-F238E27FC236}">
                <a16:creationId xmlns:a16="http://schemas.microsoft.com/office/drawing/2014/main" id="{137B78A4-5270-C25C-B252-9D5800A09816}"/>
              </a:ext>
            </a:extLst>
          </p:cNvPr>
          <p:cNvSpPr/>
          <p:nvPr/>
        </p:nvSpPr>
        <p:spPr>
          <a:xfrm>
            <a:off x="8572500" y="15494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51F1D34-9674-4074-D8D7-E4642AD02AEA}"/>
              </a:ext>
            </a:extLst>
          </p:cNvPr>
          <p:cNvSpPr txBox="1"/>
          <p:nvPr/>
        </p:nvSpPr>
        <p:spPr>
          <a:xfrm>
            <a:off x="8750300" y="1714500"/>
            <a:ext cx="2057400" cy="276999"/>
          </a:xfrm>
          <a:prstGeom prst="rect">
            <a:avLst/>
          </a:prstGeom>
          <a:noFill/>
        </p:spPr>
        <p:txBody>
          <a:bodyPr vert="horz" wrap="square" lIns="0" tIns="0" rIns="0" bIns="0" rtlCol="0" anchor="t">
            <a:noAutofit/>
          </a:bodyPr>
          <a:lstStyle/>
          <a:p>
            <a:pPr algn="ctr"/>
            <a:r>
              <a:rPr kumimoji="1" lang="en-US" altLang="ja-JP" sz="2800" b="1">
                <a:solidFill>
                  <a:srgbClr val="2F6690"/>
                </a:solidFill>
                <a:latin typeface="Yu Gothic" panose="020B0400000000000000" pitchFamily="50" charset="-128"/>
                <a:ea typeface="Yu Gothic" panose="020B0400000000000000" pitchFamily="50" charset="-128"/>
              </a:rPr>
              <a:t>3</a:t>
            </a:r>
            <a:r>
              <a:rPr kumimoji="1" lang="ja-JP" altLang="en-US" sz="2800" b="1">
                <a:solidFill>
                  <a:srgbClr val="2F6690"/>
                </a:solidFill>
                <a:latin typeface="Yu Gothic" panose="020B0400000000000000" pitchFamily="50" charset="-128"/>
                <a:ea typeface="Yu Gothic" panose="020B0400000000000000" pitchFamily="50" charset="-128"/>
              </a:rPr>
              <a:t>クラス</a:t>
            </a:r>
          </a:p>
        </p:txBody>
      </p:sp>
      <p:sp>
        <p:nvSpPr>
          <p:cNvPr id="16" name="テキスト ボックス 15">
            <a:extLst>
              <a:ext uri="{FF2B5EF4-FFF2-40B4-BE49-F238E27FC236}">
                <a16:creationId xmlns:a16="http://schemas.microsoft.com/office/drawing/2014/main" id="{B85CE7E7-54ED-26C5-3028-8309E6BF02FD}"/>
              </a:ext>
            </a:extLst>
          </p:cNvPr>
          <p:cNvSpPr txBox="1"/>
          <p:nvPr/>
        </p:nvSpPr>
        <p:spPr>
          <a:xfrm>
            <a:off x="8750300" y="23241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患者単位ラベル</a:t>
            </a:r>
          </a:p>
        </p:txBody>
      </p:sp>
      <p:sp>
        <p:nvSpPr>
          <p:cNvPr id="17" name="テキスト ボックス 16">
            <a:extLst>
              <a:ext uri="{FF2B5EF4-FFF2-40B4-BE49-F238E27FC236}">
                <a16:creationId xmlns:a16="http://schemas.microsoft.com/office/drawing/2014/main" id="{357E6240-3E7B-0A25-1628-5A828CEDF353}"/>
              </a:ext>
            </a:extLst>
          </p:cNvPr>
          <p:cNvSpPr txBox="1"/>
          <p:nvPr/>
        </p:nvSpPr>
        <p:spPr>
          <a:xfrm>
            <a:off x="889000" y="3492500"/>
            <a:ext cx="2159000" cy="276999"/>
          </a:xfrm>
          <a:prstGeom prst="rect">
            <a:avLst/>
          </a:prstGeom>
          <a:noFill/>
        </p:spPr>
        <p:txBody>
          <a:bodyPr vert="horz" wrap="square" lIns="0" tIns="0" rIns="0" bIns="0" rtlCol="0" anchor="t">
            <a:noAutofit/>
          </a:bodyPr>
          <a:lstStyle/>
          <a:p>
            <a:r>
              <a:rPr kumimoji="1" lang="ja-JP" altLang="en-US" sz="1700" b="1">
                <a:solidFill>
                  <a:srgbClr val="1F3C59"/>
                </a:solidFill>
                <a:latin typeface="Yu Gothic" panose="020B0400000000000000" pitchFamily="50" charset="-128"/>
                <a:ea typeface="Yu Gothic" panose="020B0400000000000000" pitchFamily="50" charset="-128"/>
              </a:rPr>
              <a:t>クラス構成</a:t>
            </a:r>
          </a:p>
        </p:txBody>
      </p:sp>
      <p:sp>
        <p:nvSpPr>
          <p:cNvPr id="18" name="正方形/長方形 17">
            <a:extLst>
              <a:ext uri="{FF2B5EF4-FFF2-40B4-BE49-F238E27FC236}">
                <a16:creationId xmlns:a16="http://schemas.microsoft.com/office/drawing/2014/main" id="{938CC78B-199B-9825-863E-FFCE00EE92FD}"/>
              </a:ext>
            </a:extLst>
          </p:cNvPr>
          <p:cNvSpPr/>
          <p:nvPr/>
        </p:nvSpPr>
        <p:spPr>
          <a:xfrm>
            <a:off x="889000" y="4038600"/>
            <a:ext cx="4781319" cy="787400"/>
          </a:xfrm>
          <a:prstGeom prst="rect">
            <a:avLst/>
          </a:prstGeom>
          <a:solidFill>
            <a:srgbClr val="1F3C5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09EB90F-8553-7677-2931-FFD2A759DFF7}"/>
              </a:ext>
            </a:extLst>
          </p:cNvPr>
          <p:cNvSpPr/>
          <p:nvPr/>
        </p:nvSpPr>
        <p:spPr>
          <a:xfrm>
            <a:off x="5670319" y="4038600"/>
            <a:ext cx="3811321" cy="787400"/>
          </a:xfrm>
          <a:prstGeom prst="rect">
            <a:avLst/>
          </a:prstGeom>
          <a:solidFill>
            <a:srgbClr val="2F669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3029E75-BA5A-BEBF-D278-006F574F40E1}"/>
              </a:ext>
            </a:extLst>
          </p:cNvPr>
          <p:cNvSpPr/>
          <p:nvPr/>
        </p:nvSpPr>
        <p:spPr>
          <a:xfrm>
            <a:off x="9481640" y="4038600"/>
            <a:ext cx="1313360" cy="787400"/>
          </a:xfrm>
          <a:prstGeom prst="rect">
            <a:avLst/>
          </a:prstGeom>
          <a:solidFill>
            <a:srgbClr val="B786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549FC47-E227-136D-ADAB-A02F1B6C8CB4}"/>
              </a:ext>
            </a:extLst>
          </p:cNvPr>
          <p:cNvSpPr txBox="1"/>
          <p:nvPr/>
        </p:nvSpPr>
        <p:spPr>
          <a:xfrm>
            <a:off x="1016000" y="4165600"/>
            <a:ext cx="4527319" cy="276999"/>
          </a:xfrm>
          <a:prstGeom prst="rect">
            <a:avLst/>
          </a:prstGeom>
          <a:noFill/>
        </p:spPr>
        <p:txBody>
          <a:bodyPr vert="horz" wrap="square" lIns="0" tIns="0" rIns="0" bIns="0" rtlCol="0" anchor="t">
            <a:noAutofit/>
          </a:bodyPr>
          <a:lstStyle/>
          <a:p>
            <a:pPr algn="ctr"/>
            <a:r>
              <a:rPr kumimoji="1" lang="sv-SE" altLang="ja-JP" sz="1400" b="1">
                <a:solidFill>
                  <a:srgbClr val="FFFFFF"/>
                </a:solidFill>
                <a:latin typeface="Yu Gothic" panose="020B0400000000000000" pitchFamily="50" charset="-128"/>
                <a:ea typeface="Yu Gothic" panose="020B0400000000000000" pitchFamily="50" charset="-128"/>
              </a:rPr>
              <a:t>grade 0
557</a:t>
            </a:r>
            <a:r>
              <a:rPr kumimoji="1" lang="ja-JP" altLang="sv-SE" sz="1400" b="1">
                <a:solidFill>
                  <a:srgbClr val="FFFFFF"/>
                </a:solidFill>
                <a:latin typeface="Yu Gothic" panose="020B0400000000000000" pitchFamily="50" charset="-128"/>
                <a:ea typeface="Yu Gothic" panose="020B0400000000000000" pitchFamily="50" charset="-128"/>
              </a:rPr>
              <a:t>名（</a:t>
            </a:r>
            <a:r>
              <a:rPr kumimoji="1" lang="sv-SE" altLang="ja-JP" sz="1400" b="1">
                <a:solidFill>
                  <a:srgbClr val="FFFFFF"/>
                </a:solidFill>
                <a:latin typeface="Yu Gothic" panose="020B0400000000000000" pitchFamily="50" charset="-128"/>
                <a:ea typeface="Yu Gothic" panose="020B0400000000000000" pitchFamily="50" charset="-128"/>
              </a:rPr>
              <a:t>48.3%</a:t>
            </a:r>
            <a:r>
              <a:rPr kumimoji="1" lang="ja-JP" altLang="sv-SE" sz="1400" b="1">
                <a:solidFill>
                  <a:srgbClr val="FFFFFF"/>
                </a:solidFill>
                <a:latin typeface="Yu Gothic" panose="020B0400000000000000" pitchFamily="50" charset="-128"/>
                <a:ea typeface="Yu Gothic" panose="020B0400000000000000" pitchFamily="50" charset="-128"/>
              </a:rPr>
              <a:t>）</a:t>
            </a:r>
            <a:endParaRPr kumimoji="1" lang="ja-JP" altLang="en-US" sz="1400" b="1">
              <a:solidFill>
                <a:srgbClr val="FFFFFF"/>
              </a:solidFill>
              <a:latin typeface="Yu Gothic" panose="020B0400000000000000" pitchFamily="50" charset="-128"/>
              <a:ea typeface="Yu Gothic" panose="020B0400000000000000" pitchFamily="50" charset="-128"/>
            </a:endParaRPr>
          </a:p>
        </p:txBody>
      </p:sp>
      <p:sp>
        <p:nvSpPr>
          <p:cNvPr id="22" name="テキスト ボックス 21">
            <a:extLst>
              <a:ext uri="{FF2B5EF4-FFF2-40B4-BE49-F238E27FC236}">
                <a16:creationId xmlns:a16="http://schemas.microsoft.com/office/drawing/2014/main" id="{5EAA29EF-66EF-41CD-7448-368F108AE7BC}"/>
              </a:ext>
            </a:extLst>
          </p:cNvPr>
          <p:cNvSpPr txBox="1"/>
          <p:nvPr/>
        </p:nvSpPr>
        <p:spPr>
          <a:xfrm>
            <a:off x="5797319" y="4165600"/>
            <a:ext cx="3557320" cy="276999"/>
          </a:xfrm>
          <a:prstGeom prst="rect">
            <a:avLst/>
          </a:prstGeom>
          <a:noFill/>
        </p:spPr>
        <p:txBody>
          <a:bodyPr vert="horz" wrap="square" lIns="0" tIns="0" rIns="0" bIns="0" rtlCol="0" anchor="t">
            <a:noAutofit/>
          </a:bodyPr>
          <a:lstStyle/>
          <a:p>
            <a:pPr algn="ctr"/>
            <a:r>
              <a:rPr kumimoji="1" lang="sv-SE" altLang="ja-JP" sz="1400" b="1">
                <a:solidFill>
                  <a:srgbClr val="FFFFFF"/>
                </a:solidFill>
                <a:latin typeface="Yu Gothic" panose="020B0400000000000000" pitchFamily="50" charset="-128"/>
                <a:ea typeface="Yu Gothic" panose="020B0400000000000000" pitchFamily="50" charset="-128"/>
              </a:rPr>
              <a:t>grade 1
444</a:t>
            </a:r>
            <a:r>
              <a:rPr kumimoji="1" lang="ja-JP" altLang="sv-SE" sz="1400" b="1">
                <a:solidFill>
                  <a:srgbClr val="FFFFFF"/>
                </a:solidFill>
                <a:latin typeface="Yu Gothic" panose="020B0400000000000000" pitchFamily="50" charset="-128"/>
                <a:ea typeface="Yu Gothic" panose="020B0400000000000000" pitchFamily="50" charset="-128"/>
              </a:rPr>
              <a:t>名（</a:t>
            </a:r>
            <a:r>
              <a:rPr kumimoji="1" lang="sv-SE" altLang="ja-JP" sz="1400" b="1">
                <a:solidFill>
                  <a:srgbClr val="FFFFFF"/>
                </a:solidFill>
                <a:latin typeface="Yu Gothic" panose="020B0400000000000000" pitchFamily="50" charset="-128"/>
                <a:ea typeface="Yu Gothic" panose="020B0400000000000000" pitchFamily="50" charset="-128"/>
              </a:rPr>
              <a:t>38.5%</a:t>
            </a:r>
            <a:r>
              <a:rPr kumimoji="1" lang="ja-JP" altLang="sv-SE" sz="1400" b="1">
                <a:solidFill>
                  <a:srgbClr val="FFFFFF"/>
                </a:solidFill>
                <a:latin typeface="Yu Gothic" panose="020B0400000000000000" pitchFamily="50" charset="-128"/>
                <a:ea typeface="Yu Gothic" panose="020B0400000000000000" pitchFamily="50" charset="-128"/>
              </a:rPr>
              <a:t>）</a:t>
            </a:r>
            <a:endParaRPr kumimoji="1" lang="ja-JP" altLang="en-US" sz="1400" b="1">
              <a:solidFill>
                <a:srgbClr val="FFFFFF"/>
              </a:solidFill>
              <a:latin typeface="Yu Gothic" panose="020B0400000000000000" pitchFamily="50" charset="-128"/>
              <a:ea typeface="Yu Gothic" panose="020B0400000000000000" pitchFamily="50" charset="-128"/>
            </a:endParaRPr>
          </a:p>
        </p:txBody>
      </p:sp>
      <p:sp>
        <p:nvSpPr>
          <p:cNvPr id="23" name="テキスト ボックス 22">
            <a:extLst>
              <a:ext uri="{FF2B5EF4-FFF2-40B4-BE49-F238E27FC236}">
                <a16:creationId xmlns:a16="http://schemas.microsoft.com/office/drawing/2014/main" id="{93E3A69C-20C6-963B-3FDA-5435EDE2CC0A}"/>
              </a:ext>
            </a:extLst>
          </p:cNvPr>
          <p:cNvSpPr txBox="1"/>
          <p:nvPr/>
        </p:nvSpPr>
        <p:spPr>
          <a:xfrm>
            <a:off x="9608640" y="4165600"/>
            <a:ext cx="1059361" cy="276999"/>
          </a:xfrm>
          <a:prstGeom prst="rect">
            <a:avLst/>
          </a:prstGeom>
          <a:noFill/>
        </p:spPr>
        <p:txBody>
          <a:bodyPr vert="horz" wrap="square" lIns="0" tIns="0" rIns="0" bIns="0" rtlCol="0" anchor="t">
            <a:noAutofit/>
          </a:bodyPr>
          <a:lstStyle/>
          <a:p>
            <a:pPr algn="ctr"/>
            <a:r>
              <a:rPr kumimoji="1" lang="sv-SE" altLang="ja-JP" sz="1200" b="1">
                <a:solidFill>
                  <a:srgbClr val="FFFFFF"/>
                </a:solidFill>
                <a:latin typeface="Yu Gothic" panose="020B0400000000000000" pitchFamily="50" charset="-128"/>
                <a:ea typeface="Yu Gothic" panose="020B0400000000000000" pitchFamily="50" charset="-128"/>
              </a:rPr>
              <a:t>grade 2</a:t>
            </a:r>
            <a:r>
              <a:rPr kumimoji="1" lang="ja-JP" altLang="sv-SE" sz="1200" b="1">
                <a:solidFill>
                  <a:srgbClr val="FFFFFF"/>
                </a:solidFill>
                <a:latin typeface="Yu Gothic" panose="020B0400000000000000" pitchFamily="50" charset="-128"/>
                <a:ea typeface="Yu Gothic" panose="020B0400000000000000" pitchFamily="50" charset="-128"/>
              </a:rPr>
              <a:t>以上
</a:t>
            </a:r>
            <a:r>
              <a:rPr kumimoji="1" lang="sv-SE" altLang="ja-JP" sz="1200" b="1">
                <a:solidFill>
                  <a:srgbClr val="FFFFFF"/>
                </a:solidFill>
                <a:latin typeface="Yu Gothic" panose="020B0400000000000000" pitchFamily="50" charset="-128"/>
                <a:ea typeface="Yu Gothic" panose="020B0400000000000000" pitchFamily="50" charset="-128"/>
              </a:rPr>
              <a:t>153</a:t>
            </a:r>
            <a:r>
              <a:rPr kumimoji="1" lang="ja-JP" altLang="sv-SE" sz="1200" b="1">
                <a:solidFill>
                  <a:srgbClr val="FFFFFF"/>
                </a:solidFill>
                <a:latin typeface="Yu Gothic" panose="020B0400000000000000" pitchFamily="50" charset="-128"/>
                <a:ea typeface="Yu Gothic" panose="020B0400000000000000" pitchFamily="50" charset="-128"/>
              </a:rPr>
              <a:t>名（</a:t>
            </a:r>
            <a:r>
              <a:rPr kumimoji="1" lang="sv-SE" altLang="ja-JP" sz="1200" b="1">
                <a:solidFill>
                  <a:srgbClr val="FFFFFF"/>
                </a:solidFill>
                <a:latin typeface="Yu Gothic" panose="020B0400000000000000" pitchFamily="50" charset="-128"/>
                <a:ea typeface="Yu Gothic" panose="020B0400000000000000" pitchFamily="50" charset="-128"/>
              </a:rPr>
              <a:t>13.3%</a:t>
            </a:r>
            <a:r>
              <a:rPr kumimoji="1" lang="ja-JP" altLang="sv-SE" sz="1200" b="1">
                <a:solidFill>
                  <a:srgbClr val="FFFFFF"/>
                </a:solidFill>
                <a:latin typeface="Yu Gothic" panose="020B0400000000000000" pitchFamily="50" charset="-128"/>
                <a:ea typeface="Yu Gothic" panose="020B0400000000000000" pitchFamily="50" charset="-128"/>
              </a:rPr>
              <a:t>）</a:t>
            </a:r>
            <a:endParaRPr kumimoji="1" lang="ja-JP" altLang="en-US" sz="1200" b="1">
              <a:solidFill>
                <a:srgbClr val="FFFFFF"/>
              </a:solidFill>
              <a:latin typeface="Yu Gothic" panose="020B0400000000000000" pitchFamily="50" charset="-128"/>
              <a:ea typeface="Yu Gothic" panose="020B0400000000000000" pitchFamily="50" charset="-128"/>
            </a:endParaRPr>
          </a:p>
        </p:txBody>
      </p:sp>
      <p:sp>
        <p:nvSpPr>
          <p:cNvPr id="24" name="テキスト ボックス 23">
            <a:extLst>
              <a:ext uri="{FF2B5EF4-FFF2-40B4-BE49-F238E27FC236}">
                <a16:creationId xmlns:a16="http://schemas.microsoft.com/office/drawing/2014/main" id="{7F3B10DD-54D5-80E5-5592-80C96061993B}"/>
              </a:ext>
            </a:extLst>
          </p:cNvPr>
          <p:cNvSpPr txBox="1"/>
          <p:nvPr/>
        </p:nvSpPr>
        <p:spPr>
          <a:xfrm>
            <a:off x="1905000" y="5334000"/>
            <a:ext cx="8382000" cy="276999"/>
          </a:xfrm>
          <a:prstGeom prst="rect">
            <a:avLst/>
          </a:prstGeom>
          <a:noFill/>
        </p:spPr>
        <p:txBody>
          <a:bodyPr vert="horz" wrap="square" lIns="0" tIns="0" rIns="0" bIns="0" rtlCol="0" anchor="t">
            <a:noAutofit/>
          </a:bodyPr>
          <a:lstStyle/>
          <a:p>
            <a:pPr algn="ctr"/>
            <a:r>
              <a:rPr kumimoji="1" lang="en-US" altLang="ja-JP" sz="1500" b="1">
                <a:solidFill>
                  <a:srgbClr val="C0392B"/>
                </a:solidFill>
                <a:latin typeface="Yu Gothic" panose="020B0400000000000000" pitchFamily="50" charset="-128"/>
                <a:ea typeface="Yu Gothic" panose="020B0400000000000000" pitchFamily="50" charset="-128"/>
              </a:rPr>
              <a:t>grade 3</a:t>
            </a:r>
            <a:r>
              <a:rPr kumimoji="1" lang="ja-JP" altLang="en-US" sz="1500" b="1">
                <a:solidFill>
                  <a:srgbClr val="C0392B"/>
                </a:solidFill>
                <a:latin typeface="Yu Gothic" panose="020B0400000000000000" pitchFamily="50" charset="-128"/>
                <a:ea typeface="Yu Gothic" panose="020B0400000000000000" pitchFamily="50" charset="-128"/>
              </a:rPr>
              <a:t>：</a:t>
            </a:r>
            <a:r>
              <a:rPr kumimoji="1" lang="en-US" altLang="ja-JP" sz="1500" b="1">
                <a:solidFill>
                  <a:srgbClr val="C0392B"/>
                </a:solidFill>
                <a:latin typeface="Yu Gothic" panose="020B0400000000000000" pitchFamily="50" charset="-128"/>
                <a:ea typeface="Yu Gothic" panose="020B0400000000000000" pitchFamily="50" charset="-128"/>
              </a:rPr>
              <a:t>39</a:t>
            </a:r>
            <a:r>
              <a:rPr kumimoji="1" lang="ja-JP" altLang="en-US" sz="1500" b="1">
                <a:solidFill>
                  <a:srgbClr val="C0392B"/>
                </a:solidFill>
                <a:latin typeface="Yu Gothic" panose="020B0400000000000000" pitchFamily="50" charset="-128"/>
                <a:ea typeface="Yu Gothic" panose="020B0400000000000000" pitchFamily="50" charset="-128"/>
              </a:rPr>
              <a:t>名、</a:t>
            </a:r>
            <a:r>
              <a:rPr kumimoji="1" lang="en-US" altLang="ja-JP" sz="1500" b="1">
                <a:solidFill>
                  <a:srgbClr val="C0392B"/>
                </a:solidFill>
                <a:latin typeface="Yu Gothic" panose="020B0400000000000000" pitchFamily="50" charset="-128"/>
                <a:ea typeface="Yu Gothic" panose="020B0400000000000000" pitchFamily="50" charset="-128"/>
              </a:rPr>
              <a:t>grade 4</a:t>
            </a:r>
            <a:r>
              <a:rPr kumimoji="1" lang="ja-JP" altLang="en-US" sz="1500" b="1">
                <a:solidFill>
                  <a:srgbClr val="C0392B"/>
                </a:solidFill>
                <a:latin typeface="Yu Gothic" panose="020B0400000000000000" pitchFamily="50" charset="-128"/>
                <a:ea typeface="Yu Gothic" panose="020B0400000000000000" pitchFamily="50" charset="-128"/>
              </a:rPr>
              <a:t>：</a:t>
            </a:r>
            <a:r>
              <a:rPr kumimoji="1" lang="en-US" altLang="ja-JP" sz="1500" b="1">
                <a:solidFill>
                  <a:srgbClr val="C0392B"/>
                </a:solidFill>
                <a:latin typeface="Yu Gothic" panose="020B0400000000000000" pitchFamily="50" charset="-128"/>
                <a:ea typeface="Yu Gothic" panose="020B0400000000000000" pitchFamily="50" charset="-128"/>
              </a:rPr>
              <a:t>8</a:t>
            </a:r>
            <a:r>
              <a:rPr kumimoji="1" lang="ja-JP" altLang="en-US" sz="1500" b="1">
                <a:solidFill>
                  <a:srgbClr val="C0392B"/>
                </a:solidFill>
                <a:latin typeface="Yu Gothic" panose="020B0400000000000000" pitchFamily="50" charset="-128"/>
                <a:ea typeface="Yu Gothic" panose="020B0400000000000000" pitchFamily="50" charset="-128"/>
              </a:rPr>
              <a:t>名と少ないため、</a:t>
            </a:r>
            <a:r>
              <a:rPr kumimoji="1" lang="en-US" altLang="ja-JP" sz="1500" b="1">
                <a:solidFill>
                  <a:srgbClr val="C0392B"/>
                </a:solidFill>
                <a:latin typeface="Yu Gothic" panose="020B0400000000000000" pitchFamily="50" charset="-128"/>
                <a:ea typeface="Yu Gothic" panose="020B0400000000000000" pitchFamily="50" charset="-128"/>
              </a:rPr>
              <a:t>grade 2–4</a:t>
            </a:r>
            <a:r>
              <a:rPr kumimoji="1" lang="ja-JP" altLang="en-US" sz="1500" b="1">
                <a:solidFill>
                  <a:srgbClr val="C0392B"/>
                </a:solidFill>
                <a:latin typeface="Yu Gothic" panose="020B0400000000000000" pitchFamily="50" charset="-128"/>
                <a:ea typeface="Yu Gothic" panose="020B0400000000000000" pitchFamily="50" charset="-128"/>
              </a:rPr>
              <a:t>を統合</a:t>
            </a:r>
          </a:p>
        </p:txBody>
      </p:sp>
      <p:sp>
        <p:nvSpPr>
          <p:cNvPr id="25" name="テキスト ボックス 24">
            <a:extLst>
              <a:ext uri="{FF2B5EF4-FFF2-40B4-BE49-F238E27FC236}">
                <a16:creationId xmlns:a16="http://schemas.microsoft.com/office/drawing/2014/main" id="{AA43FC21-24B1-C52E-375F-B3313E64139F}"/>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Frozen protocol: grade0=557, grade1=444, grade2+=153</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26" name="テキスト ボックス 25">
            <a:extLst>
              <a:ext uri="{FF2B5EF4-FFF2-40B4-BE49-F238E27FC236}">
                <a16:creationId xmlns:a16="http://schemas.microsoft.com/office/drawing/2014/main" id="{093CAE14-191A-7181-0D0D-364E0ED2EA0E}"/>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27" name="テキスト ボックス 26">
            <a:extLst>
              <a:ext uri="{FF2B5EF4-FFF2-40B4-BE49-F238E27FC236}">
                <a16:creationId xmlns:a16="http://schemas.microsoft.com/office/drawing/2014/main" id="{4AF884FF-D3E1-C4AA-8A0E-9A3E40A47D28}"/>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5</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1982824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FAFCED8-E74C-940F-749C-98E8BFBA5223}"/>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PROTOCOL</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920430C0-F471-057E-DF3F-514AD934245A}"/>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評価設計：患者単位</a:t>
            </a:r>
            <a:r>
              <a:rPr kumimoji="1" lang="en-US" altLang="ja-JP" sz="2700" b="1">
                <a:solidFill>
                  <a:srgbClr val="1F3C59"/>
                </a:solidFill>
                <a:latin typeface="Yu Gothic" panose="020B0400000000000000" pitchFamily="50" charset="-128"/>
                <a:ea typeface="Yu Gothic" panose="020B0400000000000000" pitchFamily="50" charset="-128"/>
              </a:rPr>
              <a:t>5-fold OOF</a:t>
            </a:r>
            <a:endParaRPr kumimoji="1" lang="ja-JP" altLang="en-US" sz="2700" b="1">
              <a:solidFill>
                <a:srgbClr val="1F3C59"/>
              </a:solidFill>
              <a:latin typeface="Yu Gothic" panose="020B0400000000000000" pitchFamily="50" charset="-128"/>
              <a:ea typeface="Yu Gothic" panose="020B0400000000000000" pitchFamily="50" charset="-128"/>
            </a:endParaRPr>
          </a:p>
        </p:txBody>
      </p:sp>
      <p:cxnSp>
        <p:nvCxnSpPr>
          <p:cNvPr id="4" name="直線コネクタ 3">
            <a:extLst>
              <a:ext uri="{FF2B5EF4-FFF2-40B4-BE49-F238E27FC236}">
                <a16:creationId xmlns:a16="http://schemas.microsoft.com/office/drawing/2014/main" id="{2345BE24-947F-7B77-9D31-05173136E806}"/>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8BFA1810-D2C3-536B-F277-A48C9DB0428E}"/>
              </a:ext>
            </a:extLst>
          </p:cNvPr>
          <p:cNvSpPr txBox="1"/>
          <p:nvPr/>
        </p:nvSpPr>
        <p:spPr>
          <a:xfrm>
            <a:off x="889000" y="1524000"/>
            <a:ext cx="3302000" cy="276999"/>
          </a:xfrm>
          <a:prstGeom prst="rect">
            <a:avLst/>
          </a:prstGeom>
          <a:noFill/>
        </p:spPr>
        <p:txBody>
          <a:bodyPr vert="horz" wrap="square" lIns="0" tIns="0" rIns="0" bIns="0" rtlCol="0" anchor="t">
            <a:noAutofit/>
          </a:bodyPr>
          <a:lstStyle/>
          <a:p>
            <a:r>
              <a:rPr kumimoji="1" lang="ja-JP" altLang="en-US" b="1">
                <a:solidFill>
                  <a:srgbClr val="1F3C59"/>
                </a:solidFill>
                <a:latin typeface="Yu Gothic" panose="020B0400000000000000" pitchFamily="50" charset="-128"/>
                <a:ea typeface="Yu Gothic" panose="020B0400000000000000" pitchFamily="50" charset="-128"/>
              </a:rPr>
              <a:t>患者を層化して</a:t>
            </a:r>
            <a:r>
              <a:rPr kumimoji="1" lang="en-US" altLang="ja-JP" b="1">
                <a:solidFill>
                  <a:srgbClr val="1F3C59"/>
                </a:solidFill>
                <a:latin typeface="Yu Gothic" panose="020B0400000000000000" pitchFamily="50" charset="-128"/>
                <a:ea typeface="Yu Gothic" panose="020B0400000000000000" pitchFamily="50" charset="-128"/>
              </a:rPr>
              <a:t>5</a:t>
            </a:r>
            <a:r>
              <a:rPr kumimoji="1" lang="ja-JP" altLang="en-US" b="1">
                <a:solidFill>
                  <a:srgbClr val="1F3C59"/>
                </a:solidFill>
                <a:latin typeface="Yu Gothic" panose="020B0400000000000000" pitchFamily="50" charset="-128"/>
                <a:ea typeface="Yu Gothic" panose="020B0400000000000000" pitchFamily="50" charset="-128"/>
              </a:rPr>
              <a:t>分割</a:t>
            </a:r>
          </a:p>
        </p:txBody>
      </p:sp>
      <p:sp>
        <p:nvSpPr>
          <p:cNvPr id="6" name="正方形/長方形 5">
            <a:extLst>
              <a:ext uri="{FF2B5EF4-FFF2-40B4-BE49-F238E27FC236}">
                <a16:creationId xmlns:a16="http://schemas.microsoft.com/office/drawing/2014/main" id="{16934F54-B30B-E4EC-802A-326F5DD7D8E2}"/>
              </a:ext>
            </a:extLst>
          </p:cNvPr>
          <p:cNvSpPr/>
          <p:nvPr/>
        </p:nvSpPr>
        <p:spPr>
          <a:xfrm>
            <a:off x="952500" y="2159000"/>
            <a:ext cx="1587500" cy="825500"/>
          </a:xfrm>
          <a:prstGeom prst="rect">
            <a:avLst/>
          </a:prstGeom>
          <a:solidFill>
            <a:srgbClr val="2F6690"/>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A3D2B1F-5C62-8860-8EA4-0A0A59E0EC14}"/>
              </a:ext>
            </a:extLst>
          </p:cNvPr>
          <p:cNvSpPr txBox="1"/>
          <p:nvPr/>
        </p:nvSpPr>
        <p:spPr>
          <a:xfrm>
            <a:off x="1079500" y="2413000"/>
            <a:ext cx="1333500" cy="276999"/>
          </a:xfrm>
          <a:prstGeom prst="rect">
            <a:avLst/>
          </a:prstGeom>
          <a:noFill/>
        </p:spPr>
        <p:txBody>
          <a:bodyPr vert="horz" wrap="square" lIns="0" tIns="0" rIns="0" bIns="0" rtlCol="0" anchor="t">
            <a:noAutofit/>
          </a:bodyPr>
          <a:lstStyle/>
          <a:p>
            <a:pPr algn="ctr"/>
            <a:r>
              <a:rPr kumimoji="1" lang="en-US" altLang="ja-JP" sz="1400" b="1">
                <a:solidFill>
                  <a:srgbClr val="FFFFFF"/>
                </a:solidFill>
                <a:latin typeface="Yu Gothic" panose="020B0400000000000000" pitchFamily="50" charset="-128"/>
                <a:ea typeface="Yu Gothic" panose="020B0400000000000000" pitchFamily="50" charset="-128"/>
              </a:rPr>
              <a:t>Fold 1</a:t>
            </a:r>
            <a:endParaRPr kumimoji="1" lang="ja-JP" altLang="en-US" sz="1400" b="1">
              <a:solidFill>
                <a:srgbClr val="FFFFFF"/>
              </a:solidFill>
              <a:latin typeface="Yu Gothic" panose="020B0400000000000000" pitchFamily="50" charset="-128"/>
              <a:ea typeface="Yu Gothic" panose="020B0400000000000000" pitchFamily="50" charset="-128"/>
            </a:endParaRPr>
          </a:p>
        </p:txBody>
      </p:sp>
      <p:sp>
        <p:nvSpPr>
          <p:cNvPr id="8" name="正方形/長方形 7">
            <a:extLst>
              <a:ext uri="{FF2B5EF4-FFF2-40B4-BE49-F238E27FC236}">
                <a16:creationId xmlns:a16="http://schemas.microsoft.com/office/drawing/2014/main" id="{D1629D83-0D49-298B-775D-9F128E2C632A}"/>
              </a:ext>
            </a:extLst>
          </p:cNvPr>
          <p:cNvSpPr/>
          <p:nvPr/>
        </p:nvSpPr>
        <p:spPr>
          <a:xfrm>
            <a:off x="2794000" y="2159000"/>
            <a:ext cx="1587500" cy="825500"/>
          </a:xfrm>
          <a:prstGeom prst="rect">
            <a:avLst/>
          </a:prstGeom>
          <a:solidFill>
            <a:srgbClr val="DEEBF7"/>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5D61146C-2CEA-B943-46B9-DC184E545365}"/>
              </a:ext>
            </a:extLst>
          </p:cNvPr>
          <p:cNvSpPr txBox="1"/>
          <p:nvPr/>
        </p:nvSpPr>
        <p:spPr>
          <a:xfrm>
            <a:off x="2921000" y="2413000"/>
            <a:ext cx="1333500" cy="276999"/>
          </a:xfrm>
          <a:prstGeom prst="rect">
            <a:avLst/>
          </a:prstGeom>
          <a:noFill/>
        </p:spPr>
        <p:txBody>
          <a:bodyPr vert="horz" wrap="square" lIns="0" tIns="0" rIns="0" bIns="0" rtlCol="0" anchor="t">
            <a:noAutofit/>
          </a:bodyPr>
          <a:lstStyle/>
          <a:p>
            <a:pPr algn="ctr"/>
            <a:r>
              <a:rPr kumimoji="1" lang="en-US" altLang="ja-JP" sz="1400" b="1">
                <a:solidFill>
                  <a:srgbClr val="1F3C59"/>
                </a:solidFill>
                <a:latin typeface="Yu Gothic" panose="020B0400000000000000" pitchFamily="50" charset="-128"/>
                <a:ea typeface="Yu Gothic" panose="020B0400000000000000" pitchFamily="50" charset="-128"/>
              </a:rPr>
              <a:t>Fold 2</a:t>
            </a:r>
            <a:endParaRPr kumimoji="1" lang="ja-JP" altLang="en-US" sz="1400" b="1">
              <a:solidFill>
                <a:srgbClr val="1F3C59"/>
              </a:solidFill>
              <a:latin typeface="Yu Gothic" panose="020B0400000000000000" pitchFamily="50" charset="-128"/>
              <a:ea typeface="Yu Gothic" panose="020B0400000000000000" pitchFamily="50" charset="-128"/>
            </a:endParaRPr>
          </a:p>
        </p:txBody>
      </p:sp>
      <p:sp>
        <p:nvSpPr>
          <p:cNvPr id="10" name="正方形/長方形 9">
            <a:extLst>
              <a:ext uri="{FF2B5EF4-FFF2-40B4-BE49-F238E27FC236}">
                <a16:creationId xmlns:a16="http://schemas.microsoft.com/office/drawing/2014/main" id="{2EDC873D-5E8A-A537-F37B-9EA74C5388F0}"/>
              </a:ext>
            </a:extLst>
          </p:cNvPr>
          <p:cNvSpPr/>
          <p:nvPr/>
        </p:nvSpPr>
        <p:spPr>
          <a:xfrm>
            <a:off x="4635500" y="2159000"/>
            <a:ext cx="1587500" cy="825500"/>
          </a:xfrm>
          <a:prstGeom prst="rect">
            <a:avLst/>
          </a:prstGeom>
          <a:solidFill>
            <a:srgbClr val="DEEBF7"/>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21C1C9C-7B10-DA01-AB0C-30209C22AFAC}"/>
              </a:ext>
            </a:extLst>
          </p:cNvPr>
          <p:cNvSpPr txBox="1"/>
          <p:nvPr/>
        </p:nvSpPr>
        <p:spPr>
          <a:xfrm>
            <a:off x="4762500" y="2413000"/>
            <a:ext cx="1333500" cy="276999"/>
          </a:xfrm>
          <a:prstGeom prst="rect">
            <a:avLst/>
          </a:prstGeom>
          <a:noFill/>
        </p:spPr>
        <p:txBody>
          <a:bodyPr vert="horz" wrap="square" lIns="0" tIns="0" rIns="0" bIns="0" rtlCol="0" anchor="t">
            <a:noAutofit/>
          </a:bodyPr>
          <a:lstStyle/>
          <a:p>
            <a:pPr algn="ctr"/>
            <a:r>
              <a:rPr kumimoji="1" lang="en-US" altLang="ja-JP" sz="1400" b="1">
                <a:solidFill>
                  <a:srgbClr val="1F3C59"/>
                </a:solidFill>
                <a:latin typeface="Yu Gothic" panose="020B0400000000000000" pitchFamily="50" charset="-128"/>
                <a:ea typeface="Yu Gothic" panose="020B0400000000000000" pitchFamily="50" charset="-128"/>
              </a:rPr>
              <a:t>Fold 3</a:t>
            </a:r>
            <a:endParaRPr kumimoji="1" lang="ja-JP" altLang="en-US" sz="1400" b="1">
              <a:solidFill>
                <a:srgbClr val="1F3C59"/>
              </a:solidFill>
              <a:latin typeface="Yu Gothic" panose="020B0400000000000000" pitchFamily="50" charset="-128"/>
              <a:ea typeface="Yu Gothic" panose="020B0400000000000000" pitchFamily="50" charset="-128"/>
            </a:endParaRPr>
          </a:p>
        </p:txBody>
      </p:sp>
      <p:sp>
        <p:nvSpPr>
          <p:cNvPr id="12" name="正方形/長方形 11">
            <a:extLst>
              <a:ext uri="{FF2B5EF4-FFF2-40B4-BE49-F238E27FC236}">
                <a16:creationId xmlns:a16="http://schemas.microsoft.com/office/drawing/2014/main" id="{919C6911-6AB5-E0F7-BABF-33EC961140EF}"/>
              </a:ext>
            </a:extLst>
          </p:cNvPr>
          <p:cNvSpPr/>
          <p:nvPr/>
        </p:nvSpPr>
        <p:spPr>
          <a:xfrm>
            <a:off x="6477000" y="2159000"/>
            <a:ext cx="1587500" cy="825500"/>
          </a:xfrm>
          <a:prstGeom prst="rect">
            <a:avLst/>
          </a:prstGeom>
          <a:solidFill>
            <a:srgbClr val="DEEBF7"/>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4EA2E57-5553-64F8-71C9-F1C05C33AF3D}"/>
              </a:ext>
            </a:extLst>
          </p:cNvPr>
          <p:cNvSpPr txBox="1"/>
          <p:nvPr/>
        </p:nvSpPr>
        <p:spPr>
          <a:xfrm>
            <a:off x="6604000" y="2413000"/>
            <a:ext cx="1333500" cy="276999"/>
          </a:xfrm>
          <a:prstGeom prst="rect">
            <a:avLst/>
          </a:prstGeom>
          <a:noFill/>
        </p:spPr>
        <p:txBody>
          <a:bodyPr vert="horz" wrap="square" lIns="0" tIns="0" rIns="0" bIns="0" rtlCol="0" anchor="t">
            <a:noAutofit/>
          </a:bodyPr>
          <a:lstStyle/>
          <a:p>
            <a:pPr algn="ctr"/>
            <a:r>
              <a:rPr kumimoji="1" lang="en-US" altLang="ja-JP" sz="1400" b="1">
                <a:solidFill>
                  <a:srgbClr val="1F3C59"/>
                </a:solidFill>
                <a:latin typeface="Yu Gothic" panose="020B0400000000000000" pitchFamily="50" charset="-128"/>
                <a:ea typeface="Yu Gothic" panose="020B0400000000000000" pitchFamily="50" charset="-128"/>
              </a:rPr>
              <a:t>Fold 4</a:t>
            </a:r>
            <a:endParaRPr kumimoji="1" lang="ja-JP" altLang="en-US" sz="1400" b="1">
              <a:solidFill>
                <a:srgbClr val="1F3C59"/>
              </a:solidFill>
              <a:latin typeface="Yu Gothic" panose="020B0400000000000000" pitchFamily="50" charset="-128"/>
              <a:ea typeface="Yu Gothic" panose="020B0400000000000000" pitchFamily="50" charset="-128"/>
            </a:endParaRPr>
          </a:p>
        </p:txBody>
      </p:sp>
      <p:sp>
        <p:nvSpPr>
          <p:cNvPr id="14" name="正方形/長方形 13">
            <a:extLst>
              <a:ext uri="{FF2B5EF4-FFF2-40B4-BE49-F238E27FC236}">
                <a16:creationId xmlns:a16="http://schemas.microsoft.com/office/drawing/2014/main" id="{86706C6D-D502-49D4-2B35-BBEA8F7C1C0F}"/>
              </a:ext>
            </a:extLst>
          </p:cNvPr>
          <p:cNvSpPr/>
          <p:nvPr/>
        </p:nvSpPr>
        <p:spPr>
          <a:xfrm>
            <a:off x="8318500" y="2159000"/>
            <a:ext cx="1587500" cy="825500"/>
          </a:xfrm>
          <a:prstGeom prst="rect">
            <a:avLst/>
          </a:prstGeom>
          <a:solidFill>
            <a:srgbClr val="DEEBF7"/>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6B49455-7B5B-9B7C-AED3-D48ACD4EB4A3}"/>
              </a:ext>
            </a:extLst>
          </p:cNvPr>
          <p:cNvSpPr txBox="1"/>
          <p:nvPr/>
        </p:nvSpPr>
        <p:spPr>
          <a:xfrm>
            <a:off x="8445500" y="2413000"/>
            <a:ext cx="1333500" cy="276999"/>
          </a:xfrm>
          <a:prstGeom prst="rect">
            <a:avLst/>
          </a:prstGeom>
          <a:noFill/>
        </p:spPr>
        <p:txBody>
          <a:bodyPr vert="horz" wrap="square" lIns="0" tIns="0" rIns="0" bIns="0" rtlCol="0" anchor="t">
            <a:noAutofit/>
          </a:bodyPr>
          <a:lstStyle/>
          <a:p>
            <a:pPr algn="ctr"/>
            <a:r>
              <a:rPr kumimoji="1" lang="en-US" altLang="ja-JP" sz="1400" b="1">
                <a:solidFill>
                  <a:srgbClr val="1F3C59"/>
                </a:solidFill>
                <a:latin typeface="Yu Gothic" panose="020B0400000000000000" pitchFamily="50" charset="-128"/>
                <a:ea typeface="Yu Gothic" panose="020B0400000000000000" pitchFamily="50" charset="-128"/>
              </a:rPr>
              <a:t>Fold 5</a:t>
            </a:r>
            <a:endParaRPr kumimoji="1" lang="ja-JP" altLang="en-US" sz="1400" b="1">
              <a:solidFill>
                <a:srgbClr val="1F3C59"/>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211749BC-FAB7-C22E-18FD-06AB7F5E65C1}"/>
              </a:ext>
            </a:extLst>
          </p:cNvPr>
          <p:cNvSpPr txBox="1"/>
          <p:nvPr/>
        </p:nvSpPr>
        <p:spPr>
          <a:xfrm>
            <a:off x="1206500" y="3276600"/>
            <a:ext cx="2540000" cy="276999"/>
          </a:xfrm>
          <a:prstGeom prst="rect">
            <a:avLst/>
          </a:prstGeom>
          <a:noFill/>
        </p:spPr>
        <p:txBody>
          <a:bodyPr vert="horz" wrap="square" lIns="0" tIns="0" rIns="0" bIns="0" rtlCol="0" anchor="t">
            <a:noAutofit/>
          </a:bodyPr>
          <a:lstStyle/>
          <a:p>
            <a:pPr algn="ctr"/>
            <a:r>
              <a:rPr kumimoji="1" lang="ja-JP" altLang="en-US" sz="1500">
                <a:solidFill>
                  <a:srgbClr val="666666"/>
                </a:solidFill>
                <a:latin typeface="Yu Gothic" panose="020B0400000000000000" pitchFamily="50" charset="-128"/>
                <a:ea typeface="Yu Gothic" panose="020B0400000000000000" pitchFamily="50" charset="-128"/>
              </a:rPr>
              <a:t>学習：</a:t>
            </a:r>
            <a:r>
              <a:rPr kumimoji="1" lang="en-US" altLang="ja-JP" sz="1500">
                <a:solidFill>
                  <a:srgbClr val="666666"/>
                </a:solidFill>
                <a:latin typeface="Yu Gothic" panose="020B0400000000000000" pitchFamily="50" charset="-128"/>
                <a:ea typeface="Yu Gothic" panose="020B0400000000000000" pitchFamily="50" charset="-128"/>
              </a:rPr>
              <a:t>4 fold</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F2FC18FC-D3FC-E65E-01F3-DF9AFA37E2FC}"/>
              </a:ext>
            </a:extLst>
          </p:cNvPr>
          <p:cNvSpPr txBox="1"/>
          <p:nvPr/>
        </p:nvSpPr>
        <p:spPr>
          <a:xfrm>
            <a:off x="4318000" y="3276600"/>
            <a:ext cx="2540000" cy="276999"/>
          </a:xfrm>
          <a:prstGeom prst="rect">
            <a:avLst/>
          </a:prstGeom>
          <a:noFill/>
        </p:spPr>
        <p:txBody>
          <a:bodyPr vert="horz" wrap="square" lIns="0" tIns="0" rIns="0" bIns="0" rtlCol="0" anchor="t">
            <a:noAutofit/>
          </a:bodyPr>
          <a:lstStyle/>
          <a:p>
            <a:pPr algn="ctr"/>
            <a:r>
              <a:rPr kumimoji="1" lang="ja-JP" altLang="en-US" sz="1500">
                <a:solidFill>
                  <a:srgbClr val="2F6690"/>
                </a:solidFill>
                <a:latin typeface="Yu Gothic" panose="020B0400000000000000" pitchFamily="50" charset="-128"/>
                <a:ea typeface="Yu Gothic" panose="020B0400000000000000" pitchFamily="50" charset="-128"/>
              </a:rPr>
              <a:t>検証：</a:t>
            </a:r>
            <a:r>
              <a:rPr kumimoji="1" lang="en-US" altLang="ja-JP" sz="1500">
                <a:solidFill>
                  <a:srgbClr val="2F6690"/>
                </a:solidFill>
                <a:latin typeface="Yu Gothic" panose="020B0400000000000000" pitchFamily="50" charset="-128"/>
                <a:ea typeface="Yu Gothic" panose="020B0400000000000000" pitchFamily="50" charset="-128"/>
              </a:rPr>
              <a:t>1 fold</a:t>
            </a:r>
            <a:endParaRPr kumimoji="1" lang="ja-JP" altLang="en-US" sz="1500">
              <a:solidFill>
                <a:srgbClr val="2F6690"/>
              </a:solidFill>
              <a:latin typeface="Yu Gothic" panose="020B0400000000000000" pitchFamily="50" charset="-128"/>
              <a:ea typeface="Yu Gothic" panose="020B0400000000000000" pitchFamily="50" charset="-128"/>
            </a:endParaRPr>
          </a:p>
        </p:txBody>
      </p:sp>
      <p:sp>
        <p:nvSpPr>
          <p:cNvPr id="18" name="テキスト ボックス 17">
            <a:extLst>
              <a:ext uri="{FF2B5EF4-FFF2-40B4-BE49-F238E27FC236}">
                <a16:creationId xmlns:a16="http://schemas.microsoft.com/office/drawing/2014/main" id="{D7505E8C-9C9D-CADE-B2EE-33571B6797A4}"/>
              </a:ext>
            </a:extLst>
          </p:cNvPr>
          <p:cNvSpPr txBox="1"/>
          <p:nvPr/>
        </p:nvSpPr>
        <p:spPr>
          <a:xfrm>
            <a:off x="7747000" y="3276600"/>
            <a:ext cx="2286000" cy="276999"/>
          </a:xfrm>
          <a:prstGeom prst="rect">
            <a:avLst/>
          </a:prstGeom>
          <a:noFill/>
        </p:spPr>
        <p:txBody>
          <a:bodyPr vert="horz" wrap="square" lIns="0" tIns="0" rIns="0" bIns="0" rtlCol="0" anchor="t">
            <a:noAutofit/>
          </a:bodyPr>
          <a:lstStyle/>
          <a:p>
            <a:pPr algn="ctr"/>
            <a:r>
              <a:rPr kumimoji="1" lang="en-US" altLang="ja-JP" sz="1500" b="1">
                <a:solidFill>
                  <a:srgbClr val="1F3C59"/>
                </a:solidFill>
                <a:latin typeface="Yu Gothic" panose="020B0400000000000000" pitchFamily="50" charset="-128"/>
                <a:ea typeface="Yu Gothic" panose="020B0400000000000000" pitchFamily="50" charset="-128"/>
              </a:rPr>
              <a:t>× 5</a:t>
            </a:r>
            <a:r>
              <a:rPr kumimoji="1" lang="ja-JP" altLang="en-US" sz="1500" b="1">
                <a:solidFill>
                  <a:srgbClr val="1F3C59"/>
                </a:solidFill>
                <a:latin typeface="Yu Gothic" panose="020B0400000000000000" pitchFamily="50" charset="-128"/>
                <a:ea typeface="Yu Gothic" panose="020B0400000000000000" pitchFamily="50" charset="-128"/>
              </a:rPr>
              <a:t>回</a:t>
            </a:r>
          </a:p>
        </p:txBody>
      </p:sp>
      <p:cxnSp>
        <p:nvCxnSpPr>
          <p:cNvPr id="19" name="直線コネクタ 18">
            <a:extLst>
              <a:ext uri="{FF2B5EF4-FFF2-40B4-BE49-F238E27FC236}">
                <a16:creationId xmlns:a16="http://schemas.microsoft.com/office/drawing/2014/main" id="{90A7B52A-B6C8-5589-402A-5F6C81D61B33}"/>
              </a:ext>
            </a:extLst>
          </p:cNvPr>
          <p:cNvCxnSpPr/>
          <p:nvPr/>
        </p:nvCxnSpPr>
        <p:spPr>
          <a:xfrm>
            <a:off x="889000" y="3873500"/>
            <a:ext cx="10414000" cy="0"/>
          </a:xfrm>
          <a:prstGeom prst="line">
            <a:avLst/>
          </a:prstGeom>
          <a:ln w="12700">
            <a:solidFill>
              <a:srgbClr val="B4B4B4"/>
            </a:solidFill>
          </a:ln>
        </p:spPr>
        <p:style>
          <a:lnRef idx="2">
            <a:schemeClr val="accent1"/>
          </a:lnRef>
          <a:fillRef idx="0">
            <a:schemeClr val="accent1"/>
          </a:fillRef>
          <a:effectRef idx="1">
            <a:schemeClr val="accent1"/>
          </a:effectRef>
          <a:fontRef idx="minor">
            <a:schemeClr val="tx1"/>
          </a:fontRef>
        </p:style>
      </p:cxnSp>
      <p:sp>
        <p:nvSpPr>
          <p:cNvPr id="20" name="四角形: 角を丸くする 19">
            <a:extLst>
              <a:ext uri="{FF2B5EF4-FFF2-40B4-BE49-F238E27FC236}">
                <a16:creationId xmlns:a16="http://schemas.microsoft.com/office/drawing/2014/main" id="{1F8E9807-ECA0-CF7E-52F8-D4E75D026434}"/>
              </a:ext>
            </a:extLst>
          </p:cNvPr>
          <p:cNvSpPr/>
          <p:nvPr/>
        </p:nvSpPr>
        <p:spPr>
          <a:xfrm>
            <a:off x="952500" y="4191000"/>
            <a:ext cx="3175000" cy="1333500"/>
          </a:xfrm>
          <a:prstGeom prst="round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53517DE-32E2-401A-55CD-4EDA67AAD110}"/>
              </a:ext>
            </a:extLst>
          </p:cNvPr>
          <p:cNvSpPr txBox="1"/>
          <p:nvPr/>
        </p:nvSpPr>
        <p:spPr>
          <a:xfrm>
            <a:off x="1206500" y="4406900"/>
            <a:ext cx="2667000" cy="276999"/>
          </a:xfrm>
          <a:prstGeom prst="rect">
            <a:avLst/>
          </a:prstGeom>
          <a:noFill/>
        </p:spPr>
        <p:txBody>
          <a:bodyPr vert="horz" wrap="square" lIns="0" tIns="0" rIns="0" bIns="0" rtlCol="0" anchor="t">
            <a:noAutofit/>
          </a:bodyPr>
          <a:lstStyle/>
          <a:p>
            <a:pPr algn="ctr"/>
            <a:r>
              <a:rPr kumimoji="1" lang="ja-JP" altLang="en-US" sz="1900" b="1">
                <a:solidFill>
                  <a:srgbClr val="2E7D32"/>
                </a:solidFill>
                <a:latin typeface="Yu Gothic" panose="020B0400000000000000" pitchFamily="50" charset="-128"/>
                <a:ea typeface="Yu Gothic" panose="020B0400000000000000" pitchFamily="50" charset="-128"/>
              </a:rPr>
              <a:t>患者リーケージ </a:t>
            </a:r>
            <a:r>
              <a:rPr kumimoji="1" lang="en-US" altLang="ja-JP" sz="1900" b="1">
                <a:solidFill>
                  <a:srgbClr val="2E7D32"/>
                </a:solidFill>
                <a:latin typeface="Yu Gothic" panose="020B0400000000000000" pitchFamily="50" charset="-128"/>
                <a:ea typeface="Yu Gothic" panose="020B0400000000000000" pitchFamily="50" charset="-128"/>
              </a:rPr>
              <a:t>0</a:t>
            </a:r>
            <a:endParaRPr kumimoji="1" lang="ja-JP" altLang="en-US" sz="1900" b="1">
              <a:solidFill>
                <a:srgbClr val="2E7D32"/>
              </a:solidFill>
              <a:latin typeface="Yu Gothic" panose="020B0400000000000000" pitchFamily="50" charset="-128"/>
              <a:ea typeface="Yu Gothic" panose="020B0400000000000000" pitchFamily="50" charset="-128"/>
            </a:endParaRPr>
          </a:p>
        </p:txBody>
      </p:sp>
      <p:sp>
        <p:nvSpPr>
          <p:cNvPr id="22" name="テキスト ボックス 21">
            <a:extLst>
              <a:ext uri="{FF2B5EF4-FFF2-40B4-BE49-F238E27FC236}">
                <a16:creationId xmlns:a16="http://schemas.microsoft.com/office/drawing/2014/main" id="{C8EC0497-7517-1332-C33C-AFF17C2B9843}"/>
              </a:ext>
            </a:extLst>
          </p:cNvPr>
          <p:cNvSpPr txBox="1"/>
          <p:nvPr/>
        </p:nvSpPr>
        <p:spPr>
          <a:xfrm>
            <a:off x="1206500" y="4914900"/>
            <a:ext cx="2667000" cy="276999"/>
          </a:xfrm>
          <a:prstGeom prst="rect">
            <a:avLst/>
          </a:prstGeom>
          <a:noFill/>
        </p:spPr>
        <p:txBody>
          <a:bodyPr vert="horz" wrap="square" lIns="0" tIns="0" rIns="0" bIns="0" rtlCol="0" anchor="t">
            <a:noAutofit/>
          </a:bodyPr>
          <a:lstStyle/>
          <a:p>
            <a:pPr algn="ctr"/>
            <a:r>
              <a:rPr kumimoji="1" lang="ja-JP" altLang="en-US" sz="1200">
                <a:solidFill>
                  <a:srgbClr val="242424"/>
                </a:solidFill>
                <a:latin typeface="Yu Gothic" panose="020B0400000000000000" pitchFamily="50" charset="-128"/>
                <a:ea typeface="Yu Gothic" panose="020B0400000000000000" pitchFamily="50" charset="-128"/>
              </a:rPr>
              <a:t>同一患者は</a:t>
            </a:r>
            <a:r>
              <a:rPr kumimoji="1" lang="en-US" altLang="ja-JP" sz="1200">
                <a:solidFill>
                  <a:srgbClr val="242424"/>
                </a:solidFill>
                <a:latin typeface="Yu Gothic" panose="020B0400000000000000" pitchFamily="50" charset="-128"/>
                <a:ea typeface="Yu Gothic" panose="020B0400000000000000" pitchFamily="50" charset="-128"/>
              </a:rPr>
              <a:t>fold</a:t>
            </a:r>
            <a:r>
              <a:rPr kumimoji="1" lang="ja-JP" altLang="en-US" sz="1200">
                <a:solidFill>
                  <a:srgbClr val="242424"/>
                </a:solidFill>
                <a:latin typeface="Yu Gothic" panose="020B0400000000000000" pitchFamily="50" charset="-128"/>
                <a:ea typeface="Yu Gothic" panose="020B0400000000000000" pitchFamily="50" charset="-128"/>
              </a:rPr>
              <a:t>をまたがない</a:t>
            </a:r>
          </a:p>
        </p:txBody>
      </p:sp>
      <p:sp>
        <p:nvSpPr>
          <p:cNvPr id="23" name="四角形: 角を丸くする 22">
            <a:extLst>
              <a:ext uri="{FF2B5EF4-FFF2-40B4-BE49-F238E27FC236}">
                <a16:creationId xmlns:a16="http://schemas.microsoft.com/office/drawing/2014/main" id="{6FB163F7-C422-C2F5-7E00-7738A05DA96B}"/>
              </a:ext>
            </a:extLst>
          </p:cNvPr>
          <p:cNvSpPr/>
          <p:nvPr/>
        </p:nvSpPr>
        <p:spPr>
          <a:xfrm>
            <a:off x="4508500" y="4191000"/>
            <a:ext cx="3175000" cy="13335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20E57B0C-97EE-F674-4A53-A29550FA00B3}"/>
              </a:ext>
            </a:extLst>
          </p:cNvPr>
          <p:cNvSpPr txBox="1"/>
          <p:nvPr/>
        </p:nvSpPr>
        <p:spPr>
          <a:xfrm>
            <a:off x="4762500" y="4406900"/>
            <a:ext cx="2667000" cy="276999"/>
          </a:xfrm>
          <a:prstGeom prst="rect">
            <a:avLst/>
          </a:prstGeom>
          <a:noFill/>
        </p:spPr>
        <p:txBody>
          <a:bodyPr vert="horz" wrap="square" lIns="0" tIns="0" rIns="0" bIns="0" rtlCol="0" anchor="t">
            <a:noAutofit/>
          </a:bodyPr>
          <a:lstStyle/>
          <a:p>
            <a:pPr algn="ctr"/>
            <a:r>
              <a:rPr kumimoji="1" lang="en-US" altLang="ja-JP" sz="1900" b="1">
                <a:solidFill>
                  <a:srgbClr val="2F6690"/>
                </a:solidFill>
                <a:latin typeface="Yu Gothic" panose="020B0400000000000000" pitchFamily="50" charset="-128"/>
                <a:ea typeface="Yu Gothic" panose="020B0400000000000000" pitchFamily="50" charset="-128"/>
              </a:rPr>
              <a:t>OOF</a:t>
            </a:r>
            <a:r>
              <a:rPr kumimoji="1" lang="ja-JP" altLang="en-US" sz="1900" b="1">
                <a:solidFill>
                  <a:srgbClr val="2F6690"/>
                </a:solidFill>
                <a:latin typeface="Yu Gothic" panose="020B0400000000000000" pitchFamily="50" charset="-128"/>
                <a:ea typeface="Yu Gothic" panose="020B0400000000000000" pitchFamily="50" charset="-128"/>
              </a:rPr>
              <a:t>予測 </a:t>
            </a:r>
            <a:r>
              <a:rPr kumimoji="1" lang="en-US" altLang="ja-JP" sz="1900" b="1">
                <a:solidFill>
                  <a:srgbClr val="2F6690"/>
                </a:solidFill>
                <a:latin typeface="Yu Gothic" panose="020B0400000000000000" pitchFamily="50" charset="-128"/>
                <a:ea typeface="Yu Gothic" panose="020B0400000000000000" pitchFamily="50" charset="-128"/>
              </a:rPr>
              <a:t>1,154</a:t>
            </a:r>
            <a:r>
              <a:rPr kumimoji="1" lang="ja-JP" altLang="en-US" sz="1900" b="1">
                <a:solidFill>
                  <a:srgbClr val="2F6690"/>
                </a:solidFill>
                <a:latin typeface="Yu Gothic" panose="020B0400000000000000" pitchFamily="50" charset="-128"/>
                <a:ea typeface="Yu Gothic" panose="020B0400000000000000" pitchFamily="50" charset="-128"/>
              </a:rPr>
              <a:t>名</a:t>
            </a:r>
          </a:p>
        </p:txBody>
      </p:sp>
      <p:sp>
        <p:nvSpPr>
          <p:cNvPr id="25" name="テキスト ボックス 24">
            <a:extLst>
              <a:ext uri="{FF2B5EF4-FFF2-40B4-BE49-F238E27FC236}">
                <a16:creationId xmlns:a16="http://schemas.microsoft.com/office/drawing/2014/main" id="{E241B3A9-378C-51EC-BA81-9EF3702193E4}"/>
              </a:ext>
            </a:extLst>
          </p:cNvPr>
          <p:cNvSpPr txBox="1"/>
          <p:nvPr/>
        </p:nvSpPr>
        <p:spPr>
          <a:xfrm>
            <a:off x="4762500" y="4914900"/>
            <a:ext cx="2667000" cy="276999"/>
          </a:xfrm>
          <a:prstGeom prst="rect">
            <a:avLst/>
          </a:prstGeom>
          <a:noFill/>
        </p:spPr>
        <p:txBody>
          <a:bodyPr vert="horz" wrap="square" lIns="0" tIns="0" rIns="0" bIns="0" rtlCol="0" anchor="t">
            <a:noAutofit/>
          </a:bodyPr>
          <a:lstStyle/>
          <a:p>
            <a:pPr algn="ctr"/>
            <a:r>
              <a:rPr kumimoji="1" lang="ja-JP" altLang="en-US" sz="1200">
                <a:solidFill>
                  <a:srgbClr val="242424"/>
                </a:solidFill>
                <a:latin typeface="Yu Gothic" panose="020B0400000000000000" pitchFamily="50" charset="-128"/>
                <a:ea typeface="Yu Gothic" panose="020B0400000000000000" pitchFamily="50" charset="-128"/>
              </a:rPr>
              <a:t>全患者が検証に</a:t>
            </a:r>
            <a:r>
              <a:rPr kumimoji="1" lang="en-US" altLang="ja-JP" sz="1200">
                <a:solidFill>
                  <a:srgbClr val="242424"/>
                </a:solidFill>
                <a:latin typeface="Yu Gothic" panose="020B0400000000000000" pitchFamily="50" charset="-128"/>
                <a:ea typeface="Yu Gothic" panose="020B0400000000000000" pitchFamily="50" charset="-128"/>
              </a:rPr>
              <a:t>1</a:t>
            </a:r>
            <a:r>
              <a:rPr kumimoji="1" lang="ja-JP" altLang="en-US" sz="1200">
                <a:solidFill>
                  <a:srgbClr val="242424"/>
                </a:solidFill>
                <a:latin typeface="Yu Gothic" panose="020B0400000000000000" pitchFamily="50" charset="-128"/>
                <a:ea typeface="Yu Gothic" panose="020B0400000000000000" pitchFamily="50" charset="-128"/>
              </a:rPr>
              <a:t>回だけ登場</a:t>
            </a:r>
          </a:p>
        </p:txBody>
      </p:sp>
      <p:sp>
        <p:nvSpPr>
          <p:cNvPr id="26" name="四角形: 角を丸くする 25">
            <a:extLst>
              <a:ext uri="{FF2B5EF4-FFF2-40B4-BE49-F238E27FC236}">
                <a16:creationId xmlns:a16="http://schemas.microsoft.com/office/drawing/2014/main" id="{A55FF381-AF1F-0403-B462-0A1542AA6B2F}"/>
              </a:ext>
            </a:extLst>
          </p:cNvPr>
          <p:cNvSpPr/>
          <p:nvPr/>
        </p:nvSpPr>
        <p:spPr>
          <a:xfrm>
            <a:off x="8064500" y="4191000"/>
            <a:ext cx="3175000" cy="1333500"/>
          </a:xfrm>
          <a:prstGeom prst="roundRect">
            <a:avLst/>
          </a:prstGeom>
          <a:solidFill>
            <a:srgbClr val="F2F2F2"/>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20BEF4D3-2D79-390B-12AC-9ED9E7E24E52}"/>
              </a:ext>
            </a:extLst>
          </p:cNvPr>
          <p:cNvSpPr txBox="1"/>
          <p:nvPr/>
        </p:nvSpPr>
        <p:spPr>
          <a:xfrm>
            <a:off x="8318500" y="4406900"/>
            <a:ext cx="2667000" cy="276999"/>
          </a:xfrm>
          <a:prstGeom prst="rect">
            <a:avLst/>
          </a:prstGeom>
          <a:noFill/>
        </p:spPr>
        <p:txBody>
          <a:bodyPr vert="horz" wrap="square" lIns="0" tIns="0" rIns="0" bIns="0" rtlCol="0" anchor="t">
            <a:noAutofit/>
          </a:bodyPr>
          <a:lstStyle/>
          <a:p>
            <a:pPr algn="ctr"/>
            <a:r>
              <a:rPr kumimoji="1" lang="en-US" altLang="ja-JP" sz="1900" b="1">
                <a:solidFill>
                  <a:srgbClr val="1F3C59"/>
                </a:solidFill>
                <a:latin typeface="Yu Gothic" panose="020B0400000000000000" pitchFamily="50" charset="-128"/>
                <a:ea typeface="Yu Gothic" panose="020B0400000000000000" pitchFamily="50" charset="-128"/>
              </a:rPr>
              <a:t>paired bootstrap</a:t>
            </a:r>
            <a:endParaRPr kumimoji="1" lang="ja-JP" altLang="en-US" sz="1900" b="1">
              <a:solidFill>
                <a:srgbClr val="1F3C59"/>
              </a:solidFill>
              <a:latin typeface="Yu Gothic" panose="020B0400000000000000" pitchFamily="50" charset="-128"/>
              <a:ea typeface="Yu Gothic" panose="020B0400000000000000" pitchFamily="50" charset="-128"/>
            </a:endParaRPr>
          </a:p>
        </p:txBody>
      </p:sp>
      <p:sp>
        <p:nvSpPr>
          <p:cNvPr id="28" name="テキスト ボックス 27">
            <a:extLst>
              <a:ext uri="{FF2B5EF4-FFF2-40B4-BE49-F238E27FC236}">
                <a16:creationId xmlns:a16="http://schemas.microsoft.com/office/drawing/2014/main" id="{A3CF9503-D781-8684-FB7D-A526F0770CAD}"/>
              </a:ext>
            </a:extLst>
          </p:cNvPr>
          <p:cNvSpPr txBox="1"/>
          <p:nvPr/>
        </p:nvSpPr>
        <p:spPr>
          <a:xfrm>
            <a:off x="8318500" y="4914900"/>
            <a:ext cx="2667000" cy="276999"/>
          </a:xfrm>
          <a:prstGeom prst="rect">
            <a:avLst/>
          </a:prstGeom>
          <a:noFill/>
        </p:spPr>
        <p:txBody>
          <a:bodyPr vert="horz" wrap="square" lIns="0" tIns="0" rIns="0" bIns="0" rtlCol="0" anchor="t">
            <a:noAutofit/>
          </a:bodyPr>
          <a:lstStyle/>
          <a:p>
            <a:pPr algn="ctr"/>
            <a:r>
              <a:rPr kumimoji="1" lang="en-US" altLang="ja-JP" sz="1200">
                <a:solidFill>
                  <a:srgbClr val="242424"/>
                </a:solidFill>
                <a:latin typeface="Yu Gothic" panose="020B0400000000000000" pitchFamily="50" charset="-128"/>
                <a:ea typeface="Yu Gothic" panose="020B0400000000000000" pitchFamily="50" charset="-128"/>
              </a:rPr>
              <a:t>10,000</a:t>
            </a:r>
            <a:r>
              <a:rPr kumimoji="1" lang="ja-JP" altLang="en-US" sz="1200">
                <a:solidFill>
                  <a:srgbClr val="242424"/>
                </a:solidFill>
                <a:latin typeface="Yu Gothic" panose="020B0400000000000000" pitchFamily="50" charset="-128"/>
                <a:ea typeface="Yu Gothic" panose="020B0400000000000000" pitchFamily="50" charset="-128"/>
              </a:rPr>
              <a:t>回・</a:t>
            </a:r>
            <a:r>
              <a:rPr kumimoji="1" lang="en-US" altLang="ja-JP" sz="1200">
                <a:solidFill>
                  <a:srgbClr val="242424"/>
                </a:solidFill>
                <a:latin typeface="Yu Gothic" panose="020B0400000000000000" pitchFamily="50" charset="-128"/>
                <a:ea typeface="Yu Gothic" panose="020B0400000000000000" pitchFamily="50" charset="-128"/>
              </a:rPr>
              <a:t>95%</a:t>
            </a:r>
            <a:r>
              <a:rPr kumimoji="1" lang="ja-JP" altLang="en-US" sz="1200">
                <a:solidFill>
                  <a:srgbClr val="242424"/>
                </a:solidFill>
                <a:latin typeface="Yu Gothic" panose="020B0400000000000000" pitchFamily="50" charset="-128"/>
                <a:ea typeface="Yu Gothic" panose="020B0400000000000000" pitchFamily="50" charset="-128"/>
              </a:rPr>
              <a:t>信頼区間</a:t>
            </a:r>
          </a:p>
        </p:txBody>
      </p:sp>
      <p:sp>
        <p:nvSpPr>
          <p:cNvPr id="29" name="テキスト ボックス 28">
            <a:extLst>
              <a:ext uri="{FF2B5EF4-FFF2-40B4-BE49-F238E27FC236}">
                <a16:creationId xmlns:a16="http://schemas.microsoft.com/office/drawing/2014/main" id="{D64EDBA3-60D2-FC05-8520-89C1693AA2E7}"/>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StratifiedKFold, random_state=1</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30" name="テキスト ボックス 29">
            <a:extLst>
              <a:ext uri="{FF2B5EF4-FFF2-40B4-BE49-F238E27FC236}">
                <a16:creationId xmlns:a16="http://schemas.microsoft.com/office/drawing/2014/main" id="{0DF82889-C0B4-18D9-EA9D-83D9B82B9BCF}"/>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1:30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31" name="テキスト ボックス 30">
            <a:extLst>
              <a:ext uri="{FF2B5EF4-FFF2-40B4-BE49-F238E27FC236}">
                <a16:creationId xmlns:a16="http://schemas.microsoft.com/office/drawing/2014/main" id="{B3939F3F-4FFB-03D4-CF5C-F766CD54C089}"/>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6</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1719889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43DEE15-6AF5-1F94-A525-B4E93378A77E}"/>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METHOD</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A6E54573-73B7-3566-D998-1E6750A9D2AA}"/>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比較モデルと患者単位集約</a:t>
            </a:r>
          </a:p>
        </p:txBody>
      </p:sp>
      <p:cxnSp>
        <p:nvCxnSpPr>
          <p:cNvPr id="4" name="直線コネクタ 3">
            <a:extLst>
              <a:ext uri="{FF2B5EF4-FFF2-40B4-BE49-F238E27FC236}">
                <a16:creationId xmlns:a16="http://schemas.microsoft.com/office/drawing/2014/main" id="{C7C9891E-5ACC-A513-4C17-C3B7021369B0}"/>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7347D33E-84CB-C013-8933-779A227276EA}"/>
              </a:ext>
            </a:extLst>
          </p:cNvPr>
          <p:cNvSpPr/>
          <p:nvPr/>
        </p:nvSpPr>
        <p:spPr>
          <a:xfrm>
            <a:off x="762000" y="1524000"/>
            <a:ext cx="3238500" cy="1841500"/>
          </a:xfrm>
          <a:prstGeom prst="roundRect">
            <a:avLst/>
          </a:prstGeom>
          <a:solidFill>
            <a:srgbClr val="F2F2F2"/>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714E4BA-231C-623D-A26D-1255C7D63AE2}"/>
              </a:ext>
            </a:extLst>
          </p:cNvPr>
          <p:cNvSpPr txBox="1"/>
          <p:nvPr/>
        </p:nvSpPr>
        <p:spPr>
          <a:xfrm>
            <a:off x="1079500" y="1803400"/>
            <a:ext cx="2603500" cy="276999"/>
          </a:xfrm>
          <a:prstGeom prst="rect">
            <a:avLst/>
          </a:prstGeom>
          <a:noFill/>
        </p:spPr>
        <p:txBody>
          <a:bodyPr vert="horz" wrap="square" lIns="0" tIns="0" rIns="0" bIns="0" rtlCol="0" anchor="t">
            <a:noAutofit/>
          </a:bodyPr>
          <a:lstStyle/>
          <a:p>
            <a:pPr algn="ctr"/>
            <a:r>
              <a:rPr kumimoji="1" lang="en-US" altLang="ja-JP" sz="1600" b="1">
                <a:solidFill>
                  <a:srgbClr val="666666"/>
                </a:solidFill>
                <a:latin typeface="Yu Gothic" panose="020B0400000000000000" pitchFamily="50" charset="-128"/>
                <a:ea typeface="Yu Gothic" panose="020B0400000000000000" pitchFamily="50" charset="-128"/>
              </a:rPr>
              <a:t>CNN</a:t>
            </a:r>
            <a:endParaRPr kumimoji="1" lang="ja-JP" altLang="en-US" sz="1600" b="1">
              <a:solidFill>
                <a:srgbClr val="666666"/>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E65B0B4D-0D01-11E8-7ED3-CBF0550DCBD6}"/>
              </a:ext>
            </a:extLst>
          </p:cNvPr>
          <p:cNvSpPr txBox="1"/>
          <p:nvPr/>
        </p:nvSpPr>
        <p:spPr>
          <a:xfrm>
            <a:off x="1079500" y="2349500"/>
            <a:ext cx="2603500" cy="276999"/>
          </a:xfrm>
          <a:prstGeom prst="rect">
            <a:avLst/>
          </a:prstGeom>
          <a:noFill/>
        </p:spPr>
        <p:txBody>
          <a:bodyPr vert="horz" wrap="square" lIns="0" tIns="0" rIns="0" bIns="0" rtlCol="0" anchor="t">
            <a:noAutofit/>
          </a:bodyPr>
          <a:lstStyle/>
          <a:p>
            <a:pPr algn="ctr"/>
            <a:r>
              <a:rPr kumimoji="1" lang="en-US" altLang="ja-JP" sz="2700" b="1">
                <a:solidFill>
                  <a:srgbClr val="242424"/>
                </a:solidFill>
                <a:latin typeface="Yu Gothic" panose="020B0400000000000000" pitchFamily="50" charset="-128"/>
                <a:ea typeface="Yu Gothic" panose="020B0400000000000000" pitchFamily="50" charset="-128"/>
              </a:rPr>
              <a:t>ResNet18</a:t>
            </a:r>
            <a:endParaRPr kumimoji="1" lang="ja-JP" altLang="en-US" sz="2700" b="1">
              <a:solidFill>
                <a:srgbClr val="242424"/>
              </a:solidFill>
              <a:latin typeface="Yu Gothic" panose="020B0400000000000000" pitchFamily="50" charset="-128"/>
              <a:ea typeface="Yu Gothic" panose="020B0400000000000000" pitchFamily="50" charset="-128"/>
            </a:endParaRPr>
          </a:p>
        </p:txBody>
      </p:sp>
      <p:sp>
        <p:nvSpPr>
          <p:cNvPr id="8" name="四角形: 角を丸くする 7">
            <a:extLst>
              <a:ext uri="{FF2B5EF4-FFF2-40B4-BE49-F238E27FC236}">
                <a16:creationId xmlns:a16="http://schemas.microsoft.com/office/drawing/2014/main" id="{2BA4FA25-8BAC-0224-2B00-D579D758EF09}"/>
              </a:ext>
            </a:extLst>
          </p:cNvPr>
          <p:cNvSpPr/>
          <p:nvPr/>
        </p:nvSpPr>
        <p:spPr>
          <a:xfrm>
            <a:off x="8191500" y="1524000"/>
            <a:ext cx="3238500" cy="18415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C17CC17-9AE9-5EFB-8B05-22F6ADF954D8}"/>
              </a:ext>
            </a:extLst>
          </p:cNvPr>
          <p:cNvSpPr txBox="1"/>
          <p:nvPr/>
        </p:nvSpPr>
        <p:spPr>
          <a:xfrm>
            <a:off x="8509000" y="1803400"/>
            <a:ext cx="2603500" cy="276999"/>
          </a:xfrm>
          <a:prstGeom prst="rect">
            <a:avLst/>
          </a:prstGeom>
          <a:noFill/>
        </p:spPr>
        <p:txBody>
          <a:bodyPr vert="horz" wrap="square" lIns="0" tIns="0" rIns="0" bIns="0" rtlCol="0" anchor="t">
            <a:noAutofit/>
          </a:bodyPr>
          <a:lstStyle/>
          <a:p>
            <a:pPr algn="ctr"/>
            <a:r>
              <a:rPr kumimoji="1" lang="en-US" altLang="ja-JP" sz="1600" b="1">
                <a:solidFill>
                  <a:srgbClr val="2F6690"/>
                </a:solidFill>
                <a:latin typeface="Yu Gothic" panose="020B0400000000000000" pitchFamily="50" charset="-128"/>
                <a:ea typeface="Yu Gothic" panose="020B0400000000000000" pitchFamily="50" charset="-128"/>
              </a:rPr>
              <a:t>ViT</a:t>
            </a:r>
            <a:endParaRPr kumimoji="1" lang="ja-JP" altLang="en-US" sz="1600" b="1">
              <a:solidFill>
                <a:srgbClr val="2F6690"/>
              </a:solidFill>
              <a:latin typeface="Yu Gothic" panose="020B0400000000000000" pitchFamily="50" charset="-128"/>
              <a:ea typeface="Yu Gothic" panose="020B0400000000000000" pitchFamily="50" charset="-128"/>
            </a:endParaRPr>
          </a:p>
        </p:txBody>
      </p:sp>
      <p:sp>
        <p:nvSpPr>
          <p:cNvPr id="10" name="テキスト ボックス 9">
            <a:extLst>
              <a:ext uri="{FF2B5EF4-FFF2-40B4-BE49-F238E27FC236}">
                <a16:creationId xmlns:a16="http://schemas.microsoft.com/office/drawing/2014/main" id="{A2162E9C-1AD1-5C07-C120-50C4CC35C0A7}"/>
              </a:ext>
            </a:extLst>
          </p:cNvPr>
          <p:cNvSpPr txBox="1"/>
          <p:nvPr/>
        </p:nvSpPr>
        <p:spPr>
          <a:xfrm>
            <a:off x="8509000" y="2286000"/>
            <a:ext cx="2603500" cy="276999"/>
          </a:xfrm>
          <a:prstGeom prst="rect">
            <a:avLst/>
          </a:prstGeom>
          <a:noFill/>
        </p:spPr>
        <p:txBody>
          <a:bodyPr vert="horz" wrap="square" lIns="0" tIns="0" rIns="0" bIns="0" rtlCol="0" anchor="t">
            <a:noAutofit/>
          </a:bodyPr>
          <a:lstStyle/>
          <a:p>
            <a:pPr algn="ctr"/>
            <a:r>
              <a:rPr kumimoji="1" lang="en-US" altLang="ja-JP" sz="2300" b="1">
                <a:solidFill>
                  <a:srgbClr val="1F3C59"/>
                </a:solidFill>
                <a:latin typeface="Yu Gothic" panose="020B0400000000000000" pitchFamily="50" charset="-128"/>
                <a:ea typeface="Yu Gothic" panose="020B0400000000000000" pitchFamily="50" charset="-128"/>
              </a:rPr>
              <a:t>DeiT-small
patch16 / 224</a:t>
            </a:r>
            <a:endParaRPr kumimoji="1" lang="ja-JP" altLang="en-US" sz="2300" b="1">
              <a:solidFill>
                <a:srgbClr val="1F3C59"/>
              </a:solidFill>
              <a:latin typeface="Yu Gothic" panose="020B0400000000000000" pitchFamily="50" charset="-128"/>
              <a:ea typeface="Yu Gothic" panose="020B0400000000000000" pitchFamily="50" charset="-128"/>
            </a:endParaRPr>
          </a:p>
        </p:txBody>
      </p:sp>
      <p:sp>
        <p:nvSpPr>
          <p:cNvPr id="11" name="テキスト ボックス 10">
            <a:extLst>
              <a:ext uri="{FF2B5EF4-FFF2-40B4-BE49-F238E27FC236}">
                <a16:creationId xmlns:a16="http://schemas.microsoft.com/office/drawing/2014/main" id="{7FC1295D-540F-0368-A938-77A5B7AD2A39}"/>
              </a:ext>
            </a:extLst>
          </p:cNvPr>
          <p:cNvSpPr txBox="1"/>
          <p:nvPr/>
        </p:nvSpPr>
        <p:spPr>
          <a:xfrm>
            <a:off x="5016500" y="1778000"/>
            <a:ext cx="2159000" cy="276999"/>
          </a:xfrm>
          <a:prstGeom prst="rect">
            <a:avLst/>
          </a:prstGeom>
          <a:noFill/>
        </p:spPr>
        <p:txBody>
          <a:bodyPr vert="horz" wrap="square" lIns="0" tIns="0" rIns="0" bIns="0" rtlCol="0" anchor="t">
            <a:noAutofit/>
          </a:bodyPr>
          <a:lstStyle/>
          <a:p>
            <a:pPr algn="ctr"/>
            <a:r>
              <a:rPr kumimoji="1" lang="ja-JP" altLang="en-US" sz="1700" b="1">
                <a:solidFill>
                  <a:srgbClr val="C0392B"/>
                </a:solidFill>
                <a:latin typeface="Yu Gothic" panose="020B0400000000000000" pitchFamily="50" charset="-128"/>
                <a:ea typeface="Yu Gothic" panose="020B0400000000000000" pitchFamily="50" charset="-128"/>
              </a:rPr>
              <a:t>同一条件</a:t>
            </a:r>
          </a:p>
        </p:txBody>
      </p:sp>
      <p:sp>
        <p:nvSpPr>
          <p:cNvPr id="12" name="テキスト ボックス 11">
            <a:extLst>
              <a:ext uri="{FF2B5EF4-FFF2-40B4-BE49-F238E27FC236}">
                <a16:creationId xmlns:a16="http://schemas.microsoft.com/office/drawing/2014/main" id="{0270FDCF-06CC-0F97-9424-890EF3C79E1C}"/>
              </a:ext>
            </a:extLst>
          </p:cNvPr>
          <p:cNvSpPr txBox="1"/>
          <p:nvPr/>
        </p:nvSpPr>
        <p:spPr>
          <a:xfrm>
            <a:off x="5016500" y="2260600"/>
            <a:ext cx="2159000" cy="276999"/>
          </a:xfrm>
          <a:prstGeom prst="rect">
            <a:avLst/>
          </a:prstGeom>
          <a:noFill/>
        </p:spPr>
        <p:txBody>
          <a:bodyPr vert="horz" wrap="square" lIns="0" tIns="0" rIns="0" bIns="0" rtlCol="0" anchor="t">
            <a:noAutofit/>
          </a:bodyPr>
          <a:lstStyle/>
          <a:p>
            <a:pPr algn="ctr"/>
            <a:r>
              <a:rPr kumimoji="1" lang="en-US" altLang="ja-JP" sz="1400">
                <a:solidFill>
                  <a:srgbClr val="242424"/>
                </a:solidFill>
                <a:latin typeface="Yu Gothic" panose="020B0400000000000000" pitchFamily="50" charset="-128"/>
                <a:ea typeface="Yu Gothic" panose="020B0400000000000000" pitchFamily="50" charset="-128"/>
              </a:rPr>
              <a:t>224×224
30 epoch
AdamW / 3×10⁻⁵
</a:t>
            </a:r>
            <a:r>
              <a:rPr kumimoji="1" lang="ja-JP" altLang="en-US" sz="1400">
                <a:solidFill>
                  <a:srgbClr val="242424"/>
                </a:solidFill>
                <a:latin typeface="Yu Gothic" panose="020B0400000000000000" pitchFamily="50" charset="-128"/>
                <a:ea typeface="Yu Gothic" panose="020B0400000000000000" pitchFamily="50" charset="-128"/>
              </a:rPr>
              <a:t>同一</a:t>
            </a:r>
            <a:r>
              <a:rPr kumimoji="1" lang="en-US" altLang="ja-JP" sz="1400">
                <a:solidFill>
                  <a:srgbClr val="242424"/>
                </a:solidFill>
                <a:latin typeface="Yu Gothic" panose="020B0400000000000000" pitchFamily="50" charset="-128"/>
                <a:ea typeface="Yu Gothic" panose="020B0400000000000000" pitchFamily="50" charset="-128"/>
              </a:rPr>
              <a:t>augmentation</a:t>
            </a:r>
            <a:endParaRPr kumimoji="1" lang="ja-JP" altLang="en-US" sz="1400">
              <a:solidFill>
                <a:srgbClr val="242424"/>
              </a:solidFill>
              <a:latin typeface="Yu Gothic" panose="020B0400000000000000" pitchFamily="50" charset="-128"/>
              <a:ea typeface="Yu Gothic" panose="020B0400000000000000" pitchFamily="50" charset="-128"/>
            </a:endParaRPr>
          </a:p>
        </p:txBody>
      </p:sp>
      <p:cxnSp>
        <p:nvCxnSpPr>
          <p:cNvPr id="13" name="直線コネクタ 12">
            <a:extLst>
              <a:ext uri="{FF2B5EF4-FFF2-40B4-BE49-F238E27FC236}">
                <a16:creationId xmlns:a16="http://schemas.microsoft.com/office/drawing/2014/main" id="{9287C18D-7552-4996-A9CB-F42FBDF7F4C6}"/>
              </a:ext>
            </a:extLst>
          </p:cNvPr>
          <p:cNvCxnSpPr/>
          <p:nvPr/>
        </p:nvCxnSpPr>
        <p:spPr>
          <a:xfrm>
            <a:off x="2413000" y="3619500"/>
            <a:ext cx="7366000" cy="0"/>
          </a:xfrm>
          <a:prstGeom prst="line">
            <a:avLst/>
          </a:prstGeom>
          <a:ln w="25400">
            <a:solidFill>
              <a:srgbClr val="2F6690"/>
            </a:solidFill>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3B5257F8-A9F6-65E9-B408-D2722C78EF40}"/>
              </a:ext>
            </a:extLst>
          </p:cNvPr>
          <p:cNvSpPr txBox="1"/>
          <p:nvPr/>
        </p:nvSpPr>
        <p:spPr>
          <a:xfrm>
            <a:off x="1016000" y="4013200"/>
            <a:ext cx="2921000" cy="276999"/>
          </a:xfrm>
          <a:prstGeom prst="rect">
            <a:avLst/>
          </a:prstGeom>
          <a:noFill/>
        </p:spPr>
        <p:txBody>
          <a:bodyPr vert="horz" wrap="square" lIns="0" tIns="0" rIns="0" bIns="0" rtlCol="0" anchor="t">
            <a:noAutofit/>
          </a:bodyPr>
          <a:lstStyle/>
          <a:p>
            <a:pPr algn="ctr"/>
            <a:r>
              <a:rPr kumimoji="1" lang="ja-JP" altLang="en-US" sz="1700" b="1">
                <a:solidFill>
                  <a:srgbClr val="1F3C59"/>
                </a:solidFill>
                <a:latin typeface="Yu Gothic" panose="020B0400000000000000" pitchFamily="50" charset="-128"/>
                <a:ea typeface="Yu Gothic" panose="020B0400000000000000" pitchFamily="50" charset="-128"/>
              </a:rPr>
              <a:t>各患者の全スライスを推論</a:t>
            </a:r>
          </a:p>
        </p:txBody>
      </p:sp>
      <p:sp>
        <p:nvSpPr>
          <p:cNvPr id="15" name="テキスト ボックス 14">
            <a:extLst>
              <a:ext uri="{FF2B5EF4-FFF2-40B4-BE49-F238E27FC236}">
                <a16:creationId xmlns:a16="http://schemas.microsoft.com/office/drawing/2014/main" id="{992A10C7-3853-5913-0BD9-FB4C17B4A6B5}"/>
              </a:ext>
            </a:extLst>
          </p:cNvPr>
          <p:cNvSpPr txBox="1"/>
          <p:nvPr/>
        </p:nvSpPr>
        <p:spPr>
          <a:xfrm>
            <a:off x="4064000" y="4064000"/>
            <a:ext cx="571500" cy="276999"/>
          </a:xfrm>
          <a:prstGeom prst="rect">
            <a:avLst/>
          </a:prstGeom>
          <a:noFill/>
        </p:spPr>
        <p:txBody>
          <a:bodyPr vert="horz" wrap="square" lIns="0" tIns="0" rIns="0" bIns="0" rtlCol="0" anchor="t">
            <a:noAutofit/>
          </a:bodyPr>
          <a:lstStyle/>
          <a:p>
            <a:pPr algn="ctr"/>
            <a:r>
              <a:rPr kumimoji="1" lang="ja-JP" altLang="en-US" sz="2000" b="1">
                <a:solidFill>
                  <a:srgbClr val="2F6690"/>
                </a:solidFill>
                <a:latin typeface="Yu Gothic" panose="020B0400000000000000" pitchFamily="50" charset="-128"/>
                <a:ea typeface="Yu Gothic" panose="020B0400000000000000" pitchFamily="50" charset="-128"/>
              </a:rPr>
              <a:t>→</a:t>
            </a:r>
          </a:p>
        </p:txBody>
      </p:sp>
      <p:sp>
        <p:nvSpPr>
          <p:cNvPr id="16" name="テキスト ボックス 15">
            <a:extLst>
              <a:ext uri="{FF2B5EF4-FFF2-40B4-BE49-F238E27FC236}">
                <a16:creationId xmlns:a16="http://schemas.microsoft.com/office/drawing/2014/main" id="{5CEE6E3E-547A-683D-6E8A-4F4773D7366A}"/>
              </a:ext>
            </a:extLst>
          </p:cNvPr>
          <p:cNvSpPr txBox="1"/>
          <p:nvPr/>
        </p:nvSpPr>
        <p:spPr>
          <a:xfrm>
            <a:off x="4635500" y="4013200"/>
            <a:ext cx="2921000" cy="276999"/>
          </a:xfrm>
          <a:prstGeom prst="rect">
            <a:avLst/>
          </a:prstGeom>
          <a:noFill/>
        </p:spPr>
        <p:txBody>
          <a:bodyPr vert="horz" wrap="square" lIns="0" tIns="0" rIns="0" bIns="0" rtlCol="0" anchor="t">
            <a:noAutofit/>
          </a:bodyPr>
          <a:lstStyle/>
          <a:p>
            <a:pPr algn="ctr"/>
            <a:r>
              <a:rPr kumimoji="1" lang="ja-JP" altLang="en-US" sz="1700" b="1">
                <a:solidFill>
                  <a:srgbClr val="1F3C59"/>
                </a:solidFill>
                <a:latin typeface="Yu Gothic" panose="020B0400000000000000" pitchFamily="50" charset="-128"/>
                <a:ea typeface="Yu Gothic" panose="020B0400000000000000" pitchFamily="50" charset="-128"/>
              </a:rPr>
              <a:t>確信度上位</a:t>
            </a:r>
            <a:r>
              <a:rPr kumimoji="1" lang="en-US" altLang="ja-JP" sz="1700" b="1">
                <a:solidFill>
                  <a:srgbClr val="1F3C59"/>
                </a:solidFill>
                <a:latin typeface="Yu Gothic" panose="020B0400000000000000" pitchFamily="50" charset="-128"/>
                <a:ea typeface="Yu Gothic" panose="020B0400000000000000" pitchFamily="50" charset="-128"/>
              </a:rPr>
              <a:t>5</a:t>
            </a:r>
            <a:r>
              <a:rPr kumimoji="1" lang="ja-JP" altLang="en-US" sz="1700" b="1">
                <a:solidFill>
                  <a:srgbClr val="1F3C59"/>
                </a:solidFill>
                <a:latin typeface="Yu Gothic" panose="020B0400000000000000" pitchFamily="50" charset="-128"/>
                <a:ea typeface="Yu Gothic" panose="020B0400000000000000" pitchFamily="50" charset="-128"/>
              </a:rPr>
              <a:t>枚を選択</a:t>
            </a:r>
          </a:p>
        </p:txBody>
      </p:sp>
      <p:sp>
        <p:nvSpPr>
          <p:cNvPr id="17" name="テキスト ボックス 16">
            <a:extLst>
              <a:ext uri="{FF2B5EF4-FFF2-40B4-BE49-F238E27FC236}">
                <a16:creationId xmlns:a16="http://schemas.microsoft.com/office/drawing/2014/main" id="{2DC00073-5065-C55C-2C61-A9BBD16BE11B}"/>
              </a:ext>
            </a:extLst>
          </p:cNvPr>
          <p:cNvSpPr txBox="1"/>
          <p:nvPr/>
        </p:nvSpPr>
        <p:spPr>
          <a:xfrm>
            <a:off x="7683500" y="4064000"/>
            <a:ext cx="571500" cy="276999"/>
          </a:xfrm>
          <a:prstGeom prst="rect">
            <a:avLst/>
          </a:prstGeom>
          <a:noFill/>
        </p:spPr>
        <p:txBody>
          <a:bodyPr vert="horz" wrap="square" lIns="0" tIns="0" rIns="0" bIns="0" rtlCol="0" anchor="t">
            <a:noAutofit/>
          </a:bodyPr>
          <a:lstStyle/>
          <a:p>
            <a:pPr algn="ctr"/>
            <a:r>
              <a:rPr kumimoji="1" lang="ja-JP" altLang="en-US" sz="2000" b="1">
                <a:solidFill>
                  <a:srgbClr val="2F6690"/>
                </a:solidFill>
                <a:latin typeface="Yu Gothic" panose="020B0400000000000000" pitchFamily="50" charset="-128"/>
                <a:ea typeface="Yu Gothic" panose="020B0400000000000000" pitchFamily="50" charset="-128"/>
              </a:rPr>
              <a:t>→</a:t>
            </a:r>
          </a:p>
        </p:txBody>
      </p:sp>
      <p:sp>
        <p:nvSpPr>
          <p:cNvPr id="18" name="テキスト ボックス 17">
            <a:extLst>
              <a:ext uri="{FF2B5EF4-FFF2-40B4-BE49-F238E27FC236}">
                <a16:creationId xmlns:a16="http://schemas.microsoft.com/office/drawing/2014/main" id="{E71138BA-76CE-78F8-44C0-C822AEB350A3}"/>
              </a:ext>
            </a:extLst>
          </p:cNvPr>
          <p:cNvSpPr txBox="1"/>
          <p:nvPr/>
        </p:nvSpPr>
        <p:spPr>
          <a:xfrm>
            <a:off x="8255000" y="4013200"/>
            <a:ext cx="2921000" cy="276999"/>
          </a:xfrm>
          <a:prstGeom prst="rect">
            <a:avLst/>
          </a:prstGeom>
          <a:noFill/>
        </p:spPr>
        <p:txBody>
          <a:bodyPr vert="horz" wrap="square" lIns="0" tIns="0" rIns="0" bIns="0" rtlCol="0" anchor="t">
            <a:noAutofit/>
          </a:bodyPr>
          <a:lstStyle/>
          <a:p>
            <a:pPr algn="ctr"/>
            <a:r>
              <a:rPr kumimoji="1" lang="ja-JP" altLang="en-US" sz="1700" b="1">
                <a:solidFill>
                  <a:srgbClr val="1F3C59"/>
                </a:solidFill>
                <a:latin typeface="Yu Gothic" panose="020B0400000000000000" pitchFamily="50" charset="-128"/>
                <a:ea typeface="Yu Gothic" panose="020B0400000000000000" pitchFamily="50" charset="-128"/>
              </a:rPr>
              <a:t>確率を平均して患者予測</a:t>
            </a:r>
          </a:p>
        </p:txBody>
      </p:sp>
      <p:sp>
        <p:nvSpPr>
          <p:cNvPr id="19" name="四角形: 角を丸くする 18">
            <a:extLst>
              <a:ext uri="{FF2B5EF4-FFF2-40B4-BE49-F238E27FC236}">
                <a16:creationId xmlns:a16="http://schemas.microsoft.com/office/drawing/2014/main" id="{2070252C-4AF5-D15E-B1D4-F608920EA595}"/>
              </a:ext>
            </a:extLst>
          </p:cNvPr>
          <p:cNvSpPr/>
          <p:nvPr/>
        </p:nvSpPr>
        <p:spPr>
          <a:xfrm>
            <a:off x="1524000" y="4953000"/>
            <a:ext cx="9144000" cy="863600"/>
          </a:xfrm>
          <a:prstGeom prst="round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C9FDBF6-5E06-B485-BB83-ADE80D05D7C7}"/>
              </a:ext>
            </a:extLst>
          </p:cNvPr>
          <p:cNvSpPr txBox="1"/>
          <p:nvPr/>
        </p:nvSpPr>
        <p:spPr>
          <a:xfrm>
            <a:off x="1841500" y="5207000"/>
            <a:ext cx="8509000" cy="276999"/>
          </a:xfrm>
          <a:prstGeom prst="rect">
            <a:avLst/>
          </a:prstGeom>
          <a:noFill/>
        </p:spPr>
        <p:txBody>
          <a:bodyPr vert="horz" wrap="square" lIns="0" tIns="0" rIns="0" bIns="0" rtlCol="0" anchor="t">
            <a:noAutofit/>
          </a:bodyPr>
          <a:lstStyle/>
          <a:p>
            <a:pPr algn="ctr"/>
            <a:r>
              <a:rPr kumimoji="1" lang="ja-JP" altLang="en-US" sz="1700" b="1">
                <a:solidFill>
                  <a:srgbClr val="2E7D32"/>
                </a:solidFill>
                <a:latin typeface="Yu Gothic" panose="020B0400000000000000" pitchFamily="50" charset="-128"/>
                <a:ea typeface="Yu Gothic" panose="020B0400000000000000" pitchFamily="50" charset="-128"/>
              </a:rPr>
              <a:t>全断面を入力しつつ、手動の</a:t>
            </a:r>
            <a:r>
              <a:rPr kumimoji="1" lang="en-US" altLang="ja-JP" sz="1700" b="1">
                <a:solidFill>
                  <a:srgbClr val="2E7D32"/>
                </a:solidFill>
                <a:latin typeface="Yu Gothic" panose="020B0400000000000000" pitchFamily="50" charset="-128"/>
                <a:ea typeface="Yu Gothic" panose="020B0400000000000000" pitchFamily="50" charset="-128"/>
              </a:rPr>
              <a:t>axial</a:t>
            </a:r>
            <a:r>
              <a:rPr kumimoji="1" lang="ja-JP" altLang="en-US" sz="1700" b="1">
                <a:solidFill>
                  <a:srgbClr val="2E7D32"/>
                </a:solidFill>
                <a:latin typeface="Yu Gothic" panose="020B0400000000000000" pitchFamily="50" charset="-128"/>
                <a:ea typeface="Yu Gothic" panose="020B0400000000000000" pitchFamily="50" charset="-128"/>
              </a:rPr>
              <a:t>範囲指定を避ける</a:t>
            </a:r>
          </a:p>
        </p:txBody>
      </p:sp>
      <p:sp>
        <p:nvSpPr>
          <p:cNvPr id="21" name="テキスト ボックス 20">
            <a:extLst>
              <a:ext uri="{FF2B5EF4-FFF2-40B4-BE49-F238E27FC236}">
                <a16:creationId xmlns:a16="http://schemas.microsoft.com/office/drawing/2014/main" id="{66854464-02A9-D665-8E1E-733434AAF651}"/>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Best validation-loss checkpoint / top-5 confidence pooling</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22" name="テキスト ボックス 21">
            <a:extLst>
              <a:ext uri="{FF2B5EF4-FFF2-40B4-BE49-F238E27FC236}">
                <a16:creationId xmlns:a16="http://schemas.microsoft.com/office/drawing/2014/main" id="{E4B57FEF-EA7F-3202-3F52-CFCF414946BB}"/>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1:15</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23" name="テキスト ボックス 22">
            <a:extLst>
              <a:ext uri="{FF2B5EF4-FFF2-40B4-BE49-F238E27FC236}">
                <a16:creationId xmlns:a16="http://schemas.microsoft.com/office/drawing/2014/main" id="{2DA632CF-13B3-836A-0D6D-4AA969530C36}"/>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7</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3945493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D5016A3-3942-9BE7-8EE6-19352A88EC38}"/>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RESULTS</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BAB8B501-7A60-B876-5E5F-3BB1750EEFB2}"/>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主結果：</a:t>
            </a:r>
            <a:r>
              <a:rPr kumimoji="1" lang="en-US" altLang="ja-JP" sz="2700" b="1">
                <a:solidFill>
                  <a:srgbClr val="1F3C59"/>
                </a:solidFill>
                <a:latin typeface="Yu Gothic" panose="020B0400000000000000" pitchFamily="50" charset="-128"/>
                <a:ea typeface="Yu Gothic" panose="020B0400000000000000" pitchFamily="50" charset="-128"/>
              </a:rPr>
              <a:t>ViT</a:t>
            </a:r>
            <a:r>
              <a:rPr kumimoji="1" lang="ja-JP" altLang="en-US" sz="2700" b="1">
                <a:solidFill>
                  <a:srgbClr val="1F3C59"/>
                </a:solidFill>
                <a:latin typeface="Yu Gothic" panose="020B0400000000000000" pitchFamily="50" charset="-128"/>
                <a:ea typeface="Yu Gothic" panose="020B0400000000000000" pitchFamily="50" charset="-128"/>
              </a:rPr>
              <a:t>は</a:t>
            </a:r>
            <a:r>
              <a:rPr kumimoji="1" lang="en-US" altLang="ja-JP" sz="2700" b="1">
                <a:solidFill>
                  <a:srgbClr val="1F3C59"/>
                </a:solidFill>
                <a:latin typeface="Yu Gothic" panose="020B0400000000000000" pitchFamily="50" charset="-128"/>
                <a:ea typeface="Yu Gothic" panose="020B0400000000000000" pitchFamily="50" charset="-128"/>
              </a:rPr>
              <a:t>macro ROC-AUC</a:t>
            </a:r>
            <a:r>
              <a:rPr kumimoji="1" lang="ja-JP" altLang="en-US" sz="2700" b="1">
                <a:solidFill>
                  <a:srgbClr val="1F3C59"/>
                </a:solidFill>
                <a:latin typeface="Yu Gothic" panose="020B0400000000000000" pitchFamily="50" charset="-128"/>
                <a:ea typeface="Yu Gothic" panose="020B0400000000000000" pitchFamily="50" charset="-128"/>
              </a:rPr>
              <a:t>を改善</a:t>
            </a:r>
          </a:p>
        </p:txBody>
      </p:sp>
      <p:cxnSp>
        <p:nvCxnSpPr>
          <p:cNvPr id="4" name="直線コネクタ 3">
            <a:extLst>
              <a:ext uri="{FF2B5EF4-FFF2-40B4-BE49-F238E27FC236}">
                <a16:creationId xmlns:a16="http://schemas.microsoft.com/office/drawing/2014/main" id="{BC17D23A-D77E-B1B2-709C-4996A1CA8B68}"/>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2E23C991-702D-ECEA-49A1-7A8E415EFDE5}"/>
              </a:ext>
            </a:extLst>
          </p:cNvPr>
          <p:cNvSpPr txBox="1"/>
          <p:nvPr/>
        </p:nvSpPr>
        <p:spPr>
          <a:xfrm>
            <a:off x="1117600" y="1409700"/>
            <a:ext cx="2032000" cy="276999"/>
          </a:xfrm>
          <a:prstGeom prst="rect">
            <a:avLst/>
          </a:prstGeom>
          <a:noFill/>
        </p:spPr>
        <p:txBody>
          <a:bodyPr vert="horz" wrap="square" lIns="0" tIns="0" rIns="0" bIns="0" rtlCol="0" anchor="t">
            <a:noAutofit/>
          </a:bodyPr>
          <a:lstStyle/>
          <a:p>
            <a:r>
              <a:rPr kumimoji="1" lang="ja-JP" altLang="en-US" sz="1100" b="1">
                <a:solidFill>
                  <a:srgbClr val="666666"/>
                </a:solidFill>
                <a:latin typeface="Yu Gothic" panose="020B0400000000000000" pitchFamily="50" charset="-128"/>
                <a:ea typeface="Yu Gothic" panose="020B0400000000000000" pitchFamily="50" charset="-128"/>
              </a:rPr>
              <a:t>指標</a:t>
            </a:r>
          </a:p>
        </p:txBody>
      </p:sp>
      <p:sp>
        <p:nvSpPr>
          <p:cNvPr id="6" name="テキスト ボックス 5">
            <a:extLst>
              <a:ext uri="{FF2B5EF4-FFF2-40B4-BE49-F238E27FC236}">
                <a16:creationId xmlns:a16="http://schemas.microsoft.com/office/drawing/2014/main" id="{A756EAFD-1BF9-FFC5-DF48-267AAFE98BF4}"/>
              </a:ext>
            </a:extLst>
          </p:cNvPr>
          <p:cNvSpPr txBox="1"/>
          <p:nvPr/>
        </p:nvSpPr>
        <p:spPr>
          <a:xfrm>
            <a:off x="3429000" y="1409700"/>
            <a:ext cx="1270000" cy="276999"/>
          </a:xfrm>
          <a:prstGeom prst="rect">
            <a:avLst/>
          </a:prstGeom>
          <a:noFill/>
        </p:spPr>
        <p:txBody>
          <a:bodyPr vert="horz" wrap="square" lIns="0" tIns="0" rIns="0" bIns="0" rtlCol="0" anchor="t">
            <a:noAutofit/>
          </a:bodyPr>
          <a:lstStyle/>
          <a:p>
            <a:pPr algn="ctr"/>
            <a:r>
              <a:rPr kumimoji="1" lang="en-US" altLang="ja-JP" sz="1100" b="1">
                <a:solidFill>
                  <a:srgbClr val="666666"/>
                </a:solidFill>
                <a:latin typeface="Yu Gothic" panose="020B0400000000000000" pitchFamily="50" charset="-128"/>
                <a:ea typeface="Yu Gothic" panose="020B0400000000000000" pitchFamily="50" charset="-128"/>
              </a:rPr>
              <a:t>CNN</a:t>
            </a:r>
            <a:endParaRPr kumimoji="1" lang="ja-JP" altLang="en-US" sz="1100" b="1">
              <a:solidFill>
                <a:srgbClr val="666666"/>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E7CE2768-2752-6A15-0035-F15904AD6B04}"/>
              </a:ext>
            </a:extLst>
          </p:cNvPr>
          <p:cNvSpPr txBox="1"/>
          <p:nvPr/>
        </p:nvSpPr>
        <p:spPr>
          <a:xfrm>
            <a:off x="4953000" y="1409700"/>
            <a:ext cx="1270000" cy="276999"/>
          </a:xfrm>
          <a:prstGeom prst="rect">
            <a:avLst/>
          </a:prstGeom>
          <a:noFill/>
        </p:spPr>
        <p:txBody>
          <a:bodyPr vert="horz" wrap="square" lIns="0" tIns="0" rIns="0" bIns="0" rtlCol="0" anchor="t">
            <a:noAutofit/>
          </a:bodyPr>
          <a:lstStyle/>
          <a:p>
            <a:pPr algn="ctr"/>
            <a:r>
              <a:rPr kumimoji="1" lang="en-US" altLang="ja-JP" sz="1100" b="1">
                <a:solidFill>
                  <a:srgbClr val="2F6690"/>
                </a:solidFill>
                <a:latin typeface="Yu Gothic" panose="020B0400000000000000" pitchFamily="50" charset="-128"/>
                <a:ea typeface="Yu Gothic" panose="020B0400000000000000" pitchFamily="50" charset="-128"/>
              </a:rPr>
              <a:t>ViT</a:t>
            </a:r>
            <a:endParaRPr kumimoji="1" lang="ja-JP" altLang="en-US" sz="1100" b="1">
              <a:solidFill>
                <a:srgbClr val="2F6690"/>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163BB3D5-780B-9405-C5EB-DE7DA1D9381F}"/>
              </a:ext>
            </a:extLst>
          </p:cNvPr>
          <p:cNvSpPr txBox="1"/>
          <p:nvPr/>
        </p:nvSpPr>
        <p:spPr>
          <a:xfrm>
            <a:off x="6604000" y="1409700"/>
            <a:ext cx="4445000" cy="276999"/>
          </a:xfrm>
          <a:prstGeom prst="rect">
            <a:avLst/>
          </a:prstGeom>
          <a:noFill/>
        </p:spPr>
        <p:txBody>
          <a:bodyPr vert="horz" wrap="square" lIns="0" tIns="0" rIns="0" bIns="0" rtlCol="0" anchor="t">
            <a:noAutofit/>
          </a:bodyPr>
          <a:lstStyle/>
          <a:p>
            <a:r>
              <a:rPr kumimoji="1" lang="en-US" altLang="ja-JP" sz="1100" b="1">
                <a:solidFill>
                  <a:srgbClr val="666666"/>
                </a:solidFill>
                <a:latin typeface="Yu Gothic" panose="020B0400000000000000" pitchFamily="50" charset="-128"/>
                <a:ea typeface="Yu Gothic" panose="020B0400000000000000" pitchFamily="50" charset="-128"/>
              </a:rPr>
              <a:t>ViT − CNN</a:t>
            </a:r>
            <a:r>
              <a:rPr kumimoji="1" lang="ja-JP" altLang="en-US" sz="1100" b="1">
                <a:solidFill>
                  <a:srgbClr val="666666"/>
                </a:solidFill>
                <a:latin typeface="Yu Gothic" panose="020B0400000000000000" pitchFamily="50" charset="-128"/>
                <a:ea typeface="Yu Gothic" panose="020B0400000000000000" pitchFamily="50" charset="-128"/>
              </a:rPr>
              <a:t>（</a:t>
            </a:r>
            <a:r>
              <a:rPr kumimoji="1" lang="en-US" altLang="ja-JP" sz="1100" b="1">
                <a:solidFill>
                  <a:srgbClr val="666666"/>
                </a:solidFill>
                <a:latin typeface="Yu Gothic" panose="020B0400000000000000" pitchFamily="50" charset="-128"/>
                <a:ea typeface="Yu Gothic" panose="020B0400000000000000" pitchFamily="50" charset="-128"/>
              </a:rPr>
              <a:t>95% CI</a:t>
            </a:r>
            <a:r>
              <a:rPr kumimoji="1" lang="ja-JP" altLang="en-US" sz="1100" b="1">
                <a:solidFill>
                  <a:srgbClr val="666666"/>
                </a:solidFill>
                <a:latin typeface="Yu Gothic" panose="020B0400000000000000" pitchFamily="50" charset="-128"/>
                <a:ea typeface="Yu Gothic" panose="020B0400000000000000" pitchFamily="50" charset="-128"/>
              </a:rPr>
              <a:t>）</a:t>
            </a:r>
          </a:p>
        </p:txBody>
      </p:sp>
      <p:sp>
        <p:nvSpPr>
          <p:cNvPr id="9" name="正方形/長方形 8">
            <a:extLst>
              <a:ext uri="{FF2B5EF4-FFF2-40B4-BE49-F238E27FC236}">
                <a16:creationId xmlns:a16="http://schemas.microsoft.com/office/drawing/2014/main" id="{757A96DB-3C22-5AF3-10F3-9EDAAAAA32D1}"/>
              </a:ext>
            </a:extLst>
          </p:cNvPr>
          <p:cNvSpPr/>
          <p:nvPr/>
        </p:nvSpPr>
        <p:spPr>
          <a:xfrm>
            <a:off x="889000" y="1778000"/>
            <a:ext cx="1041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21E4B37A-3057-F031-2B61-A0A97AF5FC6C}"/>
              </a:ext>
            </a:extLst>
          </p:cNvPr>
          <p:cNvSpPr txBox="1"/>
          <p:nvPr/>
        </p:nvSpPr>
        <p:spPr>
          <a:xfrm>
            <a:off x="1117600" y="1930400"/>
            <a:ext cx="2032000" cy="276999"/>
          </a:xfrm>
          <a:prstGeom prst="rect">
            <a:avLst/>
          </a:prstGeom>
          <a:noFill/>
        </p:spPr>
        <p:txBody>
          <a:bodyPr vert="horz" wrap="square" lIns="0" tIns="0" rIns="0" bIns="0" rtlCol="0" anchor="t">
            <a:noAutofit/>
          </a:bodyPr>
          <a:lstStyle/>
          <a:p>
            <a:r>
              <a:rPr kumimoji="1" lang="en-US" altLang="ja-JP" sz="1400">
                <a:solidFill>
                  <a:srgbClr val="242424"/>
                </a:solidFill>
                <a:latin typeface="Yu Gothic" panose="020B0400000000000000" pitchFamily="50" charset="-128"/>
                <a:ea typeface="Yu Gothic" panose="020B0400000000000000" pitchFamily="50" charset="-128"/>
              </a:rPr>
              <a:t>Accuracy</a:t>
            </a:r>
            <a:endParaRPr kumimoji="1" lang="ja-JP" altLang="en-US" sz="1400">
              <a:solidFill>
                <a:srgbClr val="242424"/>
              </a:solidFill>
              <a:latin typeface="Yu Gothic" panose="020B0400000000000000" pitchFamily="50" charset="-128"/>
              <a:ea typeface="Yu Gothic" panose="020B0400000000000000" pitchFamily="50" charset="-128"/>
            </a:endParaRPr>
          </a:p>
        </p:txBody>
      </p:sp>
      <p:sp>
        <p:nvSpPr>
          <p:cNvPr id="11" name="テキスト ボックス 10">
            <a:extLst>
              <a:ext uri="{FF2B5EF4-FFF2-40B4-BE49-F238E27FC236}">
                <a16:creationId xmlns:a16="http://schemas.microsoft.com/office/drawing/2014/main" id="{E543A3EF-C68F-954C-8399-8FD7BF0CE9BA}"/>
              </a:ext>
            </a:extLst>
          </p:cNvPr>
          <p:cNvSpPr txBox="1"/>
          <p:nvPr/>
        </p:nvSpPr>
        <p:spPr>
          <a:xfrm>
            <a:off x="3429000" y="1930400"/>
            <a:ext cx="1270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0.6282</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2" name="テキスト ボックス 11">
            <a:extLst>
              <a:ext uri="{FF2B5EF4-FFF2-40B4-BE49-F238E27FC236}">
                <a16:creationId xmlns:a16="http://schemas.microsoft.com/office/drawing/2014/main" id="{B0B5BD26-4085-6F0A-F1DC-ACDF0E597065}"/>
              </a:ext>
            </a:extLst>
          </p:cNvPr>
          <p:cNvSpPr txBox="1"/>
          <p:nvPr/>
        </p:nvSpPr>
        <p:spPr>
          <a:xfrm>
            <a:off x="4953000" y="1930400"/>
            <a:ext cx="1270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0.6352</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CB86F95D-843B-13B1-D88C-EE18B3CD0ADF}"/>
              </a:ext>
            </a:extLst>
          </p:cNvPr>
          <p:cNvSpPr txBox="1"/>
          <p:nvPr/>
        </p:nvSpPr>
        <p:spPr>
          <a:xfrm>
            <a:off x="6604000" y="1930400"/>
            <a:ext cx="4445000" cy="276999"/>
          </a:xfrm>
          <a:prstGeom prst="rect">
            <a:avLst/>
          </a:prstGeom>
          <a:noFill/>
        </p:spPr>
        <p:txBody>
          <a:bodyPr vert="horz" wrap="square" lIns="0" tIns="0" rIns="0" bIns="0" rtlCol="0" anchor="t">
            <a:noAutofit/>
          </a:bodyPr>
          <a:lstStyle/>
          <a:p>
            <a:r>
              <a:rPr kumimoji="1" lang="en-US" altLang="ja-JP" sz="1300">
                <a:solidFill>
                  <a:srgbClr val="666666"/>
                </a:solidFill>
                <a:latin typeface="Yu Gothic" panose="020B0400000000000000" pitchFamily="50" charset="-128"/>
                <a:ea typeface="Yu Gothic" panose="020B0400000000000000" pitchFamily="50" charset="-128"/>
              </a:rPr>
              <a:t>+0.0069</a:t>
            </a:r>
            <a:r>
              <a:rPr kumimoji="1" lang="ja-JP" altLang="en-US" sz="1300">
                <a:solidFill>
                  <a:srgbClr val="666666"/>
                </a:solidFill>
                <a:latin typeface="Yu Gothic" panose="020B0400000000000000" pitchFamily="50" charset="-128"/>
                <a:ea typeface="Yu Gothic" panose="020B0400000000000000" pitchFamily="50" charset="-128"/>
              </a:rPr>
              <a:t>（−</a:t>
            </a:r>
            <a:r>
              <a:rPr kumimoji="1" lang="en-US" altLang="ja-JP" sz="1300">
                <a:solidFill>
                  <a:srgbClr val="666666"/>
                </a:solidFill>
                <a:latin typeface="Yu Gothic" panose="020B0400000000000000" pitchFamily="50" charset="-128"/>
                <a:ea typeface="Yu Gothic" panose="020B0400000000000000" pitchFamily="50" charset="-128"/>
              </a:rPr>
              <a:t>0.0156, 0.0295</a:t>
            </a:r>
            <a:r>
              <a:rPr kumimoji="1" lang="ja-JP" altLang="en-US" sz="1300">
                <a:solidFill>
                  <a:srgbClr val="666666"/>
                </a:solidFill>
                <a:latin typeface="Yu Gothic" panose="020B0400000000000000" pitchFamily="50" charset="-128"/>
                <a:ea typeface="Yu Gothic" panose="020B0400000000000000" pitchFamily="50" charset="-128"/>
              </a:rPr>
              <a:t>）</a:t>
            </a:r>
          </a:p>
        </p:txBody>
      </p:sp>
      <p:sp>
        <p:nvSpPr>
          <p:cNvPr id="14" name="正方形/長方形 13">
            <a:extLst>
              <a:ext uri="{FF2B5EF4-FFF2-40B4-BE49-F238E27FC236}">
                <a16:creationId xmlns:a16="http://schemas.microsoft.com/office/drawing/2014/main" id="{70D067CC-9C23-E12A-35D3-B1F5F6237A5F}"/>
              </a:ext>
            </a:extLst>
          </p:cNvPr>
          <p:cNvSpPr/>
          <p:nvPr/>
        </p:nvSpPr>
        <p:spPr>
          <a:xfrm>
            <a:off x="889000" y="2476500"/>
            <a:ext cx="1041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2E2573F-0410-2311-FCE4-1C07AA48AFC2}"/>
              </a:ext>
            </a:extLst>
          </p:cNvPr>
          <p:cNvSpPr txBox="1"/>
          <p:nvPr/>
        </p:nvSpPr>
        <p:spPr>
          <a:xfrm>
            <a:off x="1117600" y="2628900"/>
            <a:ext cx="2032000" cy="276999"/>
          </a:xfrm>
          <a:prstGeom prst="rect">
            <a:avLst/>
          </a:prstGeom>
          <a:noFill/>
        </p:spPr>
        <p:txBody>
          <a:bodyPr vert="horz" wrap="square" lIns="0" tIns="0" rIns="0" bIns="0" rtlCol="0" anchor="t">
            <a:noAutofit/>
          </a:bodyPr>
          <a:lstStyle/>
          <a:p>
            <a:r>
              <a:rPr kumimoji="1" lang="en-US" altLang="ja-JP" sz="1400">
                <a:solidFill>
                  <a:srgbClr val="242424"/>
                </a:solidFill>
                <a:latin typeface="Yu Gothic" panose="020B0400000000000000" pitchFamily="50" charset="-128"/>
                <a:ea typeface="Yu Gothic" panose="020B0400000000000000" pitchFamily="50" charset="-128"/>
              </a:rPr>
              <a:t>Macro-F1</a:t>
            </a:r>
            <a:endParaRPr kumimoji="1" lang="ja-JP" altLang="en-US" sz="1400">
              <a:solidFill>
                <a:srgbClr val="242424"/>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E438027C-BE98-650C-FE9A-CB8736D76B60}"/>
              </a:ext>
            </a:extLst>
          </p:cNvPr>
          <p:cNvSpPr txBox="1"/>
          <p:nvPr/>
        </p:nvSpPr>
        <p:spPr>
          <a:xfrm>
            <a:off x="3429000" y="2628900"/>
            <a:ext cx="1270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0.6001</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16111E5C-61CB-D3E2-D250-6C84E1CA6D86}"/>
              </a:ext>
            </a:extLst>
          </p:cNvPr>
          <p:cNvSpPr txBox="1"/>
          <p:nvPr/>
        </p:nvSpPr>
        <p:spPr>
          <a:xfrm>
            <a:off x="4953000" y="2628900"/>
            <a:ext cx="1270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0.6134</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8" name="テキスト ボックス 17">
            <a:extLst>
              <a:ext uri="{FF2B5EF4-FFF2-40B4-BE49-F238E27FC236}">
                <a16:creationId xmlns:a16="http://schemas.microsoft.com/office/drawing/2014/main" id="{D5735A66-01B3-E220-DA86-BE55E58800B8}"/>
              </a:ext>
            </a:extLst>
          </p:cNvPr>
          <p:cNvSpPr txBox="1"/>
          <p:nvPr/>
        </p:nvSpPr>
        <p:spPr>
          <a:xfrm>
            <a:off x="6604000" y="2628900"/>
            <a:ext cx="4445000" cy="276999"/>
          </a:xfrm>
          <a:prstGeom prst="rect">
            <a:avLst/>
          </a:prstGeom>
          <a:noFill/>
        </p:spPr>
        <p:txBody>
          <a:bodyPr vert="horz" wrap="square" lIns="0" tIns="0" rIns="0" bIns="0" rtlCol="0" anchor="t">
            <a:noAutofit/>
          </a:bodyPr>
          <a:lstStyle/>
          <a:p>
            <a:r>
              <a:rPr kumimoji="1" lang="en-US" altLang="ja-JP" sz="1300">
                <a:solidFill>
                  <a:srgbClr val="666666"/>
                </a:solidFill>
                <a:latin typeface="Yu Gothic" panose="020B0400000000000000" pitchFamily="50" charset="-128"/>
                <a:ea typeface="Yu Gothic" panose="020B0400000000000000" pitchFamily="50" charset="-128"/>
              </a:rPr>
              <a:t>+0.0133</a:t>
            </a:r>
            <a:r>
              <a:rPr kumimoji="1" lang="ja-JP" altLang="en-US" sz="1300">
                <a:solidFill>
                  <a:srgbClr val="666666"/>
                </a:solidFill>
                <a:latin typeface="Yu Gothic" panose="020B0400000000000000" pitchFamily="50" charset="-128"/>
                <a:ea typeface="Yu Gothic" panose="020B0400000000000000" pitchFamily="50" charset="-128"/>
              </a:rPr>
              <a:t>（−</a:t>
            </a:r>
            <a:r>
              <a:rPr kumimoji="1" lang="en-US" altLang="ja-JP" sz="1300">
                <a:solidFill>
                  <a:srgbClr val="666666"/>
                </a:solidFill>
                <a:latin typeface="Yu Gothic" panose="020B0400000000000000" pitchFamily="50" charset="-128"/>
                <a:ea typeface="Yu Gothic" panose="020B0400000000000000" pitchFamily="50" charset="-128"/>
              </a:rPr>
              <a:t>0.0135, 0.0399</a:t>
            </a:r>
            <a:r>
              <a:rPr kumimoji="1" lang="ja-JP" altLang="en-US" sz="1300">
                <a:solidFill>
                  <a:srgbClr val="666666"/>
                </a:solidFill>
                <a:latin typeface="Yu Gothic" panose="020B0400000000000000" pitchFamily="50" charset="-128"/>
                <a:ea typeface="Yu Gothic" panose="020B0400000000000000" pitchFamily="50" charset="-128"/>
              </a:rPr>
              <a:t>）</a:t>
            </a:r>
          </a:p>
        </p:txBody>
      </p:sp>
      <p:sp>
        <p:nvSpPr>
          <p:cNvPr id="19" name="正方形/長方形 18">
            <a:extLst>
              <a:ext uri="{FF2B5EF4-FFF2-40B4-BE49-F238E27FC236}">
                <a16:creationId xmlns:a16="http://schemas.microsoft.com/office/drawing/2014/main" id="{C8A88C61-A4AA-6C65-79D7-EF9E46196FBD}"/>
              </a:ext>
            </a:extLst>
          </p:cNvPr>
          <p:cNvSpPr/>
          <p:nvPr/>
        </p:nvSpPr>
        <p:spPr>
          <a:xfrm>
            <a:off x="889000" y="3175000"/>
            <a:ext cx="10414000" cy="609600"/>
          </a:xfrm>
          <a:prstGeom prst="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4D85CF1-21F6-AFE5-E253-1E44DAFEBA33}"/>
              </a:ext>
            </a:extLst>
          </p:cNvPr>
          <p:cNvSpPr txBox="1"/>
          <p:nvPr/>
        </p:nvSpPr>
        <p:spPr>
          <a:xfrm>
            <a:off x="1117600" y="3327400"/>
            <a:ext cx="2032000" cy="276999"/>
          </a:xfrm>
          <a:prstGeom prst="rect">
            <a:avLst/>
          </a:prstGeom>
          <a:noFill/>
        </p:spPr>
        <p:txBody>
          <a:bodyPr vert="horz" wrap="square" lIns="0" tIns="0" rIns="0" bIns="0" rtlCol="0" anchor="t">
            <a:noAutofit/>
          </a:bodyPr>
          <a:lstStyle/>
          <a:p>
            <a:r>
              <a:rPr kumimoji="1" lang="en-US" altLang="ja-JP" sz="1400" b="1">
                <a:solidFill>
                  <a:srgbClr val="242424"/>
                </a:solidFill>
                <a:latin typeface="Yu Gothic" panose="020B0400000000000000" pitchFamily="50" charset="-128"/>
                <a:ea typeface="Yu Gothic" panose="020B0400000000000000" pitchFamily="50" charset="-128"/>
              </a:rPr>
              <a:t>Macro ROC-AUC</a:t>
            </a:r>
            <a:endParaRPr kumimoji="1" lang="ja-JP" altLang="en-US" sz="1400" b="1">
              <a:solidFill>
                <a:srgbClr val="242424"/>
              </a:solidFill>
              <a:latin typeface="Yu Gothic" panose="020B0400000000000000" pitchFamily="50" charset="-128"/>
              <a:ea typeface="Yu Gothic" panose="020B0400000000000000" pitchFamily="50" charset="-128"/>
            </a:endParaRPr>
          </a:p>
        </p:txBody>
      </p:sp>
      <p:sp>
        <p:nvSpPr>
          <p:cNvPr id="21" name="テキスト ボックス 20">
            <a:extLst>
              <a:ext uri="{FF2B5EF4-FFF2-40B4-BE49-F238E27FC236}">
                <a16:creationId xmlns:a16="http://schemas.microsoft.com/office/drawing/2014/main" id="{0CA50373-B3AD-54A0-7EC8-653F7CC23DC0}"/>
              </a:ext>
            </a:extLst>
          </p:cNvPr>
          <p:cNvSpPr txBox="1"/>
          <p:nvPr/>
        </p:nvSpPr>
        <p:spPr>
          <a:xfrm>
            <a:off x="3429000" y="3327400"/>
            <a:ext cx="1270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0.7891</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22" name="テキスト ボックス 21">
            <a:extLst>
              <a:ext uri="{FF2B5EF4-FFF2-40B4-BE49-F238E27FC236}">
                <a16:creationId xmlns:a16="http://schemas.microsoft.com/office/drawing/2014/main" id="{CF0B4FFD-F2B1-4594-40DF-5723A748E412}"/>
              </a:ext>
            </a:extLst>
          </p:cNvPr>
          <p:cNvSpPr txBox="1"/>
          <p:nvPr/>
        </p:nvSpPr>
        <p:spPr>
          <a:xfrm>
            <a:off x="4953000" y="3327400"/>
            <a:ext cx="1270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0.8100</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23" name="テキスト ボックス 22">
            <a:extLst>
              <a:ext uri="{FF2B5EF4-FFF2-40B4-BE49-F238E27FC236}">
                <a16:creationId xmlns:a16="http://schemas.microsoft.com/office/drawing/2014/main" id="{D913D24B-8F9B-4393-7AB5-AF46E1E8028D}"/>
              </a:ext>
            </a:extLst>
          </p:cNvPr>
          <p:cNvSpPr txBox="1"/>
          <p:nvPr/>
        </p:nvSpPr>
        <p:spPr>
          <a:xfrm>
            <a:off x="6604000" y="3327400"/>
            <a:ext cx="4445000" cy="276999"/>
          </a:xfrm>
          <a:prstGeom prst="rect">
            <a:avLst/>
          </a:prstGeom>
          <a:noFill/>
        </p:spPr>
        <p:txBody>
          <a:bodyPr vert="horz" wrap="square" lIns="0" tIns="0" rIns="0" bIns="0" rtlCol="0" anchor="t">
            <a:noAutofit/>
          </a:bodyPr>
          <a:lstStyle/>
          <a:p>
            <a:r>
              <a:rPr kumimoji="1" lang="en-US" altLang="ja-JP" sz="1300" b="1">
                <a:solidFill>
                  <a:srgbClr val="2E7D32"/>
                </a:solidFill>
                <a:latin typeface="Yu Gothic" panose="020B0400000000000000" pitchFamily="50" charset="-128"/>
                <a:ea typeface="Yu Gothic" panose="020B0400000000000000" pitchFamily="50" charset="-128"/>
              </a:rPr>
              <a:t>+0.0209</a:t>
            </a:r>
            <a:r>
              <a:rPr kumimoji="1" lang="ja-JP" altLang="en-US" sz="1300" b="1">
                <a:solidFill>
                  <a:srgbClr val="2E7D32"/>
                </a:solidFill>
                <a:latin typeface="Yu Gothic" panose="020B0400000000000000" pitchFamily="50" charset="-128"/>
                <a:ea typeface="Yu Gothic" panose="020B0400000000000000" pitchFamily="50" charset="-128"/>
              </a:rPr>
              <a:t>（</a:t>
            </a:r>
            <a:r>
              <a:rPr kumimoji="1" lang="en-US" altLang="ja-JP" sz="1300" b="1">
                <a:solidFill>
                  <a:srgbClr val="2E7D32"/>
                </a:solidFill>
                <a:latin typeface="Yu Gothic" panose="020B0400000000000000" pitchFamily="50" charset="-128"/>
                <a:ea typeface="Yu Gothic" panose="020B0400000000000000" pitchFamily="50" charset="-128"/>
              </a:rPr>
              <a:t>0.0062, 0.0357</a:t>
            </a:r>
            <a:r>
              <a:rPr kumimoji="1" lang="ja-JP" altLang="en-US" sz="1300" b="1">
                <a:solidFill>
                  <a:srgbClr val="2E7D32"/>
                </a:solidFill>
                <a:latin typeface="Yu Gothic" panose="020B0400000000000000" pitchFamily="50" charset="-128"/>
                <a:ea typeface="Yu Gothic" panose="020B0400000000000000" pitchFamily="50" charset="-128"/>
              </a:rPr>
              <a:t>）</a:t>
            </a:r>
          </a:p>
        </p:txBody>
      </p:sp>
      <p:sp>
        <p:nvSpPr>
          <p:cNvPr id="24" name="正方形/長方形 23">
            <a:extLst>
              <a:ext uri="{FF2B5EF4-FFF2-40B4-BE49-F238E27FC236}">
                <a16:creationId xmlns:a16="http://schemas.microsoft.com/office/drawing/2014/main" id="{88628AFF-1997-7257-ECF4-A5E687B81D0D}"/>
              </a:ext>
            </a:extLst>
          </p:cNvPr>
          <p:cNvSpPr/>
          <p:nvPr/>
        </p:nvSpPr>
        <p:spPr>
          <a:xfrm>
            <a:off x="889000" y="3873500"/>
            <a:ext cx="1041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C512EEF-203C-92DB-CDCA-95BF2164CE76}"/>
              </a:ext>
            </a:extLst>
          </p:cNvPr>
          <p:cNvSpPr txBox="1"/>
          <p:nvPr/>
        </p:nvSpPr>
        <p:spPr>
          <a:xfrm>
            <a:off x="1117600" y="4025900"/>
            <a:ext cx="2032000" cy="276999"/>
          </a:xfrm>
          <a:prstGeom prst="rect">
            <a:avLst/>
          </a:prstGeom>
          <a:noFill/>
        </p:spPr>
        <p:txBody>
          <a:bodyPr vert="horz" wrap="square" lIns="0" tIns="0" rIns="0" bIns="0" rtlCol="0" anchor="t">
            <a:noAutofit/>
          </a:bodyPr>
          <a:lstStyle/>
          <a:p>
            <a:r>
              <a:rPr kumimoji="1" lang="en-US" altLang="ja-JP" sz="1400">
                <a:solidFill>
                  <a:srgbClr val="242424"/>
                </a:solidFill>
                <a:latin typeface="Yu Gothic" panose="020B0400000000000000" pitchFamily="50" charset="-128"/>
                <a:ea typeface="Yu Gothic" panose="020B0400000000000000" pitchFamily="50" charset="-128"/>
              </a:rPr>
              <a:t>Balanced Acc.</a:t>
            </a:r>
            <a:endParaRPr kumimoji="1" lang="ja-JP" altLang="en-US" sz="1400">
              <a:solidFill>
                <a:srgbClr val="242424"/>
              </a:solidFill>
              <a:latin typeface="Yu Gothic" panose="020B0400000000000000" pitchFamily="50" charset="-128"/>
              <a:ea typeface="Yu Gothic" panose="020B0400000000000000" pitchFamily="50" charset="-128"/>
            </a:endParaRPr>
          </a:p>
        </p:txBody>
      </p:sp>
      <p:sp>
        <p:nvSpPr>
          <p:cNvPr id="26" name="テキスト ボックス 25">
            <a:extLst>
              <a:ext uri="{FF2B5EF4-FFF2-40B4-BE49-F238E27FC236}">
                <a16:creationId xmlns:a16="http://schemas.microsoft.com/office/drawing/2014/main" id="{E0FBE0DD-272D-681C-820D-D9E450FCDE09}"/>
              </a:ext>
            </a:extLst>
          </p:cNvPr>
          <p:cNvSpPr txBox="1"/>
          <p:nvPr/>
        </p:nvSpPr>
        <p:spPr>
          <a:xfrm>
            <a:off x="3429000" y="4025900"/>
            <a:ext cx="1270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0.5995</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27" name="テキスト ボックス 26">
            <a:extLst>
              <a:ext uri="{FF2B5EF4-FFF2-40B4-BE49-F238E27FC236}">
                <a16:creationId xmlns:a16="http://schemas.microsoft.com/office/drawing/2014/main" id="{46CA60A7-87DC-F235-C8A5-C97140A7AA09}"/>
              </a:ext>
            </a:extLst>
          </p:cNvPr>
          <p:cNvSpPr txBox="1"/>
          <p:nvPr/>
        </p:nvSpPr>
        <p:spPr>
          <a:xfrm>
            <a:off x="4953000" y="4025900"/>
            <a:ext cx="1270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0.6132</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28" name="テキスト ボックス 27">
            <a:extLst>
              <a:ext uri="{FF2B5EF4-FFF2-40B4-BE49-F238E27FC236}">
                <a16:creationId xmlns:a16="http://schemas.microsoft.com/office/drawing/2014/main" id="{C70047A0-678E-45FC-1E23-7FC9BC12B881}"/>
              </a:ext>
            </a:extLst>
          </p:cNvPr>
          <p:cNvSpPr txBox="1"/>
          <p:nvPr/>
        </p:nvSpPr>
        <p:spPr>
          <a:xfrm>
            <a:off x="6604000" y="4025900"/>
            <a:ext cx="4445000" cy="276999"/>
          </a:xfrm>
          <a:prstGeom prst="rect">
            <a:avLst/>
          </a:prstGeom>
          <a:noFill/>
        </p:spPr>
        <p:txBody>
          <a:bodyPr vert="horz" wrap="square" lIns="0" tIns="0" rIns="0" bIns="0" rtlCol="0" anchor="t">
            <a:noAutofit/>
          </a:bodyPr>
          <a:lstStyle/>
          <a:p>
            <a:r>
              <a:rPr kumimoji="1" lang="en-US" altLang="ja-JP" sz="1300">
                <a:solidFill>
                  <a:srgbClr val="666666"/>
                </a:solidFill>
                <a:latin typeface="Yu Gothic" panose="020B0400000000000000" pitchFamily="50" charset="-128"/>
                <a:ea typeface="Yu Gothic" panose="020B0400000000000000" pitchFamily="50" charset="-128"/>
              </a:rPr>
              <a:t>+0.0137</a:t>
            </a:r>
            <a:r>
              <a:rPr kumimoji="1" lang="ja-JP" altLang="en-US" sz="1300">
                <a:solidFill>
                  <a:srgbClr val="666666"/>
                </a:solidFill>
                <a:latin typeface="Yu Gothic" panose="020B0400000000000000" pitchFamily="50" charset="-128"/>
                <a:ea typeface="Yu Gothic" panose="020B0400000000000000" pitchFamily="50" charset="-128"/>
              </a:rPr>
              <a:t>（−</a:t>
            </a:r>
            <a:r>
              <a:rPr kumimoji="1" lang="en-US" altLang="ja-JP" sz="1300">
                <a:solidFill>
                  <a:srgbClr val="666666"/>
                </a:solidFill>
                <a:latin typeface="Yu Gothic" panose="020B0400000000000000" pitchFamily="50" charset="-128"/>
                <a:ea typeface="Yu Gothic" panose="020B0400000000000000" pitchFamily="50" charset="-128"/>
              </a:rPr>
              <a:t>0.0112, 0.0386</a:t>
            </a:r>
            <a:r>
              <a:rPr kumimoji="1" lang="ja-JP" altLang="en-US" sz="1300">
                <a:solidFill>
                  <a:srgbClr val="666666"/>
                </a:solidFill>
                <a:latin typeface="Yu Gothic" panose="020B0400000000000000" pitchFamily="50" charset="-128"/>
                <a:ea typeface="Yu Gothic" panose="020B0400000000000000" pitchFamily="50" charset="-128"/>
              </a:rPr>
              <a:t>）</a:t>
            </a:r>
          </a:p>
        </p:txBody>
      </p:sp>
      <p:sp>
        <p:nvSpPr>
          <p:cNvPr id="29" name="四角形: 角を丸くする 28">
            <a:extLst>
              <a:ext uri="{FF2B5EF4-FFF2-40B4-BE49-F238E27FC236}">
                <a16:creationId xmlns:a16="http://schemas.microsoft.com/office/drawing/2014/main" id="{F4B17206-3F3F-146F-21AA-DC9A1EAA99C6}"/>
              </a:ext>
            </a:extLst>
          </p:cNvPr>
          <p:cNvSpPr/>
          <p:nvPr/>
        </p:nvSpPr>
        <p:spPr>
          <a:xfrm>
            <a:off x="1206500" y="4953000"/>
            <a:ext cx="9779000" cy="927100"/>
          </a:xfrm>
          <a:prstGeom prst="round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80D2DA7E-5335-24A3-5FAB-3F17F69F2073}"/>
              </a:ext>
            </a:extLst>
          </p:cNvPr>
          <p:cNvSpPr txBox="1"/>
          <p:nvPr/>
        </p:nvSpPr>
        <p:spPr>
          <a:xfrm>
            <a:off x="1524000" y="5194300"/>
            <a:ext cx="9144000" cy="276999"/>
          </a:xfrm>
          <a:prstGeom prst="rect">
            <a:avLst/>
          </a:prstGeom>
          <a:noFill/>
        </p:spPr>
        <p:txBody>
          <a:bodyPr vert="horz" wrap="square" lIns="0" tIns="0" rIns="0" bIns="0" rtlCol="0" anchor="t">
            <a:noAutofit/>
          </a:bodyPr>
          <a:lstStyle/>
          <a:p>
            <a:pPr algn="ctr"/>
            <a:r>
              <a:rPr kumimoji="1" lang="en-US" altLang="ja-JP" sz="1900" b="1">
                <a:solidFill>
                  <a:srgbClr val="2E7D32"/>
                </a:solidFill>
                <a:latin typeface="Yu Gothic" panose="020B0400000000000000" pitchFamily="50" charset="-128"/>
                <a:ea typeface="Yu Gothic" panose="020B0400000000000000" pitchFamily="50" charset="-128"/>
              </a:rPr>
              <a:t>95% CI</a:t>
            </a:r>
            <a:r>
              <a:rPr kumimoji="1" lang="ja-JP" altLang="en-US" sz="1900" b="1">
                <a:solidFill>
                  <a:srgbClr val="2E7D32"/>
                </a:solidFill>
                <a:latin typeface="Yu Gothic" panose="020B0400000000000000" pitchFamily="50" charset="-128"/>
                <a:ea typeface="Yu Gothic" panose="020B0400000000000000" pitchFamily="50" charset="-128"/>
              </a:rPr>
              <a:t>が</a:t>
            </a:r>
            <a:r>
              <a:rPr kumimoji="1" lang="en-US" altLang="ja-JP" sz="1900" b="1">
                <a:solidFill>
                  <a:srgbClr val="2E7D32"/>
                </a:solidFill>
                <a:latin typeface="Yu Gothic" panose="020B0400000000000000" pitchFamily="50" charset="-128"/>
                <a:ea typeface="Yu Gothic" panose="020B0400000000000000" pitchFamily="50" charset="-128"/>
              </a:rPr>
              <a:t>0</a:t>
            </a:r>
            <a:r>
              <a:rPr kumimoji="1" lang="ja-JP" altLang="en-US" sz="1900" b="1">
                <a:solidFill>
                  <a:srgbClr val="2E7D32"/>
                </a:solidFill>
                <a:latin typeface="Yu Gothic" panose="020B0400000000000000" pitchFamily="50" charset="-128"/>
                <a:ea typeface="Yu Gothic" panose="020B0400000000000000" pitchFamily="50" charset="-128"/>
              </a:rPr>
              <a:t>をまたがなかったのは</a:t>
            </a:r>
            <a:r>
              <a:rPr kumimoji="1" lang="en-US" altLang="ja-JP" sz="1900" b="1">
                <a:solidFill>
                  <a:srgbClr val="2E7D32"/>
                </a:solidFill>
                <a:latin typeface="Yu Gothic" panose="020B0400000000000000" pitchFamily="50" charset="-128"/>
                <a:ea typeface="Yu Gothic" panose="020B0400000000000000" pitchFamily="50" charset="-128"/>
              </a:rPr>
              <a:t>macro ROC-AUC</a:t>
            </a:r>
            <a:r>
              <a:rPr kumimoji="1" lang="ja-JP" altLang="en-US" sz="1900" b="1">
                <a:solidFill>
                  <a:srgbClr val="2E7D32"/>
                </a:solidFill>
                <a:latin typeface="Yu Gothic" panose="020B0400000000000000" pitchFamily="50" charset="-128"/>
                <a:ea typeface="Yu Gothic" panose="020B0400000000000000" pitchFamily="50" charset="-128"/>
              </a:rPr>
              <a:t>のみ</a:t>
            </a:r>
          </a:p>
        </p:txBody>
      </p:sp>
      <p:sp>
        <p:nvSpPr>
          <p:cNvPr id="31" name="テキスト ボックス 30">
            <a:extLst>
              <a:ext uri="{FF2B5EF4-FFF2-40B4-BE49-F238E27FC236}">
                <a16:creationId xmlns:a16="http://schemas.microsoft.com/office/drawing/2014/main" id="{559E1961-8C15-5594-51F4-8B62C555A990}"/>
              </a:ext>
            </a:extLst>
          </p:cNvPr>
          <p:cNvSpPr txBox="1"/>
          <p:nvPr/>
        </p:nvSpPr>
        <p:spPr>
          <a:xfrm>
            <a:off x="1524000" y="5613400"/>
            <a:ext cx="9144000" cy="276999"/>
          </a:xfrm>
          <a:prstGeom prst="rect">
            <a:avLst/>
          </a:prstGeom>
          <a:noFill/>
        </p:spPr>
        <p:txBody>
          <a:bodyPr vert="horz" wrap="square" lIns="0" tIns="0" rIns="0" bIns="0" rtlCol="0" anchor="t">
            <a:noAutofit/>
          </a:bodyPr>
          <a:lstStyle/>
          <a:p>
            <a:pPr algn="ctr"/>
            <a:r>
              <a:rPr kumimoji="1" lang="en-US" altLang="ja-JP" sz="1100">
                <a:solidFill>
                  <a:srgbClr val="666666"/>
                </a:solidFill>
                <a:latin typeface="Yu Gothic" panose="020B0400000000000000" pitchFamily="50" charset="-128"/>
                <a:ea typeface="Yu Gothic" panose="020B0400000000000000" pitchFamily="50" charset="-128"/>
              </a:rPr>
              <a:t>Accuracy</a:t>
            </a:r>
            <a:r>
              <a:rPr kumimoji="1" lang="ja-JP" altLang="en-US" sz="1100">
                <a:solidFill>
                  <a:srgbClr val="666666"/>
                </a:solidFill>
                <a:latin typeface="Yu Gothic" panose="020B0400000000000000" pitchFamily="50" charset="-128"/>
                <a:ea typeface="Yu Gothic" panose="020B0400000000000000" pitchFamily="50" charset="-128"/>
              </a:rPr>
              <a:t>の</a:t>
            </a:r>
            <a:r>
              <a:rPr kumimoji="1" lang="en-US" altLang="ja-JP" sz="1100">
                <a:solidFill>
                  <a:srgbClr val="666666"/>
                </a:solidFill>
                <a:latin typeface="Yu Gothic" panose="020B0400000000000000" pitchFamily="50" charset="-128"/>
                <a:ea typeface="Yu Gothic" panose="020B0400000000000000" pitchFamily="50" charset="-128"/>
              </a:rPr>
              <a:t>McNemar</a:t>
            </a:r>
            <a:r>
              <a:rPr kumimoji="1" lang="ja-JP" altLang="en-US" sz="1100">
                <a:solidFill>
                  <a:srgbClr val="666666"/>
                </a:solidFill>
                <a:latin typeface="Yu Gothic" panose="020B0400000000000000" pitchFamily="50" charset="-128"/>
                <a:ea typeface="Yu Gothic" panose="020B0400000000000000" pitchFamily="50" charset="-128"/>
              </a:rPr>
              <a:t>検定：</a:t>
            </a:r>
            <a:r>
              <a:rPr kumimoji="1" lang="en-US" altLang="ja-JP" sz="1100">
                <a:solidFill>
                  <a:srgbClr val="666666"/>
                </a:solidFill>
                <a:latin typeface="Yu Gothic" panose="020B0400000000000000" pitchFamily="50" charset="-128"/>
                <a:ea typeface="Yu Gothic" panose="020B0400000000000000" pitchFamily="50" charset="-128"/>
              </a:rPr>
              <a:t>p = 0.598</a:t>
            </a:r>
            <a:endParaRPr kumimoji="1" lang="ja-JP" altLang="en-US" sz="1100">
              <a:solidFill>
                <a:srgbClr val="666666"/>
              </a:solidFill>
              <a:latin typeface="Yu Gothic" panose="020B0400000000000000" pitchFamily="50" charset="-128"/>
              <a:ea typeface="Yu Gothic" panose="020B0400000000000000" pitchFamily="50" charset="-128"/>
            </a:endParaRPr>
          </a:p>
        </p:txBody>
      </p:sp>
      <p:sp>
        <p:nvSpPr>
          <p:cNvPr id="32" name="テキスト ボックス 31">
            <a:extLst>
              <a:ext uri="{FF2B5EF4-FFF2-40B4-BE49-F238E27FC236}">
                <a16:creationId xmlns:a16="http://schemas.microsoft.com/office/drawing/2014/main" id="{F2F8B581-566E-9566-698C-74900EBBC90A}"/>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ja-JP" altLang="en-US" sz="800">
                <a:solidFill>
                  <a:srgbClr val="666666"/>
                </a:solidFill>
                <a:latin typeface="Yu Gothic" panose="020B0400000000000000" pitchFamily="50" charset="-128"/>
                <a:ea typeface="Yu Gothic" panose="020B0400000000000000" pitchFamily="50" charset="-128"/>
              </a:rPr>
              <a:t>患者単位</a:t>
            </a:r>
            <a:r>
              <a:rPr kumimoji="1" lang="en-US" altLang="ja-JP" sz="800">
                <a:solidFill>
                  <a:srgbClr val="666666"/>
                </a:solidFill>
                <a:latin typeface="Yu Gothic" panose="020B0400000000000000" pitchFamily="50" charset="-128"/>
                <a:ea typeface="Yu Gothic" panose="020B0400000000000000" pitchFamily="50" charset="-128"/>
              </a:rPr>
              <a:t>5-fold OOF</a:t>
            </a:r>
            <a:r>
              <a:rPr kumimoji="1" lang="ja-JP" altLang="en-US" sz="800">
                <a:solidFill>
                  <a:srgbClr val="666666"/>
                </a:solidFill>
                <a:latin typeface="Yu Gothic" panose="020B0400000000000000" pitchFamily="50" charset="-128"/>
                <a:ea typeface="Yu Gothic" panose="020B0400000000000000" pitchFamily="50" charset="-128"/>
              </a:rPr>
              <a:t>、</a:t>
            </a:r>
            <a:r>
              <a:rPr kumimoji="1" lang="en-US" altLang="ja-JP" sz="800">
                <a:solidFill>
                  <a:srgbClr val="666666"/>
                </a:solidFill>
                <a:latin typeface="Yu Gothic" panose="020B0400000000000000" pitchFamily="50" charset="-128"/>
                <a:ea typeface="Yu Gothic" panose="020B0400000000000000" pitchFamily="50" charset="-128"/>
              </a:rPr>
              <a:t>paired bootstrap 10,000</a:t>
            </a:r>
            <a:r>
              <a:rPr kumimoji="1" lang="ja-JP" altLang="en-US" sz="800">
                <a:solidFill>
                  <a:srgbClr val="666666"/>
                </a:solidFill>
                <a:latin typeface="Yu Gothic" panose="020B0400000000000000" pitchFamily="50" charset="-128"/>
                <a:ea typeface="Yu Gothic" panose="020B0400000000000000" pitchFamily="50" charset="-128"/>
              </a:rPr>
              <a:t>回</a:t>
            </a:r>
          </a:p>
        </p:txBody>
      </p:sp>
      <p:sp>
        <p:nvSpPr>
          <p:cNvPr id="33" name="テキスト ボックス 32">
            <a:extLst>
              <a:ext uri="{FF2B5EF4-FFF2-40B4-BE49-F238E27FC236}">
                <a16:creationId xmlns:a16="http://schemas.microsoft.com/office/drawing/2014/main" id="{60B55DCF-9A56-2A3F-C54E-A35498A535E2}"/>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1:50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34" name="テキスト ボックス 33">
            <a:extLst>
              <a:ext uri="{FF2B5EF4-FFF2-40B4-BE49-F238E27FC236}">
                <a16:creationId xmlns:a16="http://schemas.microsoft.com/office/drawing/2014/main" id="{F81E935E-33D6-4E70-05AB-9C94637E08A9}"/>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8</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3062656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C887F3B-C2DD-4BCA-6C18-872451FCA24E}"/>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CLASS-WISE RESULTS</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A9CFAF87-7AEB-01D4-7A4A-C694A54552A0}"/>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クラス別結果：</a:t>
            </a:r>
            <a:r>
              <a:rPr kumimoji="1" lang="en-US" altLang="ja-JP" sz="2700" b="1">
                <a:solidFill>
                  <a:srgbClr val="1F3C59"/>
                </a:solidFill>
                <a:latin typeface="Yu Gothic" panose="020B0400000000000000" pitchFamily="50" charset="-128"/>
                <a:ea typeface="Yu Gothic" panose="020B0400000000000000" pitchFamily="50" charset="-128"/>
              </a:rPr>
              <a:t>grade 1</a:t>
            </a:r>
            <a:r>
              <a:rPr kumimoji="1" lang="ja-JP" altLang="en-US" sz="2700" b="1">
                <a:solidFill>
                  <a:srgbClr val="1F3C59"/>
                </a:solidFill>
                <a:latin typeface="Yu Gothic" panose="020B0400000000000000" pitchFamily="50" charset="-128"/>
                <a:ea typeface="Yu Gothic" panose="020B0400000000000000" pitchFamily="50" charset="-128"/>
              </a:rPr>
              <a:t>の識別が共通課題</a:t>
            </a:r>
          </a:p>
        </p:txBody>
      </p:sp>
      <p:cxnSp>
        <p:nvCxnSpPr>
          <p:cNvPr id="4" name="直線コネクタ 3">
            <a:extLst>
              <a:ext uri="{FF2B5EF4-FFF2-40B4-BE49-F238E27FC236}">
                <a16:creationId xmlns:a16="http://schemas.microsoft.com/office/drawing/2014/main" id="{B609A12E-A69B-706A-D322-1A05987D059E}"/>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pic>
        <p:nvPicPr>
          <p:cNvPr id="6" name="図 5">
            <a:extLst>
              <a:ext uri="{FF2B5EF4-FFF2-40B4-BE49-F238E27FC236}">
                <a16:creationId xmlns:a16="http://schemas.microsoft.com/office/drawing/2014/main" id="{72FE3D28-8C00-F246-2264-DB8C03A414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 y="1422400"/>
            <a:ext cx="10541000" cy="4330700"/>
          </a:xfrm>
          <a:prstGeom prst="rect">
            <a:avLst/>
          </a:prstGeom>
        </p:spPr>
      </p:pic>
      <p:sp>
        <p:nvSpPr>
          <p:cNvPr id="7" name="四角形: 角を丸くする 6">
            <a:extLst>
              <a:ext uri="{FF2B5EF4-FFF2-40B4-BE49-F238E27FC236}">
                <a16:creationId xmlns:a16="http://schemas.microsoft.com/office/drawing/2014/main" id="{9D535042-C70C-CC15-AEB2-10DA25E3DED4}"/>
              </a:ext>
            </a:extLst>
          </p:cNvPr>
          <p:cNvSpPr/>
          <p:nvPr/>
        </p:nvSpPr>
        <p:spPr>
          <a:xfrm>
            <a:off x="1206500" y="5816600"/>
            <a:ext cx="9779000" cy="457200"/>
          </a:xfrm>
          <a:prstGeom prst="roundRect">
            <a:avLst/>
          </a:prstGeom>
          <a:solidFill>
            <a:srgbClr val="FCEBE9"/>
          </a:solidFill>
          <a:ln w="12700">
            <a:solidFill>
              <a:srgbClr val="C039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75E48FF-4861-207F-6E28-CF05F7445835}"/>
              </a:ext>
            </a:extLst>
          </p:cNvPr>
          <p:cNvSpPr txBox="1"/>
          <p:nvPr/>
        </p:nvSpPr>
        <p:spPr>
          <a:xfrm>
            <a:off x="1524000" y="5918200"/>
            <a:ext cx="9144000" cy="276999"/>
          </a:xfrm>
          <a:prstGeom prst="rect">
            <a:avLst/>
          </a:prstGeom>
          <a:noFill/>
        </p:spPr>
        <p:txBody>
          <a:bodyPr vert="horz" wrap="square" lIns="0" tIns="0" rIns="0" bIns="0" rtlCol="0" anchor="t">
            <a:noAutofit/>
          </a:bodyPr>
          <a:lstStyle/>
          <a:p>
            <a:pPr algn="ctr"/>
            <a:r>
              <a:rPr kumimoji="1" lang="en-US" altLang="ja-JP" sz="1400" b="1">
                <a:solidFill>
                  <a:srgbClr val="C0392B"/>
                </a:solidFill>
                <a:latin typeface="Yu Gothic" panose="020B0400000000000000" pitchFamily="50" charset="-128"/>
                <a:ea typeface="Yu Gothic" panose="020B0400000000000000" pitchFamily="50" charset="-128"/>
              </a:rPr>
              <a:t>grade 1 Recall</a:t>
            </a:r>
            <a:r>
              <a:rPr kumimoji="1" lang="ja-JP" altLang="en-US" sz="1400" b="1">
                <a:solidFill>
                  <a:srgbClr val="C0392B"/>
                </a:solidFill>
                <a:latin typeface="Yu Gothic" panose="020B0400000000000000" pitchFamily="50" charset="-128"/>
                <a:ea typeface="Yu Gothic" panose="020B0400000000000000" pitchFamily="50" charset="-128"/>
              </a:rPr>
              <a:t>：</a:t>
            </a:r>
            <a:r>
              <a:rPr kumimoji="1" lang="en-US" altLang="ja-JP" sz="1400" b="1">
                <a:solidFill>
                  <a:srgbClr val="C0392B"/>
                </a:solidFill>
                <a:latin typeface="Yu Gothic" panose="020B0400000000000000" pitchFamily="50" charset="-128"/>
                <a:ea typeface="Yu Gothic" panose="020B0400000000000000" pitchFamily="50" charset="-128"/>
              </a:rPr>
              <a:t>CNN 34.7% → ViT 38.5%</a:t>
            </a:r>
            <a:r>
              <a:rPr kumimoji="1" lang="ja-JP" altLang="en-US" sz="1400" b="1">
                <a:solidFill>
                  <a:srgbClr val="C0392B"/>
                </a:solidFill>
                <a:latin typeface="Yu Gothic" panose="020B0400000000000000" pitchFamily="50" charset="-128"/>
                <a:ea typeface="Yu Gothic" panose="020B0400000000000000" pitchFamily="50" charset="-128"/>
              </a:rPr>
              <a:t>（差の</a:t>
            </a:r>
            <a:r>
              <a:rPr kumimoji="1" lang="en-US" altLang="ja-JP" sz="1400" b="1">
                <a:solidFill>
                  <a:srgbClr val="C0392B"/>
                </a:solidFill>
                <a:latin typeface="Yu Gothic" panose="020B0400000000000000" pitchFamily="50" charset="-128"/>
                <a:ea typeface="Yu Gothic" panose="020B0400000000000000" pitchFamily="50" charset="-128"/>
              </a:rPr>
              <a:t>95% CI</a:t>
            </a:r>
            <a:r>
              <a:rPr kumimoji="1" lang="ja-JP" altLang="en-US" sz="1400" b="1">
                <a:solidFill>
                  <a:srgbClr val="C0392B"/>
                </a:solidFill>
                <a:latin typeface="Yu Gothic" panose="020B0400000000000000" pitchFamily="50" charset="-128"/>
                <a:ea typeface="Yu Gothic" panose="020B0400000000000000" pitchFamily="50" charset="-128"/>
              </a:rPr>
              <a:t>は</a:t>
            </a:r>
            <a:r>
              <a:rPr kumimoji="1" lang="en-US" altLang="ja-JP" sz="1400" b="1">
                <a:solidFill>
                  <a:srgbClr val="C0392B"/>
                </a:solidFill>
                <a:latin typeface="Yu Gothic" panose="020B0400000000000000" pitchFamily="50" charset="-128"/>
                <a:ea typeface="Yu Gothic" panose="020B0400000000000000" pitchFamily="50" charset="-128"/>
              </a:rPr>
              <a:t>0</a:t>
            </a:r>
            <a:r>
              <a:rPr kumimoji="1" lang="ja-JP" altLang="en-US" sz="1400" b="1">
                <a:solidFill>
                  <a:srgbClr val="C0392B"/>
                </a:solidFill>
                <a:latin typeface="Yu Gothic" panose="020B0400000000000000" pitchFamily="50" charset="-128"/>
                <a:ea typeface="Yu Gothic" panose="020B0400000000000000" pitchFamily="50" charset="-128"/>
              </a:rPr>
              <a:t>を含む）</a:t>
            </a:r>
          </a:p>
        </p:txBody>
      </p:sp>
      <p:sp>
        <p:nvSpPr>
          <p:cNvPr id="9" name="テキスト ボックス 8">
            <a:extLst>
              <a:ext uri="{FF2B5EF4-FFF2-40B4-BE49-F238E27FC236}">
                <a16:creationId xmlns:a16="http://schemas.microsoft.com/office/drawing/2014/main" id="{42ADABDA-292C-3733-BF40-FF924EBF41EB}"/>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zh-TW" altLang="en-US" sz="800">
                <a:solidFill>
                  <a:srgbClr val="666666"/>
                </a:solidFill>
                <a:latin typeface="Yu Gothic" panose="020B0400000000000000" pitchFamily="50" charset="-128"/>
                <a:ea typeface="Yu Gothic" panose="020B0400000000000000" pitchFamily="50" charset="-128"/>
              </a:rPr>
              <a:t>行正規化混同行列、</a:t>
            </a:r>
            <a:r>
              <a:rPr kumimoji="1" lang="en-US" altLang="zh-TW" sz="800">
                <a:solidFill>
                  <a:srgbClr val="666666"/>
                </a:solidFill>
                <a:latin typeface="Yu Gothic" panose="020B0400000000000000" pitchFamily="50" charset="-128"/>
                <a:ea typeface="Yu Gothic" panose="020B0400000000000000" pitchFamily="50" charset="-128"/>
              </a:rPr>
              <a:t>n=1,154</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0" name="テキスト ボックス 9">
            <a:extLst>
              <a:ext uri="{FF2B5EF4-FFF2-40B4-BE49-F238E27FC236}">
                <a16:creationId xmlns:a16="http://schemas.microsoft.com/office/drawing/2014/main" id="{47014B8B-20A6-939B-B2FF-BB305B7AA8E3}"/>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1:15</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1" name="テキスト ボックス 10">
            <a:extLst>
              <a:ext uri="{FF2B5EF4-FFF2-40B4-BE49-F238E27FC236}">
                <a16:creationId xmlns:a16="http://schemas.microsoft.com/office/drawing/2014/main" id="{F9159375-1985-5F5D-1B3B-456BAF8F2A01}"/>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9</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55155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5A25FFC-2DFB-2AF1-92FB-46408B083FD2}"/>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ERROR ANALYSIS</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4CFEC0A4-1599-DC9B-E5F1-440351C6023B}"/>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誤分類監査：</a:t>
            </a:r>
            <a:r>
              <a:rPr kumimoji="1" lang="en-US" altLang="ja-JP" sz="2700" b="1">
                <a:solidFill>
                  <a:srgbClr val="1F3C59"/>
                </a:solidFill>
                <a:latin typeface="Yu Gothic" panose="020B0400000000000000" pitchFamily="50" charset="-128"/>
                <a:ea typeface="Yu Gothic" panose="020B0400000000000000" pitchFamily="50" charset="-128"/>
              </a:rPr>
              <a:t>grade 1</a:t>
            </a:r>
            <a:r>
              <a:rPr kumimoji="1" lang="ja-JP" altLang="en-US" sz="2700" b="1">
                <a:solidFill>
                  <a:srgbClr val="1F3C59"/>
                </a:solidFill>
                <a:latin typeface="Yu Gothic" panose="020B0400000000000000" pitchFamily="50" charset="-128"/>
                <a:ea typeface="Yu Gothic" panose="020B0400000000000000" pitchFamily="50" charset="-128"/>
              </a:rPr>
              <a:t>の境界性を検討</a:t>
            </a:r>
          </a:p>
        </p:txBody>
      </p:sp>
      <p:cxnSp>
        <p:nvCxnSpPr>
          <p:cNvPr id="4" name="直線コネクタ 3">
            <a:extLst>
              <a:ext uri="{FF2B5EF4-FFF2-40B4-BE49-F238E27FC236}">
                <a16:creationId xmlns:a16="http://schemas.microsoft.com/office/drawing/2014/main" id="{5977DB9B-244B-653A-FCFE-EA9348576045}"/>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A6710153-152F-5512-79BA-3549FCA6BDB1}"/>
              </a:ext>
            </a:extLst>
          </p:cNvPr>
          <p:cNvSpPr/>
          <p:nvPr/>
        </p:nvSpPr>
        <p:spPr>
          <a:xfrm>
            <a:off x="889000" y="15240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E333F10-F178-1173-7BAF-BBA017044628}"/>
              </a:ext>
            </a:extLst>
          </p:cNvPr>
          <p:cNvSpPr txBox="1"/>
          <p:nvPr/>
        </p:nvSpPr>
        <p:spPr>
          <a:xfrm>
            <a:off x="1066800" y="1689100"/>
            <a:ext cx="2057400" cy="276999"/>
          </a:xfrm>
          <a:prstGeom prst="rect">
            <a:avLst/>
          </a:prstGeom>
          <a:noFill/>
        </p:spPr>
        <p:txBody>
          <a:bodyPr vert="horz" wrap="square" lIns="0" tIns="0" rIns="0" bIns="0" rtlCol="0" anchor="t">
            <a:noAutofit/>
          </a:bodyPr>
          <a:lstStyle/>
          <a:p>
            <a:pPr algn="ctr"/>
            <a:r>
              <a:rPr kumimoji="1" lang="en-US" altLang="ja-JP" sz="2800" b="1">
                <a:solidFill>
                  <a:srgbClr val="1F3C59"/>
                </a:solidFill>
                <a:latin typeface="Yu Gothic" panose="020B0400000000000000" pitchFamily="50" charset="-128"/>
                <a:ea typeface="Yu Gothic" panose="020B0400000000000000" pitchFamily="50" charset="-128"/>
              </a:rPr>
              <a:t>444</a:t>
            </a:r>
            <a:r>
              <a:rPr kumimoji="1" lang="ja-JP" altLang="en-US" sz="2800" b="1">
                <a:solidFill>
                  <a:srgbClr val="1F3C59"/>
                </a:solidFill>
                <a:latin typeface="Yu Gothic" panose="020B0400000000000000" pitchFamily="50" charset="-128"/>
                <a:ea typeface="Yu Gothic" panose="020B0400000000000000" pitchFamily="50" charset="-128"/>
              </a:rPr>
              <a:t>名</a:t>
            </a:r>
          </a:p>
        </p:txBody>
      </p:sp>
      <p:sp>
        <p:nvSpPr>
          <p:cNvPr id="7" name="テキスト ボックス 6">
            <a:extLst>
              <a:ext uri="{FF2B5EF4-FFF2-40B4-BE49-F238E27FC236}">
                <a16:creationId xmlns:a16="http://schemas.microsoft.com/office/drawing/2014/main" id="{8F31DD06-7AD8-CD49-65DE-37EE87F2D04D}"/>
              </a:ext>
            </a:extLst>
          </p:cNvPr>
          <p:cNvSpPr txBox="1"/>
          <p:nvPr/>
        </p:nvSpPr>
        <p:spPr>
          <a:xfrm>
            <a:off x="1066800" y="2298700"/>
            <a:ext cx="2057400" cy="276999"/>
          </a:xfrm>
          <a:prstGeom prst="rect">
            <a:avLst/>
          </a:prstGeom>
          <a:noFill/>
        </p:spPr>
        <p:txBody>
          <a:bodyPr vert="horz" wrap="square" lIns="0" tIns="0" rIns="0" bIns="0" rtlCol="0" anchor="t">
            <a:noAutofit/>
          </a:bodyPr>
          <a:lstStyle/>
          <a:p>
            <a:pPr algn="ctr"/>
            <a:r>
              <a:rPr kumimoji="1" lang="en-US" altLang="ja-JP" sz="1200">
                <a:solidFill>
                  <a:srgbClr val="666666"/>
                </a:solidFill>
                <a:latin typeface="Yu Gothic" panose="020B0400000000000000" pitchFamily="50" charset="-128"/>
                <a:ea typeface="Yu Gothic" panose="020B0400000000000000" pitchFamily="50" charset="-128"/>
              </a:rPr>
              <a:t>grade 1</a:t>
            </a:r>
            <a:r>
              <a:rPr kumimoji="1" lang="ja-JP" altLang="en-US" sz="1200">
                <a:solidFill>
                  <a:srgbClr val="666666"/>
                </a:solidFill>
                <a:latin typeface="Yu Gothic" panose="020B0400000000000000" pitchFamily="50" charset="-128"/>
                <a:ea typeface="Yu Gothic" panose="020B0400000000000000" pitchFamily="50" charset="-128"/>
              </a:rPr>
              <a:t>の監査対象</a:t>
            </a:r>
          </a:p>
        </p:txBody>
      </p:sp>
      <p:sp>
        <p:nvSpPr>
          <p:cNvPr id="8" name="四角形: 角を丸くする 7">
            <a:extLst>
              <a:ext uri="{FF2B5EF4-FFF2-40B4-BE49-F238E27FC236}">
                <a16:creationId xmlns:a16="http://schemas.microsoft.com/office/drawing/2014/main" id="{23320033-96B0-720E-1478-4BE5A365D9FC}"/>
              </a:ext>
            </a:extLst>
          </p:cNvPr>
          <p:cNvSpPr/>
          <p:nvPr/>
        </p:nvSpPr>
        <p:spPr>
          <a:xfrm>
            <a:off x="3556000" y="15240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3C045E41-7130-CDAF-D93A-72F89A3FCFA3}"/>
              </a:ext>
            </a:extLst>
          </p:cNvPr>
          <p:cNvSpPr txBox="1"/>
          <p:nvPr/>
        </p:nvSpPr>
        <p:spPr>
          <a:xfrm>
            <a:off x="3733800" y="1689100"/>
            <a:ext cx="2057400" cy="276999"/>
          </a:xfrm>
          <a:prstGeom prst="rect">
            <a:avLst/>
          </a:prstGeom>
          <a:noFill/>
        </p:spPr>
        <p:txBody>
          <a:bodyPr vert="horz" wrap="square" lIns="0" tIns="0" rIns="0" bIns="0" rtlCol="0" anchor="t">
            <a:noAutofit/>
          </a:bodyPr>
          <a:lstStyle/>
          <a:p>
            <a:pPr algn="ctr"/>
            <a:r>
              <a:rPr kumimoji="1" lang="en-US" altLang="ja-JP" sz="2800" b="1">
                <a:solidFill>
                  <a:srgbClr val="C0392B"/>
                </a:solidFill>
                <a:latin typeface="Yu Gothic" panose="020B0400000000000000" pitchFamily="50" charset="-128"/>
                <a:ea typeface="Yu Gothic" panose="020B0400000000000000" pitchFamily="50" charset="-128"/>
              </a:rPr>
              <a:t>233</a:t>
            </a:r>
            <a:r>
              <a:rPr kumimoji="1" lang="ja-JP" altLang="en-US" sz="2800" b="1">
                <a:solidFill>
                  <a:srgbClr val="C0392B"/>
                </a:solidFill>
                <a:latin typeface="Yu Gothic" panose="020B0400000000000000" pitchFamily="50" charset="-128"/>
                <a:ea typeface="Yu Gothic" panose="020B0400000000000000" pitchFamily="50" charset="-128"/>
              </a:rPr>
              <a:t>名</a:t>
            </a:r>
          </a:p>
        </p:txBody>
      </p:sp>
      <p:sp>
        <p:nvSpPr>
          <p:cNvPr id="10" name="テキスト ボックス 9">
            <a:extLst>
              <a:ext uri="{FF2B5EF4-FFF2-40B4-BE49-F238E27FC236}">
                <a16:creationId xmlns:a16="http://schemas.microsoft.com/office/drawing/2014/main" id="{4F876CED-62D8-32C4-02C2-A0297449ED02}"/>
              </a:ext>
            </a:extLst>
          </p:cNvPr>
          <p:cNvSpPr txBox="1"/>
          <p:nvPr/>
        </p:nvSpPr>
        <p:spPr>
          <a:xfrm>
            <a:off x="3733800" y="22987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両モデルとも誤分類</a:t>
            </a:r>
          </a:p>
        </p:txBody>
      </p:sp>
      <p:sp>
        <p:nvSpPr>
          <p:cNvPr id="11" name="四角形: 角を丸くする 10">
            <a:extLst>
              <a:ext uri="{FF2B5EF4-FFF2-40B4-BE49-F238E27FC236}">
                <a16:creationId xmlns:a16="http://schemas.microsoft.com/office/drawing/2014/main" id="{1DA9D247-B1C6-A5FA-F036-E7DD7276F919}"/>
              </a:ext>
            </a:extLst>
          </p:cNvPr>
          <p:cNvSpPr/>
          <p:nvPr/>
        </p:nvSpPr>
        <p:spPr>
          <a:xfrm>
            <a:off x="6223000" y="15240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9783F7C-5FF8-BCD5-6BCB-5A539E906224}"/>
              </a:ext>
            </a:extLst>
          </p:cNvPr>
          <p:cNvSpPr txBox="1"/>
          <p:nvPr/>
        </p:nvSpPr>
        <p:spPr>
          <a:xfrm>
            <a:off x="6400800" y="1689100"/>
            <a:ext cx="2057400" cy="276999"/>
          </a:xfrm>
          <a:prstGeom prst="rect">
            <a:avLst/>
          </a:prstGeom>
          <a:noFill/>
        </p:spPr>
        <p:txBody>
          <a:bodyPr vert="horz" wrap="square" lIns="0" tIns="0" rIns="0" bIns="0" rtlCol="0" anchor="t">
            <a:noAutofit/>
          </a:bodyPr>
          <a:lstStyle/>
          <a:p>
            <a:pPr algn="ctr"/>
            <a:r>
              <a:rPr kumimoji="1" lang="en-US" altLang="ja-JP" sz="2800" b="1">
                <a:solidFill>
                  <a:srgbClr val="C0392B"/>
                </a:solidFill>
                <a:latin typeface="Yu Gothic" panose="020B0400000000000000" pitchFamily="50" charset="-128"/>
                <a:ea typeface="Yu Gothic" panose="020B0400000000000000" pitchFamily="50" charset="-128"/>
              </a:rPr>
              <a:t>196</a:t>
            </a:r>
            <a:r>
              <a:rPr kumimoji="1" lang="ja-JP" altLang="en-US" sz="2800" b="1">
                <a:solidFill>
                  <a:srgbClr val="C0392B"/>
                </a:solidFill>
                <a:latin typeface="Yu Gothic" panose="020B0400000000000000" pitchFamily="50" charset="-128"/>
                <a:ea typeface="Yu Gothic" panose="020B0400000000000000" pitchFamily="50" charset="-128"/>
              </a:rPr>
              <a:t>名</a:t>
            </a:r>
          </a:p>
        </p:txBody>
      </p:sp>
      <p:sp>
        <p:nvSpPr>
          <p:cNvPr id="13" name="テキスト ボックス 12">
            <a:extLst>
              <a:ext uri="{FF2B5EF4-FFF2-40B4-BE49-F238E27FC236}">
                <a16:creationId xmlns:a16="http://schemas.microsoft.com/office/drawing/2014/main" id="{782483B4-2F65-2BB1-D4E9-AFF120EC47DB}"/>
              </a:ext>
            </a:extLst>
          </p:cNvPr>
          <p:cNvSpPr txBox="1"/>
          <p:nvPr/>
        </p:nvSpPr>
        <p:spPr>
          <a:xfrm>
            <a:off x="6400800" y="22987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両モデルとも</a:t>
            </a:r>
            <a:r>
              <a:rPr kumimoji="1" lang="en-US" altLang="ja-JP" sz="1200">
                <a:solidFill>
                  <a:srgbClr val="666666"/>
                </a:solidFill>
                <a:latin typeface="Yu Gothic" panose="020B0400000000000000" pitchFamily="50" charset="-128"/>
                <a:ea typeface="Yu Gothic" panose="020B0400000000000000" pitchFamily="50" charset="-128"/>
              </a:rPr>
              <a:t>grade 0</a:t>
            </a:r>
            <a:r>
              <a:rPr kumimoji="1" lang="ja-JP" altLang="en-US" sz="1200">
                <a:solidFill>
                  <a:srgbClr val="666666"/>
                </a:solidFill>
                <a:latin typeface="Yu Gothic" panose="020B0400000000000000" pitchFamily="50" charset="-128"/>
                <a:ea typeface="Yu Gothic" panose="020B0400000000000000" pitchFamily="50" charset="-128"/>
              </a:rPr>
              <a:t>へ</a:t>
            </a:r>
          </a:p>
        </p:txBody>
      </p:sp>
      <p:sp>
        <p:nvSpPr>
          <p:cNvPr id="14" name="四角形: 角を丸くする 13">
            <a:extLst>
              <a:ext uri="{FF2B5EF4-FFF2-40B4-BE49-F238E27FC236}">
                <a16:creationId xmlns:a16="http://schemas.microsoft.com/office/drawing/2014/main" id="{359AE9FE-9CAF-9B43-BD6D-EE2C0BD1BEAB}"/>
              </a:ext>
            </a:extLst>
          </p:cNvPr>
          <p:cNvSpPr/>
          <p:nvPr/>
        </p:nvSpPr>
        <p:spPr>
          <a:xfrm>
            <a:off x="8890000" y="1524000"/>
            <a:ext cx="2413000" cy="1333500"/>
          </a:xfrm>
          <a:prstGeom prst="round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646B1ED-1DEA-5ED6-61A9-42B17B3F6F01}"/>
              </a:ext>
            </a:extLst>
          </p:cNvPr>
          <p:cNvSpPr txBox="1"/>
          <p:nvPr/>
        </p:nvSpPr>
        <p:spPr>
          <a:xfrm>
            <a:off x="9067800" y="1689100"/>
            <a:ext cx="2057400" cy="276999"/>
          </a:xfrm>
          <a:prstGeom prst="rect">
            <a:avLst/>
          </a:prstGeom>
          <a:noFill/>
        </p:spPr>
        <p:txBody>
          <a:bodyPr vert="horz" wrap="square" lIns="0" tIns="0" rIns="0" bIns="0" rtlCol="0" anchor="t">
            <a:noAutofit/>
          </a:bodyPr>
          <a:lstStyle/>
          <a:p>
            <a:pPr algn="ctr"/>
            <a:r>
              <a:rPr kumimoji="1" lang="en-US" altLang="ja-JP" sz="2800" b="1">
                <a:solidFill>
                  <a:srgbClr val="2E7D32"/>
                </a:solidFill>
                <a:latin typeface="Yu Gothic" panose="020B0400000000000000" pitchFamily="50" charset="-128"/>
                <a:ea typeface="Yu Gothic" panose="020B0400000000000000" pitchFamily="50" charset="-128"/>
              </a:rPr>
              <a:t>3</a:t>
            </a:r>
            <a:r>
              <a:rPr kumimoji="1" lang="ja-JP" altLang="en-US" sz="2800" b="1">
                <a:solidFill>
                  <a:srgbClr val="2E7D32"/>
                </a:solidFill>
                <a:latin typeface="Yu Gothic" panose="020B0400000000000000" pitchFamily="50" charset="-128"/>
                <a:ea typeface="Yu Gothic" panose="020B0400000000000000" pitchFamily="50" charset="-128"/>
              </a:rPr>
              <a:t>名</a:t>
            </a:r>
          </a:p>
        </p:txBody>
      </p:sp>
      <p:sp>
        <p:nvSpPr>
          <p:cNvPr id="16" name="テキスト ボックス 15">
            <a:extLst>
              <a:ext uri="{FF2B5EF4-FFF2-40B4-BE49-F238E27FC236}">
                <a16:creationId xmlns:a16="http://schemas.microsoft.com/office/drawing/2014/main" id="{DCE1DDB3-32E2-620E-92ED-B10D2F5EE58D}"/>
              </a:ext>
            </a:extLst>
          </p:cNvPr>
          <p:cNvSpPr txBox="1"/>
          <p:nvPr/>
        </p:nvSpPr>
        <p:spPr>
          <a:xfrm>
            <a:off x="9067800" y="2298700"/>
            <a:ext cx="2057400" cy="276999"/>
          </a:xfrm>
          <a:prstGeom prst="rect">
            <a:avLst/>
          </a:prstGeom>
          <a:noFill/>
        </p:spPr>
        <p:txBody>
          <a:bodyPr vert="horz" wrap="square" lIns="0" tIns="0" rIns="0" bIns="0" rtlCol="0" anchor="t">
            <a:noAutofit/>
          </a:bodyPr>
          <a:lstStyle/>
          <a:p>
            <a:pPr algn="ctr"/>
            <a:r>
              <a:rPr kumimoji="1" lang="ja-JP" altLang="en-US" sz="1200">
                <a:solidFill>
                  <a:srgbClr val="666666"/>
                </a:solidFill>
                <a:latin typeface="Yu Gothic" panose="020B0400000000000000" pitchFamily="50" charset="-128"/>
                <a:ea typeface="Yu Gothic" panose="020B0400000000000000" pitchFamily="50" charset="-128"/>
              </a:rPr>
              <a:t>技術的フラグあり</a:t>
            </a:r>
          </a:p>
        </p:txBody>
      </p:sp>
      <p:sp>
        <p:nvSpPr>
          <p:cNvPr id="17" name="テキスト ボックス 16">
            <a:extLst>
              <a:ext uri="{FF2B5EF4-FFF2-40B4-BE49-F238E27FC236}">
                <a16:creationId xmlns:a16="http://schemas.microsoft.com/office/drawing/2014/main" id="{32342C9C-E0E8-0CEC-F508-24504B2A3082}"/>
              </a:ext>
            </a:extLst>
          </p:cNvPr>
          <p:cNvSpPr txBox="1"/>
          <p:nvPr/>
        </p:nvSpPr>
        <p:spPr>
          <a:xfrm>
            <a:off x="1016000" y="3556000"/>
            <a:ext cx="1270000" cy="276999"/>
          </a:xfrm>
          <a:prstGeom prst="rect">
            <a:avLst/>
          </a:prstGeom>
          <a:noFill/>
        </p:spPr>
        <p:txBody>
          <a:bodyPr vert="horz" wrap="square" lIns="0" tIns="0" rIns="0" bIns="0" rtlCol="0" anchor="t">
            <a:noAutofit/>
          </a:bodyPr>
          <a:lstStyle/>
          <a:p>
            <a:r>
              <a:rPr kumimoji="1" lang="ja-JP" altLang="en-US" sz="1700" b="1">
                <a:solidFill>
                  <a:srgbClr val="1F3C59"/>
                </a:solidFill>
                <a:latin typeface="Yu Gothic" panose="020B0400000000000000" pitchFamily="50" charset="-128"/>
                <a:ea typeface="Yu Gothic" panose="020B0400000000000000" pitchFamily="50" charset="-128"/>
              </a:rPr>
              <a:t>示唆</a:t>
            </a:r>
          </a:p>
        </p:txBody>
      </p:sp>
      <p:sp>
        <p:nvSpPr>
          <p:cNvPr id="18" name="テキスト ボックス 17">
            <a:extLst>
              <a:ext uri="{FF2B5EF4-FFF2-40B4-BE49-F238E27FC236}">
                <a16:creationId xmlns:a16="http://schemas.microsoft.com/office/drawing/2014/main" id="{4D497726-4455-F1FB-5A8E-01898D3FD9A2}"/>
              </a:ext>
            </a:extLst>
          </p:cNvPr>
          <p:cNvSpPr txBox="1"/>
          <p:nvPr/>
        </p:nvSpPr>
        <p:spPr>
          <a:xfrm>
            <a:off x="1270000" y="4089400"/>
            <a:ext cx="9652000" cy="276999"/>
          </a:xfrm>
          <a:prstGeom prst="rect">
            <a:avLst/>
          </a:prstGeom>
          <a:noFill/>
        </p:spPr>
        <p:txBody>
          <a:bodyPr vert="horz" wrap="square" lIns="0" tIns="0" rIns="0" bIns="0" rtlCol="0" anchor="t">
            <a:noAutofit/>
          </a:bodyPr>
          <a:lstStyle/>
          <a:p>
            <a:r>
              <a:rPr kumimoji="1" lang="ja-JP" altLang="en-US" sz="1700">
                <a:solidFill>
                  <a:srgbClr val="242424"/>
                </a:solidFill>
                <a:latin typeface="Yu Gothic" panose="020B0400000000000000" pitchFamily="50" charset="-128"/>
                <a:ea typeface="Yu Gothic" panose="020B0400000000000000" pitchFamily="50" charset="-128"/>
              </a:rPr>
              <a:t>・単純なデータ欠損だけでは、</a:t>
            </a:r>
            <a:r>
              <a:rPr kumimoji="1" lang="en-US" altLang="ja-JP" sz="1700">
                <a:solidFill>
                  <a:srgbClr val="242424"/>
                </a:solidFill>
                <a:latin typeface="Yu Gothic" panose="020B0400000000000000" pitchFamily="50" charset="-128"/>
                <a:ea typeface="Yu Gothic" panose="020B0400000000000000" pitchFamily="50" charset="-128"/>
              </a:rPr>
              <a:t>grade 1</a:t>
            </a:r>
            <a:r>
              <a:rPr kumimoji="1" lang="ja-JP" altLang="en-US" sz="1700">
                <a:solidFill>
                  <a:srgbClr val="242424"/>
                </a:solidFill>
                <a:latin typeface="Yu Gothic" panose="020B0400000000000000" pitchFamily="50" charset="-128"/>
                <a:ea typeface="Yu Gothic" panose="020B0400000000000000" pitchFamily="50" charset="-128"/>
              </a:rPr>
              <a:t>の低</a:t>
            </a:r>
            <a:r>
              <a:rPr kumimoji="1" lang="en-US" altLang="ja-JP" sz="1700">
                <a:solidFill>
                  <a:srgbClr val="242424"/>
                </a:solidFill>
                <a:latin typeface="Yu Gothic" panose="020B0400000000000000" pitchFamily="50" charset="-128"/>
                <a:ea typeface="Yu Gothic" panose="020B0400000000000000" pitchFamily="50" charset="-128"/>
              </a:rPr>
              <a:t>Recall</a:t>
            </a:r>
            <a:r>
              <a:rPr kumimoji="1" lang="ja-JP" altLang="en-US" sz="1700">
                <a:solidFill>
                  <a:srgbClr val="242424"/>
                </a:solidFill>
                <a:latin typeface="Yu Gothic" panose="020B0400000000000000" pitchFamily="50" charset="-128"/>
                <a:ea typeface="Yu Gothic" panose="020B0400000000000000" pitchFamily="50" charset="-128"/>
              </a:rPr>
              <a:t>を説明できない
・</a:t>
            </a:r>
            <a:r>
              <a:rPr kumimoji="1" lang="en-US" altLang="ja-JP" sz="1700">
                <a:solidFill>
                  <a:srgbClr val="242424"/>
                </a:solidFill>
                <a:latin typeface="Yu Gothic" panose="020B0400000000000000" pitchFamily="50" charset="-128"/>
                <a:ea typeface="Yu Gothic" panose="020B0400000000000000" pitchFamily="50" charset="-128"/>
              </a:rPr>
              <a:t>grade 0 / 1</a:t>
            </a:r>
            <a:r>
              <a:rPr kumimoji="1" lang="ja-JP" altLang="en-US" sz="1700">
                <a:solidFill>
                  <a:srgbClr val="242424"/>
                </a:solidFill>
                <a:latin typeface="Yu Gothic" panose="020B0400000000000000" pitchFamily="50" charset="-128"/>
                <a:ea typeface="Yu Gothic" panose="020B0400000000000000" pitchFamily="50" charset="-128"/>
              </a:rPr>
              <a:t>の境界、ラベルの揺らぎ、選択スライスの妥当性を確認する必要
・高確信度誤分類を含む</a:t>
            </a:r>
            <a:r>
              <a:rPr kumimoji="1" lang="en-US" altLang="ja-JP" sz="1700">
                <a:solidFill>
                  <a:srgbClr val="242424"/>
                </a:solidFill>
                <a:latin typeface="Yu Gothic" panose="020B0400000000000000" pitchFamily="50" charset="-128"/>
                <a:ea typeface="Yu Gothic" panose="020B0400000000000000" pitchFamily="50" charset="-128"/>
              </a:rPr>
              <a:t>200</a:t>
            </a:r>
            <a:r>
              <a:rPr kumimoji="1" lang="ja-JP" altLang="en-US" sz="1700">
                <a:solidFill>
                  <a:srgbClr val="242424"/>
                </a:solidFill>
                <a:latin typeface="Yu Gothic" panose="020B0400000000000000" pitchFamily="50" charset="-128"/>
                <a:ea typeface="Yu Gothic" panose="020B0400000000000000" pitchFamily="50" charset="-128"/>
              </a:rPr>
              <a:t>例の盲検レビュー用パッケージを作成済み</a:t>
            </a:r>
          </a:p>
        </p:txBody>
      </p:sp>
      <p:sp>
        <p:nvSpPr>
          <p:cNvPr id="19" name="四角形: 角を丸くする 18">
            <a:extLst>
              <a:ext uri="{FF2B5EF4-FFF2-40B4-BE49-F238E27FC236}">
                <a16:creationId xmlns:a16="http://schemas.microsoft.com/office/drawing/2014/main" id="{26468B09-1239-94BA-C05D-AD2BDCFDAFEE}"/>
              </a:ext>
            </a:extLst>
          </p:cNvPr>
          <p:cNvSpPr/>
          <p:nvPr/>
        </p:nvSpPr>
        <p:spPr>
          <a:xfrm>
            <a:off x="1968500" y="5664200"/>
            <a:ext cx="8255000" cy="5080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688758D0-762B-3874-C74A-F0AA92794230}"/>
              </a:ext>
            </a:extLst>
          </p:cNvPr>
          <p:cNvSpPr txBox="1"/>
          <p:nvPr/>
        </p:nvSpPr>
        <p:spPr>
          <a:xfrm>
            <a:off x="2286000" y="5778500"/>
            <a:ext cx="7620000" cy="276999"/>
          </a:xfrm>
          <a:prstGeom prst="rect">
            <a:avLst/>
          </a:prstGeom>
          <a:noFill/>
        </p:spPr>
        <p:txBody>
          <a:bodyPr vert="horz" wrap="square" lIns="0" tIns="0" rIns="0" bIns="0" rtlCol="0" anchor="t">
            <a:noAutofit/>
          </a:bodyPr>
          <a:lstStyle/>
          <a:p>
            <a:pPr algn="ctr"/>
            <a:r>
              <a:rPr kumimoji="1" lang="ja-JP" altLang="en-US" sz="1600" b="1">
                <a:solidFill>
                  <a:srgbClr val="2F6690"/>
                </a:solidFill>
                <a:latin typeface="Yu Gothic" panose="020B0400000000000000" pitchFamily="50" charset="-128"/>
                <a:ea typeface="Yu Gothic" panose="020B0400000000000000" pitchFamily="50" charset="-128"/>
              </a:rPr>
              <a:t>技術監査の次は、医療者による独立した再評価へ</a:t>
            </a:r>
          </a:p>
        </p:txBody>
      </p:sp>
      <p:sp>
        <p:nvSpPr>
          <p:cNvPr id="21" name="テキスト ボックス 20">
            <a:extLst>
              <a:ext uri="{FF2B5EF4-FFF2-40B4-BE49-F238E27FC236}">
                <a16:creationId xmlns:a16="http://schemas.microsoft.com/office/drawing/2014/main" id="{18F45262-0E4B-A963-91EE-D6F4DBBDC393}"/>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Grade1 OOF technical audit</a:t>
            </a:r>
            <a:r>
              <a:rPr kumimoji="1" lang="ja-JP" altLang="en-US" sz="800">
                <a:solidFill>
                  <a:srgbClr val="666666"/>
                </a:solidFill>
                <a:latin typeface="Yu Gothic" panose="020B0400000000000000" pitchFamily="50" charset="-128"/>
                <a:ea typeface="Yu Gothic" panose="020B0400000000000000" pitchFamily="50" charset="-128"/>
              </a:rPr>
              <a:t>（医療的再判定は未実施）</a:t>
            </a:r>
          </a:p>
        </p:txBody>
      </p:sp>
      <p:sp>
        <p:nvSpPr>
          <p:cNvPr id="22" name="テキスト ボックス 21">
            <a:extLst>
              <a:ext uri="{FF2B5EF4-FFF2-40B4-BE49-F238E27FC236}">
                <a16:creationId xmlns:a16="http://schemas.microsoft.com/office/drawing/2014/main" id="{63725B3F-BE9A-31A4-A95B-9AD7D36A4515}"/>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1:15</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23" name="テキスト ボックス 22">
            <a:extLst>
              <a:ext uri="{FF2B5EF4-FFF2-40B4-BE49-F238E27FC236}">
                <a16:creationId xmlns:a16="http://schemas.microsoft.com/office/drawing/2014/main" id="{754782D9-8EFC-AB99-8947-3522D432ECF5}"/>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10</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2070105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EE86D39-A741-F944-AB40-D7A85BDDE9B5}"/>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DISCUSSION</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C826A529-E1EE-B35B-DD7E-A7310F8BB7E8}"/>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考察・限界・次の一手</a:t>
            </a:r>
          </a:p>
        </p:txBody>
      </p:sp>
      <p:cxnSp>
        <p:nvCxnSpPr>
          <p:cNvPr id="4" name="直線コネクタ 3">
            <a:extLst>
              <a:ext uri="{FF2B5EF4-FFF2-40B4-BE49-F238E27FC236}">
                <a16:creationId xmlns:a16="http://schemas.microsoft.com/office/drawing/2014/main" id="{0A605CAF-BD66-281D-5B30-9F2D9512B314}"/>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264DAD8C-6CB0-AA14-5967-193C0AF5EB05}"/>
              </a:ext>
            </a:extLst>
          </p:cNvPr>
          <p:cNvSpPr/>
          <p:nvPr/>
        </p:nvSpPr>
        <p:spPr>
          <a:xfrm>
            <a:off x="698500" y="1524000"/>
            <a:ext cx="3429000" cy="3810000"/>
          </a:xfrm>
          <a:prstGeom prst="round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7322AEA6-B3AD-8B15-711A-9169032226A5}"/>
              </a:ext>
            </a:extLst>
          </p:cNvPr>
          <p:cNvSpPr txBox="1"/>
          <p:nvPr/>
        </p:nvSpPr>
        <p:spPr>
          <a:xfrm>
            <a:off x="1016000" y="1816100"/>
            <a:ext cx="2794000" cy="276999"/>
          </a:xfrm>
          <a:prstGeom prst="rect">
            <a:avLst/>
          </a:prstGeom>
          <a:noFill/>
        </p:spPr>
        <p:txBody>
          <a:bodyPr vert="horz" wrap="square" lIns="0" tIns="0" rIns="0" bIns="0" rtlCol="0" anchor="t">
            <a:noAutofit/>
          </a:bodyPr>
          <a:lstStyle/>
          <a:p>
            <a:pPr algn="ctr"/>
            <a:r>
              <a:rPr kumimoji="1" lang="ja-JP" altLang="en-US" b="1">
                <a:solidFill>
                  <a:srgbClr val="2E7D32"/>
                </a:solidFill>
                <a:latin typeface="Yu Gothic" panose="020B0400000000000000" pitchFamily="50" charset="-128"/>
                <a:ea typeface="Yu Gothic" panose="020B0400000000000000" pitchFamily="50" charset="-128"/>
              </a:rPr>
              <a:t>今回いえること</a:t>
            </a:r>
          </a:p>
        </p:txBody>
      </p:sp>
      <p:sp>
        <p:nvSpPr>
          <p:cNvPr id="7" name="テキスト ボックス 6">
            <a:extLst>
              <a:ext uri="{FF2B5EF4-FFF2-40B4-BE49-F238E27FC236}">
                <a16:creationId xmlns:a16="http://schemas.microsoft.com/office/drawing/2014/main" id="{EE0326C5-7681-04DD-5069-43B4CD7EBD30}"/>
              </a:ext>
            </a:extLst>
          </p:cNvPr>
          <p:cNvSpPr txBox="1"/>
          <p:nvPr/>
        </p:nvSpPr>
        <p:spPr>
          <a:xfrm>
            <a:off x="1016000" y="2540000"/>
            <a:ext cx="2794000" cy="276999"/>
          </a:xfrm>
          <a:prstGeom prst="rect">
            <a:avLst/>
          </a:prstGeom>
          <a:noFill/>
        </p:spPr>
        <p:txBody>
          <a:bodyPr vert="horz" wrap="square" lIns="0" tIns="0" rIns="0" bIns="0" rtlCol="0" anchor="t">
            <a:noAutofit/>
          </a:bodyPr>
          <a:lstStyle/>
          <a:p>
            <a:pPr algn="ctr"/>
            <a:r>
              <a:rPr kumimoji="1" lang="en-US" altLang="ja-JP" sz="1700">
                <a:solidFill>
                  <a:srgbClr val="242424"/>
                </a:solidFill>
                <a:latin typeface="Yu Gothic" panose="020B0400000000000000" pitchFamily="50" charset="-128"/>
                <a:ea typeface="Yu Gothic" panose="020B0400000000000000" pitchFamily="50" charset="-128"/>
              </a:rPr>
              <a:t>ViT</a:t>
            </a:r>
            <a:r>
              <a:rPr kumimoji="1" lang="ja-JP" altLang="en-US" sz="1700">
                <a:solidFill>
                  <a:srgbClr val="242424"/>
                </a:solidFill>
                <a:latin typeface="Yu Gothic" panose="020B0400000000000000" pitchFamily="50" charset="-128"/>
                <a:ea typeface="Yu Gothic" panose="020B0400000000000000" pitchFamily="50" charset="-128"/>
              </a:rPr>
              <a:t>は</a:t>
            </a:r>
            <a:r>
              <a:rPr kumimoji="1" lang="en-US" altLang="ja-JP" sz="1700">
                <a:solidFill>
                  <a:srgbClr val="242424"/>
                </a:solidFill>
                <a:latin typeface="Yu Gothic" panose="020B0400000000000000" pitchFamily="50" charset="-128"/>
                <a:ea typeface="Yu Gothic" panose="020B0400000000000000" pitchFamily="50" charset="-128"/>
              </a:rPr>
              <a:t>macro ROC-AUC</a:t>
            </a:r>
            <a:r>
              <a:rPr kumimoji="1" lang="ja-JP" altLang="en-US" sz="1700">
                <a:solidFill>
                  <a:srgbClr val="242424"/>
                </a:solidFill>
                <a:latin typeface="Yu Gothic" panose="020B0400000000000000" pitchFamily="50" charset="-128"/>
                <a:ea typeface="Yu Gothic" panose="020B0400000000000000" pitchFamily="50" charset="-128"/>
              </a:rPr>
              <a:t>と
確率の較正指標を改善
ただし</a:t>
            </a:r>
            <a:r>
              <a:rPr kumimoji="1" lang="en-US" altLang="ja-JP" sz="1700">
                <a:solidFill>
                  <a:srgbClr val="242424"/>
                </a:solidFill>
                <a:latin typeface="Yu Gothic" panose="020B0400000000000000" pitchFamily="50" charset="-128"/>
                <a:ea typeface="Yu Gothic" panose="020B0400000000000000" pitchFamily="50" charset="-128"/>
              </a:rPr>
              <a:t>Accuracy</a:t>
            </a:r>
            <a:r>
              <a:rPr kumimoji="1" lang="ja-JP" altLang="en-US" sz="1700">
                <a:solidFill>
                  <a:srgbClr val="242424"/>
                </a:solidFill>
                <a:latin typeface="Yu Gothic" panose="020B0400000000000000" pitchFamily="50" charset="-128"/>
                <a:ea typeface="Yu Gothic" panose="020B0400000000000000" pitchFamily="50" charset="-128"/>
              </a:rPr>
              <a:t>・</a:t>
            </a:r>
            <a:r>
              <a:rPr kumimoji="1" lang="en-US" altLang="ja-JP" sz="1700">
                <a:solidFill>
                  <a:srgbClr val="242424"/>
                </a:solidFill>
                <a:latin typeface="Yu Gothic" panose="020B0400000000000000" pitchFamily="50" charset="-128"/>
                <a:ea typeface="Yu Gothic" panose="020B0400000000000000" pitchFamily="50" charset="-128"/>
              </a:rPr>
              <a:t>macro-F1</a:t>
            </a:r>
            <a:r>
              <a:rPr kumimoji="1" lang="ja-JP" altLang="en-US" sz="1700">
                <a:solidFill>
                  <a:srgbClr val="242424"/>
                </a:solidFill>
                <a:latin typeface="Yu Gothic" panose="020B0400000000000000" pitchFamily="50" charset="-128"/>
                <a:ea typeface="Yu Gothic" panose="020B0400000000000000" pitchFamily="50" charset="-128"/>
              </a:rPr>
              <a:t>の
優位性は未確定</a:t>
            </a:r>
          </a:p>
        </p:txBody>
      </p:sp>
      <p:sp>
        <p:nvSpPr>
          <p:cNvPr id="8" name="四角形: 角を丸くする 7">
            <a:extLst>
              <a:ext uri="{FF2B5EF4-FFF2-40B4-BE49-F238E27FC236}">
                <a16:creationId xmlns:a16="http://schemas.microsoft.com/office/drawing/2014/main" id="{D38D3BFB-8CE0-29E7-CD45-ECC241805854}"/>
              </a:ext>
            </a:extLst>
          </p:cNvPr>
          <p:cNvSpPr/>
          <p:nvPr/>
        </p:nvSpPr>
        <p:spPr>
          <a:xfrm>
            <a:off x="4381500" y="1524000"/>
            <a:ext cx="3429000" cy="3810000"/>
          </a:xfrm>
          <a:prstGeom prst="roundRect">
            <a:avLst/>
          </a:prstGeom>
          <a:solidFill>
            <a:srgbClr val="FCEBE9"/>
          </a:solidFill>
          <a:ln w="12700">
            <a:solidFill>
              <a:srgbClr val="C039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5A758E91-1243-1313-B562-56E3C7812E27}"/>
              </a:ext>
            </a:extLst>
          </p:cNvPr>
          <p:cNvSpPr txBox="1"/>
          <p:nvPr/>
        </p:nvSpPr>
        <p:spPr>
          <a:xfrm>
            <a:off x="4699000" y="1816100"/>
            <a:ext cx="2794000" cy="276999"/>
          </a:xfrm>
          <a:prstGeom prst="rect">
            <a:avLst/>
          </a:prstGeom>
          <a:noFill/>
        </p:spPr>
        <p:txBody>
          <a:bodyPr vert="horz" wrap="square" lIns="0" tIns="0" rIns="0" bIns="0" rtlCol="0" anchor="t">
            <a:noAutofit/>
          </a:bodyPr>
          <a:lstStyle/>
          <a:p>
            <a:pPr algn="ctr"/>
            <a:r>
              <a:rPr kumimoji="1" lang="ja-JP" altLang="en-US" b="1">
                <a:solidFill>
                  <a:srgbClr val="C0392B"/>
                </a:solidFill>
                <a:latin typeface="Yu Gothic" panose="020B0400000000000000" pitchFamily="50" charset="-128"/>
                <a:ea typeface="Yu Gothic" panose="020B0400000000000000" pitchFamily="50" charset="-128"/>
              </a:rPr>
              <a:t>限界</a:t>
            </a:r>
          </a:p>
        </p:txBody>
      </p:sp>
      <p:sp>
        <p:nvSpPr>
          <p:cNvPr id="10" name="テキスト ボックス 9">
            <a:extLst>
              <a:ext uri="{FF2B5EF4-FFF2-40B4-BE49-F238E27FC236}">
                <a16:creationId xmlns:a16="http://schemas.microsoft.com/office/drawing/2014/main" id="{6B089487-996C-1AA1-BF17-F17F8322712F}"/>
              </a:ext>
            </a:extLst>
          </p:cNvPr>
          <p:cNvSpPr txBox="1"/>
          <p:nvPr/>
        </p:nvSpPr>
        <p:spPr>
          <a:xfrm>
            <a:off x="4762500" y="2514600"/>
            <a:ext cx="2667000" cy="276999"/>
          </a:xfrm>
          <a:prstGeom prst="rect">
            <a:avLst/>
          </a:prstGeom>
          <a:noFill/>
        </p:spPr>
        <p:txBody>
          <a:bodyPr vert="horz" wrap="square" lIns="0" tIns="0" rIns="0" bIns="0" rtlCol="0" anchor="t">
            <a:noAutofit/>
          </a:bodyPr>
          <a:lstStyle/>
          <a:p>
            <a:r>
              <a:rPr kumimoji="1" lang="ja-JP" altLang="en-US" sz="1600">
                <a:solidFill>
                  <a:srgbClr val="242424"/>
                </a:solidFill>
                <a:latin typeface="Yu Gothic" panose="020B0400000000000000" pitchFamily="50" charset="-128"/>
                <a:ea typeface="Yu Gothic" panose="020B0400000000000000" pitchFamily="50" charset="-128"/>
              </a:rPr>
              <a:t>・単施設データ
・探索後に固定した</a:t>
            </a:r>
            <a:r>
              <a:rPr kumimoji="1" lang="en-US" altLang="ja-JP" sz="1600">
                <a:solidFill>
                  <a:srgbClr val="242424"/>
                </a:solidFill>
                <a:latin typeface="Yu Gothic" panose="020B0400000000000000" pitchFamily="50" charset="-128"/>
                <a:ea typeface="Yu Gothic" panose="020B0400000000000000" pitchFamily="50" charset="-128"/>
              </a:rPr>
              <a:t>protocol
</a:t>
            </a:r>
            <a:r>
              <a:rPr kumimoji="1" lang="ja-JP" altLang="en-US" sz="1600">
                <a:solidFill>
                  <a:srgbClr val="242424"/>
                </a:solidFill>
                <a:latin typeface="Yu Gothic" panose="020B0400000000000000" pitchFamily="50" charset="-128"/>
                <a:ea typeface="Yu Gothic" panose="020B0400000000000000" pitchFamily="50" charset="-128"/>
              </a:rPr>
              <a:t>・</a:t>
            </a:r>
            <a:r>
              <a:rPr kumimoji="1" lang="en-US" altLang="ja-JP" sz="1600">
                <a:solidFill>
                  <a:srgbClr val="242424"/>
                </a:solidFill>
                <a:latin typeface="Yu Gothic" panose="020B0400000000000000" pitchFamily="50" charset="-128"/>
                <a:ea typeface="Yu Gothic" panose="020B0400000000000000" pitchFamily="50" charset="-128"/>
              </a:rPr>
              <a:t>top-5</a:t>
            </a:r>
            <a:r>
              <a:rPr kumimoji="1" lang="ja-JP" altLang="en-US" sz="1600">
                <a:solidFill>
                  <a:srgbClr val="242424"/>
                </a:solidFill>
                <a:latin typeface="Yu Gothic" panose="020B0400000000000000" pitchFamily="50" charset="-128"/>
                <a:ea typeface="Yu Gothic" panose="020B0400000000000000" pitchFamily="50" charset="-128"/>
              </a:rPr>
              <a:t>は後処理
・患者内の断面間関係を
　直接学習していない</a:t>
            </a:r>
          </a:p>
        </p:txBody>
      </p:sp>
      <p:sp>
        <p:nvSpPr>
          <p:cNvPr id="11" name="四角形: 角を丸くする 10">
            <a:extLst>
              <a:ext uri="{FF2B5EF4-FFF2-40B4-BE49-F238E27FC236}">
                <a16:creationId xmlns:a16="http://schemas.microsoft.com/office/drawing/2014/main" id="{8B324064-A71A-DADA-F576-AFCC125CCFE2}"/>
              </a:ext>
            </a:extLst>
          </p:cNvPr>
          <p:cNvSpPr/>
          <p:nvPr/>
        </p:nvSpPr>
        <p:spPr>
          <a:xfrm>
            <a:off x="8064500" y="1524000"/>
            <a:ext cx="3429000" cy="38100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4088048F-1E89-D29A-023A-633CF8771153}"/>
              </a:ext>
            </a:extLst>
          </p:cNvPr>
          <p:cNvSpPr txBox="1"/>
          <p:nvPr/>
        </p:nvSpPr>
        <p:spPr>
          <a:xfrm>
            <a:off x="8382000" y="1816100"/>
            <a:ext cx="2794000" cy="276999"/>
          </a:xfrm>
          <a:prstGeom prst="rect">
            <a:avLst/>
          </a:prstGeom>
          <a:noFill/>
        </p:spPr>
        <p:txBody>
          <a:bodyPr vert="horz" wrap="square" lIns="0" tIns="0" rIns="0" bIns="0" rtlCol="0" anchor="t">
            <a:noAutofit/>
          </a:bodyPr>
          <a:lstStyle/>
          <a:p>
            <a:pPr algn="ctr"/>
            <a:r>
              <a:rPr kumimoji="1" lang="ja-JP" altLang="en-US" b="1">
                <a:solidFill>
                  <a:srgbClr val="2F6690"/>
                </a:solidFill>
                <a:latin typeface="Yu Gothic" panose="020B0400000000000000" pitchFamily="50" charset="-128"/>
                <a:ea typeface="Yu Gothic" panose="020B0400000000000000" pitchFamily="50" charset="-128"/>
              </a:rPr>
              <a:t>次の一手</a:t>
            </a:r>
          </a:p>
        </p:txBody>
      </p:sp>
      <p:sp>
        <p:nvSpPr>
          <p:cNvPr id="13" name="テキスト ボックス 12">
            <a:extLst>
              <a:ext uri="{FF2B5EF4-FFF2-40B4-BE49-F238E27FC236}">
                <a16:creationId xmlns:a16="http://schemas.microsoft.com/office/drawing/2014/main" id="{DD746DF0-239B-E484-5ACA-3D08BBD60B9A}"/>
              </a:ext>
            </a:extLst>
          </p:cNvPr>
          <p:cNvSpPr txBox="1"/>
          <p:nvPr/>
        </p:nvSpPr>
        <p:spPr>
          <a:xfrm>
            <a:off x="8445500" y="2514600"/>
            <a:ext cx="2667000" cy="276999"/>
          </a:xfrm>
          <a:prstGeom prst="rect">
            <a:avLst/>
          </a:prstGeom>
          <a:noFill/>
        </p:spPr>
        <p:txBody>
          <a:bodyPr vert="horz" wrap="square" lIns="0" tIns="0" rIns="0" bIns="0" rtlCol="0" anchor="t">
            <a:noAutofit/>
          </a:bodyPr>
          <a:lstStyle/>
          <a:p>
            <a:r>
              <a:rPr kumimoji="1" lang="ja-JP" altLang="en-US" sz="1600">
                <a:solidFill>
                  <a:srgbClr val="242424"/>
                </a:solidFill>
                <a:latin typeface="Yu Gothic" panose="020B0400000000000000" pitchFamily="50" charset="-128"/>
                <a:ea typeface="Yu Gothic" panose="020B0400000000000000" pitchFamily="50" charset="-128"/>
              </a:rPr>
              <a:t>・外部検証／反復</a:t>
            </a:r>
            <a:r>
              <a:rPr kumimoji="1" lang="en-US" altLang="ja-JP" sz="1600">
                <a:solidFill>
                  <a:srgbClr val="242424"/>
                </a:solidFill>
                <a:latin typeface="Yu Gothic" panose="020B0400000000000000" pitchFamily="50" charset="-128"/>
                <a:ea typeface="Yu Gothic" panose="020B0400000000000000" pitchFamily="50" charset="-128"/>
              </a:rPr>
              <a:t>CV
</a:t>
            </a:r>
            <a:r>
              <a:rPr kumimoji="1" lang="ja-JP" altLang="en-US" sz="1600">
                <a:solidFill>
                  <a:srgbClr val="242424"/>
                </a:solidFill>
                <a:latin typeface="Yu Gothic" panose="020B0400000000000000" pitchFamily="50" charset="-128"/>
                <a:ea typeface="Yu Gothic" panose="020B0400000000000000" pitchFamily="50" charset="-128"/>
              </a:rPr>
              <a:t>・</a:t>
            </a:r>
            <a:r>
              <a:rPr kumimoji="1" lang="en-US" altLang="ja-JP" sz="1600">
                <a:solidFill>
                  <a:srgbClr val="242424"/>
                </a:solidFill>
                <a:latin typeface="Yu Gothic" panose="020B0400000000000000" pitchFamily="50" charset="-128"/>
                <a:ea typeface="Yu Gothic" panose="020B0400000000000000" pitchFamily="50" charset="-128"/>
              </a:rPr>
              <a:t>grade 1</a:t>
            </a:r>
            <a:r>
              <a:rPr kumimoji="1" lang="ja-JP" altLang="en-US" sz="1600">
                <a:solidFill>
                  <a:srgbClr val="242424"/>
                </a:solidFill>
                <a:latin typeface="Yu Gothic" panose="020B0400000000000000" pitchFamily="50" charset="-128"/>
                <a:ea typeface="Yu Gothic" panose="020B0400000000000000" pitchFamily="50" charset="-128"/>
              </a:rPr>
              <a:t>の盲検再評価
・</a:t>
            </a:r>
            <a:r>
              <a:rPr kumimoji="1" lang="en-US" altLang="ja-JP" sz="1600">
                <a:solidFill>
                  <a:srgbClr val="242424"/>
                </a:solidFill>
                <a:latin typeface="Yu Gothic" panose="020B0400000000000000" pitchFamily="50" charset="-128"/>
                <a:ea typeface="Yu Gothic" panose="020B0400000000000000" pitchFamily="50" charset="-128"/>
              </a:rPr>
              <a:t>MIL</a:t>
            </a:r>
            <a:r>
              <a:rPr kumimoji="1" lang="ja-JP" altLang="en-US" sz="1600">
                <a:solidFill>
                  <a:srgbClr val="242424"/>
                </a:solidFill>
                <a:latin typeface="Yu Gothic" panose="020B0400000000000000" pitchFamily="50" charset="-128"/>
                <a:ea typeface="Yu Gothic" panose="020B0400000000000000" pitchFamily="50" charset="-128"/>
              </a:rPr>
              <a:t>や</a:t>
            </a:r>
            <a:r>
              <a:rPr kumimoji="1" lang="en-US" altLang="ja-JP" sz="1600">
                <a:solidFill>
                  <a:srgbClr val="242424"/>
                </a:solidFill>
                <a:latin typeface="Yu Gothic" panose="020B0400000000000000" pitchFamily="50" charset="-128"/>
                <a:ea typeface="Yu Gothic" panose="020B0400000000000000" pitchFamily="50" charset="-128"/>
              </a:rPr>
              <a:t>Transformer</a:t>
            </a:r>
            <a:r>
              <a:rPr kumimoji="1" lang="ja-JP" altLang="en-US" sz="1600">
                <a:solidFill>
                  <a:srgbClr val="242424"/>
                </a:solidFill>
                <a:latin typeface="Yu Gothic" panose="020B0400000000000000" pitchFamily="50" charset="-128"/>
                <a:ea typeface="Yu Gothic" panose="020B0400000000000000" pitchFamily="50" charset="-128"/>
              </a:rPr>
              <a:t>で
　全スライスを患者単位学習</a:t>
            </a:r>
          </a:p>
        </p:txBody>
      </p:sp>
      <p:sp>
        <p:nvSpPr>
          <p:cNvPr id="14" name="テキスト ボックス 13">
            <a:extLst>
              <a:ext uri="{FF2B5EF4-FFF2-40B4-BE49-F238E27FC236}">
                <a16:creationId xmlns:a16="http://schemas.microsoft.com/office/drawing/2014/main" id="{89894620-8F7E-7BD8-9637-FF6BF4B22D42}"/>
              </a:ext>
            </a:extLst>
          </p:cNvPr>
          <p:cNvSpPr txBox="1"/>
          <p:nvPr/>
        </p:nvSpPr>
        <p:spPr>
          <a:xfrm>
            <a:off x="1524000" y="5753100"/>
            <a:ext cx="9144000" cy="276999"/>
          </a:xfrm>
          <a:prstGeom prst="rect">
            <a:avLst/>
          </a:prstGeom>
          <a:noFill/>
        </p:spPr>
        <p:txBody>
          <a:bodyPr vert="horz" wrap="square" lIns="0" tIns="0" rIns="0" bIns="0" rtlCol="0" anchor="t">
            <a:noAutofit/>
          </a:bodyPr>
          <a:lstStyle/>
          <a:p>
            <a:pPr algn="ctr"/>
            <a:r>
              <a:rPr kumimoji="1" lang="en-US" altLang="ja-JP" b="1">
                <a:solidFill>
                  <a:srgbClr val="1F3C59"/>
                </a:solidFill>
                <a:latin typeface="Yu Gothic" panose="020B0400000000000000" pitchFamily="50" charset="-128"/>
                <a:ea typeface="Yu Gothic" panose="020B0400000000000000" pitchFamily="50" charset="-128"/>
              </a:rPr>
              <a:t>『</a:t>
            </a:r>
            <a:r>
              <a:rPr kumimoji="1" lang="ja-JP" altLang="en-US" b="1">
                <a:solidFill>
                  <a:srgbClr val="1F3C59"/>
                </a:solidFill>
                <a:latin typeface="Yu Gothic" panose="020B0400000000000000" pitchFamily="50" charset="-128"/>
                <a:ea typeface="Yu Gothic" panose="020B0400000000000000" pitchFamily="50" charset="-128"/>
              </a:rPr>
              <a:t>高い正解率</a:t>
            </a:r>
            <a:r>
              <a:rPr kumimoji="1" lang="en-US" altLang="ja-JP" b="1">
                <a:solidFill>
                  <a:srgbClr val="1F3C59"/>
                </a:solidFill>
                <a:latin typeface="Yu Gothic" panose="020B0400000000000000" pitchFamily="50" charset="-128"/>
                <a:ea typeface="Yu Gothic" panose="020B0400000000000000" pitchFamily="50" charset="-128"/>
              </a:rPr>
              <a:t>』</a:t>
            </a:r>
            <a:r>
              <a:rPr kumimoji="1" lang="ja-JP" altLang="en-US" b="1">
                <a:solidFill>
                  <a:srgbClr val="1F3C59"/>
                </a:solidFill>
                <a:latin typeface="Yu Gothic" panose="020B0400000000000000" pitchFamily="50" charset="-128"/>
                <a:ea typeface="Yu Gothic" panose="020B0400000000000000" pitchFamily="50" charset="-128"/>
              </a:rPr>
              <a:t>よりも、</a:t>
            </a:r>
            <a:r>
              <a:rPr kumimoji="1" lang="en-US" altLang="ja-JP" b="1">
                <a:solidFill>
                  <a:srgbClr val="1F3C59"/>
                </a:solidFill>
                <a:latin typeface="Yu Gothic" panose="020B0400000000000000" pitchFamily="50" charset="-128"/>
                <a:ea typeface="Yu Gothic" panose="020B0400000000000000" pitchFamily="50" charset="-128"/>
              </a:rPr>
              <a:t>『</a:t>
            </a:r>
            <a:r>
              <a:rPr kumimoji="1" lang="ja-JP" altLang="en-US" b="1">
                <a:solidFill>
                  <a:srgbClr val="1F3C59"/>
                </a:solidFill>
                <a:latin typeface="Yu Gothic" panose="020B0400000000000000" pitchFamily="50" charset="-128"/>
                <a:ea typeface="Yu Gothic" panose="020B0400000000000000" pitchFamily="50" charset="-128"/>
              </a:rPr>
              <a:t>誰に対してどこまで一般化するか</a:t>
            </a:r>
            <a:r>
              <a:rPr kumimoji="1" lang="en-US" altLang="ja-JP" b="1">
                <a:solidFill>
                  <a:srgbClr val="1F3C59"/>
                </a:solidFill>
                <a:latin typeface="Yu Gothic" panose="020B0400000000000000" pitchFamily="50" charset="-128"/>
                <a:ea typeface="Yu Gothic" panose="020B0400000000000000" pitchFamily="50" charset="-128"/>
              </a:rPr>
              <a:t>』</a:t>
            </a:r>
            <a:r>
              <a:rPr kumimoji="1" lang="ja-JP" altLang="en-US" b="1">
                <a:solidFill>
                  <a:srgbClr val="1F3C59"/>
                </a:solidFill>
                <a:latin typeface="Yu Gothic" panose="020B0400000000000000" pitchFamily="50" charset="-128"/>
                <a:ea typeface="Yu Gothic" panose="020B0400000000000000" pitchFamily="50" charset="-128"/>
              </a:rPr>
              <a:t>を重視</a:t>
            </a:r>
          </a:p>
        </p:txBody>
      </p:sp>
      <p:sp>
        <p:nvSpPr>
          <p:cNvPr id="15" name="テキスト ボックス 14">
            <a:extLst>
              <a:ext uri="{FF2B5EF4-FFF2-40B4-BE49-F238E27FC236}">
                <a16:creationId xmlns:a16="http://schemas.microsoft.com/office/drawing/2014/main" id="{9CFACF3B-9475-515A-794F-E2E720122C6B}"/>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1:15</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680A91DA-82DA-A9D3-982B-3932EF6C6058}"/>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11</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2049422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9ABEDF1-23C3-6D0C-BD51-D10FA175AEE3}"/>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CONCLUSION</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510CBB14-C70C-6790-207B-EEDFDE868013}"/>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まとめ</a:t>
            </a:r>
          </a:p>
        </p:txBody>
      </p:sp>
      <p:cxnSp>
        <p:nvCxnSpPr>
          <p:cNvPr id="4" name="直線コネクタ 3">
            <a:extLst>
              <a:ext uri="{FF2B5EF4-FFF2-40B4-BE49-F238E27FC236}">
                <a16:creationId xmlns:a16="http://schemas.microsoft.com/office/drawing/2014/main" id="{C6F601ED-3E39-127B-CA67-DF87725C0784}"/>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C2F69998-993E-B0A6-4911-2E7F13A63CD9}"/>
              </a:ext>
            </a:extLst>
          </p:cNvPr>
          <p:cNvSpPr/>
          <p:nvPr/>
        </p:nvSpPr>
        <p:spPr>
          <a:xfrm>
            <a:off x="1143000" y="1587500"/>
            <a:ext cx="9906000" cy="10922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8DF0108-56F0-53FC-901A-725DEF0BC8D1}"/>
              </a:ext>
            </a:extLst>
          </p:cNvPr>
          <p:cNvSpPr txBox="1"/>
          <p:nvPr/>
        </p:nvSpPr>
        <p:spPr>
          <a:xfrm>
            <a:off x="1460500" y="1879600"/>
            <a:ext cx="533400" cy="276999"/>
          </a:xfrm>
          <a:prstGeom prst="rect">
            <a:avLst/>
          </a:prstGeom>
          <a:noFill/>
        </p:spPr>
        <p:txBody>
          <a:bodyPr vert="horz" wrap="square" lIns="0" tIns="0" rIns="0" bIns="0" rtlCol="0" anchor="t">
            <a:noAutofit/>
          </a:bodyPr>
          <a:lstStyle/>
          <a:p>
            <a:pPr algn="ctr"/>
            <a:r>
              <a:rPr kumimoji="1" lang="en-US" altLang="ja-JP" sz="2400" b="1">
                <a:solidFill>
                  <a:srgbClr val="2F6690"/>
                </a:solidFill>
                <a:latin typeface="Yu Gothic" panose="020B0400000000000000" pitchFamily="50" charset="-128"/>
                <a:ea typeface="Yu Gothic" panose="020B0400000000000000" pitchFamily="50" charset="-128"/>
              </a:rPr>
              <a:t>1</a:t>
            </a:r>
            <a:endParaRPr kumimoji="1" lang="ja-JP" altLang="en-US" sz="2400" b="1">
              <a:solidFill>
                <a:srgbClr val="2F6690"/>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7A3A8468-CA07-042F-7375-27D2FDD84C0B}"/>
              </a:ext>
            </a:extLst>
          </p:cNvPr>
          <p:cNvSpPr txBox="1"/>
          <p:nvPr/>
        </p:nvSpPr>
        <p:spPr>
          <a:xfrm>
            <a:off x="2222500" y="1879600"/>
            <a:ext cx="8255000" cy="276999"/>
          </a:xfrm>
          <a:prstGeom prst="rect">
            <a:avLst/>
          </a:prstGeom>
          <a:noFill/>
        </p:spPr>
        <p:txBody>
          <a:bodyPr vert="horz" wrap="square" lIns="0" tIns="0" rIns="0" bIns="0" rtlCol="0" anchor="t">
            <a:noAutofit/>
          </a:bodyPr>
          <a:lstStyle/>
          <a:p>
            <a:r>
              <a:rPr kumimoji="1" lang="ja-JP" altLang="en-US" sz="2000" b="1">
                <a:solidFill>
                  <a:srgbClr val="1F3C59"/>
                </a:solidFill>
                <a:latin typeface="Yu Gothic" panose="020B0400000000000000" pitchFamily="50" charset="-128"/>
                <a:ea typeface="Yu Gothic" panose="020B0400000000000000" pitchFamily="50" charset="-128"/>
              </a:rPr>
              <a:t>患者重複のない</a:t>
            </a:r>
            <a:r>
              <a:rPr kumimoji="1" lang="en-US" altLang="ja-JP" sz="2000" b="1">
                <a:solidFill>
                  <a:srgbClr val="1F3C59"/>
                </a:solidFill>
                <a:latin typeface="Yu Gothic" panose="020B0400000000000000" pitchFamily="50" charset="-128"/>
                <a:ea typeface="Yu Gothic" panose="020B0400000000000000" pitchFamily="50" charset="-128"/>
              </a:rPr>
              <a:t>5-fold OOF</a:t>
            </a:r>
            <a:r>
              <a:rPr kumimoji="1" lang="ja-JP" altLang="en-US" sz="2000" b="1">
                <a:solidFill>
                  <a:srgbClr val="1F3C59"/>
                </a:solidFill>
                <a:latin typeface="Yu Gothic" panose="020B0400000000000000" pitchFamily="50" charset="-128"/>
                <a:ea typeface="Yu Gothic" panose="020B0400000000000000" pitchFamily="50" charset="-128"/>
              </a:rPr>
              <a:t>で</a:t>
            </a:r>
            <a:r>
              <a:rPr kumimoji="1" lang="en-US" altLang="ja-JP" sz="2000" b="1">
                <a:solidFill>
                  <a:srgbClr val="1F3C59"/>
                </a:solidFill>
                <a:latin typeface="Yu Gothic" panose="020B0400000000000000" pitchFamily="50" charset="-128"/>
                <a:ea typeface="Yu Gothic" panose="020B0400000000000000" pitchFamily="50" charset="-128"/>
              </a:rPr>
              <a:t>ViT</a:t>
            </a:r>
            <a:r>
              <a:rPr kumimoji="1" lang="ja-JP" altLang="en-US" sz="2000" b="1">
                <a:solidFill>
                  <a:srgbClr val="1F3C59"/>
                </a:solidFill>
                <a:latin typeface="Yu Gothic" panose="020B0400000000000000" pitchFamily="50" charset="-128"/>
                <a:ea typeface="Yu Gothic" panose="020B0400000000000000" pitchFamily="50" charset="-128"/>
              </a:rPr>
              <a:t>と</a:t>
            </a:r>
            <a:r>
              <a:rPr kumimoji="1" lang="en-US" altLang="ja-JP" sz="2000" b="1">
                <a:solidFill>
                  <a:srgbClr val="1F3C59"/>
                </a:solidFill>
                <a:latin typeface="Yu Gothic" panose="020B0400000000000000" pitchFamily="50" charset="-128"/>
                <a:ea typeface="Yu Gothic" panose="020B0400000000000000" pitchFamily="50" charset="-128"/>
              </a:rPr>
              <a:t>CNN</a:t>
            </a:r>
            <a:r>
              <a:rPr kumimoji="1" lang="ja-JP" altLang="en-US" sz="2000" b="1">
                <a:solidFill>
                  <a:srgbClr val="1F3C59"/>
                </a:solidFill>
                <a:latin typeface="Yu Gothic" panose="020B0400000000000000" pitchFamily="50" charset="-128"/>
                <a:ea typeface="Yu Gothic" panose="020B0400000000000000" pitchFamily="50" charset="-128"/>
              </a:rPr>
              <a:t>を比較した</a:t>
            </a:r>
          </a:p>
        </p:txBody>
      </p:sp>
      <p:sp>
        <p:nvSpPr>
          <p:cNvPr id="8" name="四角形: 角を丸くする 7">
            <a:extLst>
              <a:ext uri="{FF2B5EF4-FFF2-40B4-BE49-F238E27FC236}">
                <a16:creationId xmlns:a16="http://schemas.microsoft.com/office/drawing/2014/main" id="{B88E9A27-864C-676A-0BE2-62AA920732AF}"/>
              </a:ext>
            </a:extLst>
          </p:cNvPr>
          <p:cNvSpPr/>
          <p:nvPr/>
        </p:nvSpPr>
        <p:spPr>
          <a:xfrm>
            <a:off x="1143000" y="2984500"/>
            <a:ext cx="9906000" cy="1092200"/>
          </a:xfrm>
          <a:prstGeom prst="roundRect">
            <a:avLst/>
          </a:prstGeom>
          <a:solidFill>
            <a:srgbClr val="E8F5E9"/>
          </a:solidFill>
          <a:ln w="12700">
            <a:solidFill>
              <a:srgbClr val="2E7D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6C433EC-1CE4-49F2-38ED-BF9253186262}"/>
              </a:ext>
            </a:extLst>
          </p:cNvPr>
          <p:cNvSpPr txBox="1"/>
          <p:nvPr/>
        </p:nvSpPr>
        <p:spPr>
          <a:xfrm>
            <a:off x="1460500" y="3276600"/>
            <a:ext cx="533400" cy="276999"/>
          </a:xfrm>
          <a:prstGeom prst="rect">
            <a:avLst/>
          </a:prstGeom>
          <a:noFill/>
        </p:spPr>
        <p:txBody>
          <a:bodyPr vert="horz" wrap="square" lIns="0" tIns="0" rIns="0" bIns="0" rtlCol="0" anchor="t">
            <a:noAutofit/>
          </a:bodyPr>
          <a:lstStyle/>
          <a:p>
            <a:pPr algn="ctr"/>
            <a:r>
              <a:rPr kumimoji="1" lang="en-US" altLang="ja-JP" sz="2400" b="1">
                <a:solidFill>
                  <a:srgbClr val="2E7D32"/>
                </a:solidFill>
                <a:latin typeface="Yu Gothic" panose="020B0400000000000000" pitchFamily="50" charset="-128"/>
                <a:ea typeface="Yu Gothic" panose="020B0400000000000000" pitchFamily="50" charset="-128"/>
              </a:rPr>
              <a:t>2</a:t>
            </a:r>
            <a:endParaRPr kumimoji="1" lang="ja-JP" altLang="en-US" sz="2400" b="1">
              <a:solidFill>
                <a:srgbClr val="2E7D32"/>
              </a:solidFill>
              <a:latin typeface="Yu Gothic" panose="020B0400000000000000" pitchFamily="50" charset="-128"/>
              <a:ea typeface="Yu Gothic" panose="020B0400000000000000" pitchFamily="50" charset="-128"/>
            </a:endParaRPr>
          </a:p>
        </p:txBody>
      </p:sp>
      <p:sp>
        <p:nvSpPr>
          <p:cNvPr id="10" name="テキスト ボックス 9">
            <a:extLst>
              <a:ext uri="{FF2B5EF4-FFF2-40B4-BE49-F238E27FC236}">
                <a16:creationId xmlns:a16="http://schemas.microsoft.com/office/drawing/2014/main" id="{8604D486-EFD3-8E47-CAA0-CFCDC40B80ED}"/>
              </a:ext>
            </a:extLst>
          </p:cNvPr>
          <p:cNvSpPr txBox="1"/>
          <p:nvPr/>
        </p:nvSpPr>
        <p:spPr>
          <a:xfrm>
            <a:off x="2222500" y="3276600"/>
            <a:ext cx="8255000" cy="276999"/>
          </a:xfrm>
          <a:prstGeom prst="rect">
            <a:avLst/>
          </a:prstGeom>
          <a:noFill/>
        </p:spPr>
        <p:txBody>
          <a:bodyPr vert="horz" wrap="square" lIns="0" tIns="0" rIns="0" bIns="0" rtlCol="0" anchor="t">
            <a:noAutofit/>
          </a:bodyPr>
          <a:lstStyle/>
          <a:p>
            <a:r>
              <a:rPr kumimoji="1" lang="en-US" altLang="ja-JP" sz="2000" b="1">
                <a:solidFill>
                  <a:srgbClr val="1F3C59"/>
                </a:solidFill>
                <a:latin typeface="Yu Gothic" panose="020B0400000000000000" pitchFamily="50" charset="-128"/>
                <a:ea typeface="Yu Gothic" panose="020B0400000000000000" pitchFamily="50" charset="-128"/>
              </a:rPr>
              <a:t>ViT</a:t>
            </a:r>
            <a:r>
              <a:rPr kumimoji="1" lang="ja-JP" altLang="en-US" sz="2000" b="1">
                <a:solidFill>
                  <a:srgbClr val="1F3C59"/>
                </a:solidFill>
                <a:latin typeface="Yu Gothic" panose="020B0400000000000000" pitchFamily="50" charset="-128"/>
                <a:ea typeface="Yu Gothic" panose="020B0400000000000000" pitchFamily="50" charset="-128"/>
              </a:rPr>
              <a:t>は</a:t>
            </a:r>
            <a:r>
              <a:rPr kumimoji="1" lang="en-US" altLang="ja-JP" sz="2000" b="1">
                <a:solidFill>
                  <a:srgbClr val="1F3C59"/>
                </a:solidFill>
                <a:latin typeface="Yu Gothic" panose="020B0400000000000000" pitchFamily="50" charset="-128"/>
                <a:ea typeface="Yu Gothic" panose="020B0400000000000000" pitchFamily="50" charset="-128"/>
              </a:rPr>
              <a:t>macro ROC-AUC</a:t>
            </a:r>
            <a:r>
              <a:rPr kumimoji="1" lang="ja-JP" altLang="en-US" sz="2000" b="1">
                <a:solidFill>
                  <a:srgbClr val="1F3C59"/>
                </a:solidFill>
                <a:latin typeface="Yu Gothic" panose="020B0400000000000000" pitchFamily="50" charset="-128"/>
                <a:ea typeface="Yu Gothic" panose="020B0400000000000000" pitchFamily="50" charset="-128"/>
              </a:rPr>
              <a:t>を</a:t>
            </a:r>
            <a:r>
              <a:rPr kumimoji="1" lang="en-US" altLang="ja-JP" sz="2000" b="1">
                <a:solidFill>
                  <a:srgbClr val="1F3C59"/>
                </a:solidFill>
                <a:latin typeface="Yu Gothic" panose="020B0400000000000000" pitchFamily="50" charset="-128"/>
                <a:ea typeface="Yu Gothic" panose="020B0400000000000000" pitchFamily="50" charset="-128"/>
              </a:rPr>
              <a:t>0.0209</a:t>
            </a:r>
            <a:r>
              <a:rPr kumimoji="1" lang="ja-JP" altLang="en-US" sz="2000" b="1">
                <a:solidFill>
                  <a:srgbClr val="1F3C59"/>
                </a:solidFill>
                <a:latin typeface="Yu Gothic" panose="020B0400000000000000" pitchFamily="50" charset="-128"/>
                <a:ea typeface="Yu Gothic" panose="020B0400000000000000" pitchFamily="50" charset="-128"/>
              </a:rPr>
              <a:t>改善した</a:t>
            </a:r>
          </a:p>
        </p:txBody>
      </p:sp>
      <p:sp>
        <p:nvSpPr>
          <p:cNvPr id="11" name="四角形: 角を丸くする 10">
            <a:extLst>
              <a:ext uri="{FF2B5EF4-FFF2-40B4-BE49-F238E27FC236}">
                <a16:creationId xmlns:a16="http://schemas.microsoft.com/office/drawing/2014/main" id="{D1E2F996-39AA-F362-E902-99AC383D441F}"/>
              </a:ext>
            </a:extLst>
          </p:cNvPr>
          <p:cNvSpPr/>
          <p:nvPr/>
        </p:nvSpPr>
        <p:spPr>
          <a:xfrm>
            <a:off x="1143000" y="4381500"/>
            <a:ext cx="9906000" cy="1092200"/>
          </a:xfrm>
          <a:prstGeom prst="roundRect">
            <a:avLst/>
          </a:prstGeom>
          <a:solidFill>
            <a:srgbClr val="FCEBE9"/>
          </a:solidFill>
          <a:ln w="12700">
            <a:solidFill>
              <a:srgbClr val="C039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D80FE52A-28F0-B9EF-D9D1-EF5D87AC1AD7}"/>
              </a:ext>
            </a:extLst>
          </p:cNvPr>
          <p:cNvSpPr txBox="1"/>
          <p:nvPr/>
        </p:nvSpPr>
        <p:spPr>
          <a:xfrm>
            <a:off x="1460500" y="4673600"/>
            <a:ext cx="533400" cy="276999"/>
          </a:xfrm>
          <a:prstGeom prst="rect">
            <a:avLst/>
          </a:prstGeom>
          <a:noFill/>
        </p:spPr>
        <p:txBody>
          <a:bodyPr vert="horz" wrap="square" lIns="0" tIns="0" rIns="0" bIns="0" rtlCol="0" anchor="t">
            <a:noAutofit/>
          </a:bodyPr>
          <a:lstStyle/>
          <a:p>
            <a:pPr algn="ctr"/>
            <a:r>
              <a:rPr kumimoji="1" lang="en-US" altLang="ja-JP" sz="2400" b="1">
                <a:solidFill>
                  <a:srgbClr val="C0392B"/>
                </a:solidFill>
                <a:latin typeface="Yu Gothic" panose="020B0400000000000000" pitchFamily="50" charset="-128"/>
                <a:ea typeface="Yu Gothic" panose="020B0400000000000000" pitchFamily="50" charset="-128"/>
              </a:rPr>
              <a:t>3</a:t>
            </a:r>
            <a:endParaRPr kumimoji="1" lang="ja-JP" altLang="en-US" sz="2400" b="1">
              <a:solidFill>
                <a:srgbClr val="C0392B"/>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735FE99E-9B3C-C25F-9F61-B01FEE3BAF73}"/>
              </a:ext>
            </a:extLst>
          </p:cNvPr>
          <p:cNvSpPr txBox="1"/>
          <p:nvPr/>
        </p:nvSpPr>
        <p:spPr>
          <a:xfrm>
            <a:off x="2222500" y="4673600"/>
            <a:ext cx="8255000" cy="276999"/>
          </a:xfrm>
          <a:prstGeom prst="rect">
            <a:avLst/>
          </a:prstGeom>
          <a:noFill/>
        </p:spPr>
        <p:txBody>
          <a:bodyPr vert="horz" wrap="square" lIns="0" tIns="0" rIns="0" bIns="0" rtlCol="0" anchor="t">
            <a:noAutofit/>
          </a:bodyPr>
          <a:lstStyle/>
          <a:p>
            <a:r>
              <a:rPr kumimoji="1" lang="en-US" altLang="ja-JP" sz="2000" b="1">
                <a:solidFill>
                  <a:srgbClr val="1F3C59"/>
                </a:solidFill>
                <a:latin typeface="Yu Gothic" panose="020B0400000000000000" pitchFamily="50" charset="-128"/>
                <a:ea typeface="Yu Gothic" panose="020B0400000000000000" pitchFamily="50" charset="-128"/>
              </a:rPr>
              <a:t>grade 1</a:t>
            </a:r>
            <a:r>
              <a:rPr kumimoji="1" lang="ja-JP" altLang="en-US" sz="2000" b="1">
                <a:solidFill>
                  <a:srgbClr val="1F3C59"/>
                </a:solidFill>
                <a:latin typeface="Yu Gothic" panose="020B0400000000000000" pitchFamily="50" charset="-128"/>
                <a:ea typeface="Yu Gothic" panose="020B0400000000000000" pitchFamily="50" charset="-128"/>
              </a:rPr>
              <a:t>の識別と外部検証が次の課題である</a:t>
            </a:r>
          </a:p>
        </p:txBody>
      </p:sp>
      <p:sp>
        <p:nvSpPr>
          <p:cNvPr id="14" name="テキスト ボックス 13">
            <a:extLst>
              <a:ext uri="{FF2B5EF4-FFF2-40B4-BE49-F238E27FC236}">
                <a16:creationId xmlns:a16="http://schemas.microsoft.com/office/drawing/2014/main" id="{321C5731-943F-F7FC-7269-7596A7FDF8BC}"/>
              </a:ext>
            </a:extLst>
          </p:cNvPr>
          <p:cNvSpPr txBox="1"/>
          <p:nvPr/>
        </p:nvSpPr>
        <p:spPr>
          <a:xfrm>
            <a:off x="2603500" y="5880100"/>
            <a:ext cx="6985000" cy="276999"/>
          </a:xfrm>
          <a:prstGeom prst="rect">
            <a:avLst/>
          </a:prstGeom>
          <a:noFill/>
        </p:spPr>
        <p:txBody>
          <a:bodyPr vert="horz" wrap="square" lIns="0" tIns="0" rIns="0" bIns="0" rtlCol="0" anchor="t">
            <a:noAutofit/>
          </a:bodyPr>
          <a:lstStyle/>
          <a:p>
            <a:pPr algn="ctr"/>
            <a:r>
              <a:rPr kumimoji="1" lang="ja-JP" altLang="en-US" sz="2000" b="1">
                <a:solidFill>
                  <a:srgbClr val="2F6690"/>
                </a:solidFill>
                <a:latin typeface="Yu Gothic" panose="020B0400000000000000" pitchFamily="50" charset="-128"/>
                <a:ea typeface="Yu Gothic" panose="020B0400000000000000" pitchFamily="50" charset="-128"/>
              </a:rPr>
              <a:t>ご清聴ありがとうございました</a:t>
            </a:r>
          </a:p>
        </p:txBody>
      </p:sp>
      <p:sp>
        <p:nvSpPr>
          <p:cNvPr id="15" name="テキスト ボックス 14">
            <a:extLst>
              <a:ext uri="{FF2B5EF4-FFF2-40B4-BE49-F238E27FC236}">
                <a16:creationId xmlns:a16="http://schemas.microsoft.com/office/drawing/2014/main" id="{EDA52319-C474-C6A9-EE8B-68D021855660}"/>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en-US" altLang="ja-JP" sz="800">
                <a:solidFill>
                  <a:srgbClr val="666666"/>
                </a:solidFill>
                <a:latin typeface="Yu Gothic" panose="020B0400000000000000" pitchFamily="50" charset="-128"/>
                <a:ea typeface="Yu Gothic" panose="020B0400000000000000" pitchFamily="50" charset="-128"/>
              </a:rPr>
              <a:t>0:40</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CA383E85-0BEF-9DB7-1784-75434B2D5FF4}"/>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12</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3782979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043FC74-5489-9A63-DA0C-15FF040DF918}"/>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APPENDIX</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F09FDEA8-C2B1-0174-3BE2-07E627D76005}"/>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参考文献</a:t>
            </a:r>
          </a:p>
        </p:txBody>
      </p:sp>
      <p:cxnSp>
        <p:nvCxnSpPr>
          <p:cNvPr id="4" name="直線コネクタ 3">
            <a:extLst>
              <a:ext uri="{FF2B5EF4-FFF2-40B4-BE49-F238E27FC236}">
                <a16:creationId xmlns:a16="http://schemas.microsoft.com/office/drawing/2014/main" id="{82D80DE8-511A-38DF-45E9-6A46D0391CA4}"/>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1A463FD2-FA35-7D9D-CCB2-63602CA4E808}"/>
              </a:ext>
            </a:extLst>
          </p:cNvPr>
          <p:cNvSpPr txBox="1"/>
          <p:nvPr/>
        </p:nvSpPr>
        <p:spPr>
          <a:xfrm>
            <a:off x="1079500" y="1651000"/>
            <a:ext cx="10033000" cy="276999"/>
          </a:xfrm>
          <a:prstGeom prst="rect">
            <a:avLst/>
          </a:prstGeom>
          <a:noFill/>
        </p:spPr>
        <p:txBody>
          <a:bodyPr vert="horz" wrap="square" lIns="0" tIns="0" rIns="0" bIns="0" rtlCol="0" anchor="t">
            <a:noAutofit/>
          </a:bodyPr>
          <a:lstStyle/>
          <a:p>
            <a:r>
              <a:rPr kumimoji="1" lang="en-US" altLang="ja-JP" sz="1600">
                <a:solidFill>
                  <a:srgbClr val="242424"/>
                </a:solidFill>
                <a:latin typeface="Yu Gothic" panose="020B0400000000000000" pitchFamily="50" charset="-128"/>
                <a:ea typeface="Yu Gothic" panose="020B0400000000000000" pitchFamily="50" charset="-128"/>
              </a:rPr>
              <a:t>[1] </a:t>
            </a:r>
            <a:r>
              <a:rPr kumimoji="1" lang="ja-JP" altLang="en-US" sz="1600">
                <a:solidFill>
                  <a:srgbClr val="242424"/>
                </a:solidFill>
                <a:latin typeface="Yu Gothic" panose="020B0400000000000000" pitchFamily="50" charset="-128"/>
                <a:ea typeface="Yu Gothic" panose="020B0400000000000000" pitchFamily="50" charset="-128"/>
              </a:rPr>
              <a:t>竹村典晃</a:t>
            </a:r>
            <a:r>
              <a:rPr kumimoji="1" lang="en-US" altLang="ja-JP" sz="1600">
                <a:solidFill>
                  <a:srgbClr val="242424"/>
                </a:solidFill>
                <a:latin typeface="Yu Gothic" panose="020B0400000000000000" pitchFamily="50" charset="-128"/>
                <a:ea typeface="Yu Gothic" panose="020B0400000000000000" pitchFamily="50" charset="-128"/>
              </a:rPr>
              <a:t>『</a:t>
            </a:r>
            <a:r>
              <a:rPr kumimoji="1" lang="ja-JP" altLang="en-US" sz="1600">
                <a:solidFill>
                  <a:srgbClr val="242424"/>
                </a:solidFill>
                <a:latin typeface="Yu Gothic" panose="020B0400000000000000" pitchFamily="50" charset="-128"/>
                <a:ea typeface="Yu Gothic" panose="020B0400000000000000" pitchFamily="50" charset="-128"/>
              </a:rPr>
              <a:t>畳み込みニューラルネットワークを用いた大脳白質病変のグレード予測</a:t>
            </a:r>
            <a:r>
              <a:rPr kumimoji="1" lang="en-US" altLang="ja-JP" sz="1600">
                <a:solidFill>
                  <a:srgbClr val="242424"/>
                </a:solidFill>
                <a:latin typeface="Yu Gothic" panose="020B0400000000000000" pitchFamily="50" charset="-128"/>
                <a:ea typeface="Yu Gothic" panose="020B0400000000000000" pitchFamily="50" charset="-128"/>
              </a:rPr>
              <a:t>』</a:t>
            </a:r>
            <a:r>
              <a:rPr kumimoji="1" lang="ja-JP" altLang="en-US" sz="1600">
                <a:solidFill>
                  <a:srgbClr val="242424"/>
                </a:solidFill>
                <a:latin typeface="Yu Gothic" panose="020B0400000000000000" pitchFamily="50" charset="-128"/>
                <a:ea typeface="Yu Gothic" panose="020B0400000000000000" pitchFamily="50" charset="-128"/>
              </a:rPr>
              <a:t>公立諏訪東京理科大学卒業論文</a:t>
            </a:r>
            <a:r>
              <a:rPr kumimoji="1" lang="en-US" altLang="ja-JP" sz="1600">
                <a:solidFill>
                  <a:srgbClr val="242424"/>
                </a:solidFill>
                <a:latin typeface="Yu Gothic" panose="020B0400000000000000" pitchFamily="50" charset="-128"/>
                <a:ea typeface="Yu Gothic" panose="020B0400000000000000" pitchFamily="50" charset="-128"/>
              </a:rPr>
              <a:t>, 2023.
[2] S. Debette and H. S. Markus, The clinical importance of white matter hyperintensities on brain magnetic resonance imaging, BMJ, 341:c3666, 2010.
[3] A. Dosovitskiy et al., An Image is Worth 16×16 Words: Transformers for Image Recognition at Scale, ICLR, 2021.
[4] H. Touvron et al., Training data-efficient image transformers and distillation through attention, ICML, 2021.</a:t>
            </a:r>
            <a:endParaRPr kumimoji="1" lang="ja-JP" altLang="en-US" sz="1600">
              <a:solidFill>
                <a:srgbClr val="242424"/>
              </a:solidFill>
              <a:latin typeface="Yu Gothic" panose="020B0400000000000000" pitchFamily="50" charset="-128"/>
              <a:ea typeface="Yu Gothic" panose="020B0400000000000000" pitchFamily="50" charset="-128"/>
            </a:endParaRPr>
          </a:p>
        </p:txBody>
      </p:sp>
      <p:sp>
        <p:nvSpPr>
          <p:cNvPr id="6" name="テキスト ボックス 5">
            <a:extLst>
              <a:ext uri="{FF2B5EF4-FFF2-40B4-BE49-F238E27FC236}">
                <a16:creationId xmlns:a16="http://schemas.microsoft.com/office/drawing/2014/main" id="{29E9DC3C-7319-D3CD-F67C-A2FC19FC8015}"/>
              </a:ext>
            </a:extLst>
          </p:cNvPr>
          <p:cNvSpPr txBox="1"/>
          <p:nvPr/>
        </p:nvSpPr>
        <p:spPr>
          <a:xfrm>
            <a:off x="3810000" y="5778500"/>
            <a:ext cx="4572000" cy="276999"/>
          </a:xfrm>
          <a:prstGeom prst="rect">
            <a:avLst/>
          </a:prstGeom>
          <a:noFill/>
        </p:spPr>
        <p:txBody>
          <a:bodyPr vert="horz" wrap="square" lIns="0" tIns="0" rIns="0" bIns="0" rtlCol="0" anchor="t">
            <a:noAutofit/>
          </a:bodyPr>
          <a:lstStyle/>
          <a:p>
            <a:pPr algn="ctr"/>
            <a:r>
              <a:rPr kumimoji="1" lang="ja-JP" altLang="en-US" sz="1500" b="1">
                <a:solidFill>
                  <a:srgbClr val="666666"/>
                </a:solidFill>
                <a:latin typeface="Yu Gothic" panose="020B0400000000000000" pitchFamily="50" charset="-128"/>
                <a:ea typeface="Yu Gothic" panose="020B0400000000000000" pitchFamily="50" charset="-128"/>
              </a:rPr>
              <a:t>以降は質疑用スライド</a:t>
            </a:r>
          </a:p>
        </p:txBody>
      </p:sp>
      <p:sp>
        <p:nvSpPr>
          <p:cNvPr id="7" name="テキスト ボックス 6">
            <a:extLst>
              <a:ext uri="{FF2B5EF4-FFF2-40B4-BE49-F238E27FC236}">
                <a16:creationId xmlns:a16="http://schemas.microsoft.com/office/drawing/2014/main" id="{E7FC4778-09E4-832F-A105-28B1C57F00C5}"/>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ja-JP" altLang="en-US" sz="800">
                <a:solidFill>
                  <a:srgbClr val="666666"/>
                </a:solidFill>
                <a:latin typeface="Yu Gothic" panose="020B0400000000000000" pitchFamily="50" charset="-128"/>
                <a:ea typeface="Yu Gothic" panose="020B0400000000000000" pitchFamily="50" charset="-128"/>
              </a:rPr>
              <a:t>参考</a:t>
            </a:r>
          </a:p>
        </p:txBody>
      </p:sp>
      <p:sp>
        <p:nvSpPr>
          <p:cNvPr id="8" name="テキスト ボックス 7">
            <a:extLst>
              <a:ext uri="{FF2B5EF4-FFF2-40B4-BE49-F238E27FC236}">
                <a16:creationId xmlns:a16="http://schemas.microsoft.com/office/drawing/2014/main" id="{31FEAF92-0C4E-5405-122E-4F95DD31300D}"/>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13</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2198952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75886BF-DF67-74A0-1B7B-E77E05E4B57B}"/>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APPENDIX</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01341A60-6692-C239-15C3-5CD4085D9176}"/>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元</a:t>
            </a:r>
            <a:r>
              <a:rPr kumimoji="1" lang="en-US" altLang="ja-JP" sz="2700" b="1">
                <a:solidFill>
                  <a:srgbClr val="1F3C59"/>
                </a:solidFill>
                <a:latin typeface="Yu Gothic" panose="020B0400000000000000" pitchFamily="50" charset="-128"/>
                <a:ea typeface="Yu Gothic" panose="020B0400000000000000" pitchFamily="50" charset="-128"/>
              </a:rPr>
              <a:t>grade</a:t>
            </a:r>
            <a:r>
              <a:rPr kumimoji="1" lang="ja-JP" altLang="en-US" sz="2700" b="1">
                <a:solidFill>
                  <a:srgbClr val="1F3C59"/>
                </a:solidFill>
                <a:latin typeface="Yu Gothic" panose="020B0400000000000000" pitchFamily="50" charset="-128"/>
                <a:ea typeface="Yu Gothic" panose="020B0400000000000000" pitchFamily="50" charset="-128"/>
              </a:rPr>
              <a:t>別の検出結果</a:t>
            </a:r>
          </a:p>
        </p:txBody>
      </p:sp>
      <p:cxnSp>
        <p:nvCxnSpPr>
          <p:cNvPr id="4" name="直線コネクタ 3">
            <a:extLst>
              <a:ext uri="{FF2B5EF4-FFF2-40B4-BE49-F238E27FC236}">
                <a16:creationId xmlns:a16="http://schemas.microsoft.com/office/drawing/2014/main" id="{D56F304C-3F95-8A2F-47C0-8578A7041FA1}"/>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テキスト ボックス 4">
            <a:extLst>
              <a:ext uri="{FF2B5EF4-FFF2-40B4-BE49-F238E27FC236}">
                <a16:creationId xmlns:a16="http://schemas.microsoft.com/office/drawing/2014/main" id="{79988F20-1D4F-1B1D-3944-9EF91D41D609}"/>
              </a:ext>
            </a:extLst>
          </p:cNvPr>
          <p:cNvSpPr txBox="1"/>
          <p:nvPr/>
        </p:nvSpPr>
        <p:spPr>
          <a:xfrm>
            <a:off x="1143000" y="1524000"/>
            <a:ext cx="1524000" cy="276999"/>
          </a:xfrm>
          <a:prstGeom prst="rect">
            <a:avLst/>
          </a:prstGeom>
          <a:noFill/>
        </p:spPr>
        <p:txBody>
          <a:bodyPr vert="horz" wrap="square" lIns="0" tIns="0" rIns="0" bIns="0" rtlCol="0" anchor="t">
            <a:noAutofit/>
          </a:bodyPr>
          <a:lstStyle/>
          <a:p>
            <a:r>
              <a:rPr kumimoji="1" lang="ja-JP" altLang="en-US" sz="1200" b="1">
                <a:solidFill>
                  <a:srgbClr val="666666"/>
                </a:solidFill>
                <a:latin typeface="Yu Gothic" panose="020B0400000000000000" pitchFamily="50" charset="-128"/>
                <a:ea typeface="Yu Gothic" panose="020B0400000000000000" pitchFamily="50" charset="-128"/>
              </a:rPr>
              <a:t>元</a:t>
            </a:r>
            <a:r>
              <a:rPr kumimoji="1" lang="en-US" altLang="ja-JP" sz="1200" b="1">
                <a:solidFill>
                  <a:srgbClr val="666666"/>
                </a:solidFill>
                <a:latin typeface="Yu Gothic" panose="020B0400000000000000" pitchFamily="50" charset="-128"/>
                <a:ea typeface="Yu Gothic" panose="020B0400000000000000" pitchFamily="50" charset="-128"/>
              </a:rPr>
              <a:t>grade</a:t>
            </a:r>
            <a:endParaRPr kumimoji="1" lang="ja-JP" altLang="en-US" sz="1200" b="1">
              <a:solidFill>
                <a:srgbClr val="666666"/>
              </a:solidFill>
              <a:latin typeface="Yu Gothic" panose="020B0400000000000000" pitchFamily="50" charset="-128"/>
              <a:ea typeface="Yu Gothic" panose="020B0400000000000000" pitchFamily="50" charset="-128"/>
            </a:endParaRPr>
          </a:p>
        </p:txBody>
      </p:sp>
      <p:sp>
        <p:nvSpPr>
          <p:cNvPr id="6" name="テキスト ボックス 5">
            <a:extLst>
              <a:ext uri="{FF2B5EF4-FFF2-40B4-BE49-F238E27FC236}">
                <a16:creationId xmlns:a16="http://schemas.microsoft.com/office/drawing/2014/main" id="{E897BAA2-2C8A-CF22-70FD-4730A004C0D7}"/>
              </a:ext>
            </a:extLst>
          </p:cNvPr>
          <p:cNvSpPr txBox="1"/>
          <p:nvPr/>
        </p:nvSpPr>
        <p:spPr>
          <a:xfrm>
            <a:off x="3175000" y="1524000"/>
            <a:ext cx="1270000" cy="276999"/>
          </a:xfrm>
          <a:prstGeom prst="rect">
            <a:avLst/>
          </a:prstGeom>
          <a:noFill/>
        </p:spPr>
        <p:txBody>
          <a:bodyPr vert="horz" wrap="square" lIns="0" tIns="0" rIns="0" bIns="0" rtlCol="0" anchor="t">
            <a:noAutofit/>
          </a:bodyPr>
          <a:lstStyle/>
          <a:p>
            <a:pPr algn="ctr"/>
            <a:r>
              <a:rPr kumimoji="1" lang="ja-JP" altLang="en-US" sz="1200" b="1">
                <a:solidFill>
                  <a:srgbClr val="666666"/>
                </a:solidFill>
                <a:latin typeface="Yu Gothic" panose="020B0400000000000000" pitchFamily="50" charset="-128"/>
                <a:ea typeface="Yu Gothic" panose="020B0400000000000000" pitchFamily="50" charset="-128"/>
              </a:rPr>
              <a:t>患者数</a:t>
            </a:r>
          </a:p>
        </p:txBody>
      </p:sp>
      <p:sp>
        <p:nvSpPr>
          <p:cNvPr id="7" name="テキスト ボックス 6">
            <a:extLst>
              <a:ext uri="{FF2B5EF4-FFF2-40B4-BE49-F238E27FC236}">
                <a16:creationId xmlns:a16="http://schemas.microsoft.com/office/drawing/2014/main" id="{982DE31C-F63F-385F-B3F8-7D01C418AE8D}"/>
              </a:ext>
            </a:extLst>
          </p:cNvPr>
          <p:cNvSpPr txBox="1"/>
          <p:nvPr/>
        </p:nvSpPr>
        <p:spPr>
          <a:xfrm>
            <a:off x="5080000" y="1524000"/>
            <a:ext cx="1651000" cy="276999"/>
          </a:xfrm>
          <a:prstGeom prst="rect">
            <a:avLst/>
          </a:prstGeom>
          <a:noFill/>
        </p:spPr>
        <p:txBody>
          <a:bodyPr vert="horz" wrap="square" lIns="0" tIns="0" rIns="0" bIns="0" rtlCol="0" anchor="t">
            <a:noAutofit/>
          </a:bodyPr>
          <a:lstStyle/>
          <a:p>
            <a:pPr algn="ctr"/>
            <a:r>
              <a:rPr kumimoji="1" lang="en-US" altLang="ja-JP" sz="1200" b="1">
                <a:solidFill>
                  <a:srgbClr val="666666"/>
                </a:solidFill>
                <a:latin typeface="Yu Gothic" panose="020B0400000000000000" pitchFamily="50" charset="-128"/>
                <a:ea typeface="Yu Gothic" panose="020B0400000000000000" pitchFamily="50" charset="-128"/>
              </a:rPr>
              <a:t>CNN Recall</a:t>
            </a:r>
            <a:endParaRPr kumimoji="1" lang="ja-JP" altLang="en-US" sz="1200" b="1">
              <a:solidFill>
                <a:srgbClr val="666666"/>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59F16518-FF93-1CE9-2E2F-ACAE17B0F0D2}"/>
              </a:ext>
            </a:extLst>
          </p:cNvPr>
          <p:cNvSpPr txBox="1"/>
          <p:nvPr/>
        </p:nvSpPr>
        <p:spPr>
          <a:xfrm>
            <a:off x="7366000" y="1524000"/>
            <a:ext cx="1651000" cy="276999"/>
          </a:xfrm>
          <a:prstGeom prst="rect">
            <a:avLst/>
          </a:prstGeom>
          <a:noFill/>
        </p:spPr>
        <p:txBody>
          <a:bodyPr vert="horz" wrap="square" lIns="0" tIns="0" rIns="0" bIns="0" rtlCol="0" anchor="t">
            <a:noAutofit/>
          </a:bodyPr>
          <a:lstStyle/>
          <a:p>
            <a:pPr algn="ctr"/>
            <a:r>
              <a:rPr kumimoji="1" lang="en-US" altLang="ja-JP" sz="1200" b="1">
                <a:solidFill>
                  <a:srgbClr val="2F6690"/>
                </a:solidFill>
                <a:latin typeface="Yu Gothic" panose="020B0400000000000000" pitchFamily="50" charset="-128"/>
                <a:ea typeface="Yu Gothic" panose="020B0400000000000000" pitchFamily="50" charset="-128"/>
              </a:rPr>
              <a:t>ViT Recall</a:t>
            </a:r>
            <a:endParaRPr kumimoji="1" lang="ja-JP" altLang="en-US" sz="1200" b="1">
              <a:solidFill>
                <a:srgbClr val="2F6690"/>
              </a:solidFill>
              <a:latin typeface="Yu Gothic" panose="020B0400000000000000" pitchFamily="50" charset="-128"/>
              <a:ea typeface="Yu Gothic" panose="020B0400000000000000" pitchFamily="50" charset="-128"/>
            </a:endParaRPr>
          </a:p>
        </p:txBody>
      </p:sp>
      <p:sp>
        <p:nvSpPr>
          <p:cNvPr id="9" name="正方形/長方形 8">
            <a:extLst>
              <a:ext uri="{FF2B5EF4-FFF2-40B4-BE49-F238E27FC236}">
                <a16:creationId xmlns:a16="http://schemas.microsoft.com/office/drawing/2014/main" id="{A8F5B1FB-D789-672D-2F22-19CFDC933006}"/>
              </a:ext>
            </a:extLst>
          </p:cNvPr>
          <p:cNvSpPr/>
          <p:nvPr/>
        </p:nvSpPr>
        <p:spPr>
          <a:xfrm>
            <a:off x="1016000" y="1968500"/>
            <a:ext cx="914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5AC2AE-235A-3476-71DC-0092F1524721}"/>
              </a:ext>
            </a:extLst>
          </p:cNvPr>
          <p:cNvSpPr txBox="1"/>
          <p:nvPr/>
        </p:nvSpPr>
        <p:spPr>
          <a:xfrm>
            <a:off x="1270000" y="2120900"/>
            <a:ext cx="1524000" cy="276999"/>
          </a:xfrm>
          <a:prstGeom prst="rect">
            <a:avLst/>
          </a:prstGeom>
          <a:noFill/>
        </p:spPr>
        <p:txBody>
          <a:bodyPr vert="horz" wrap="square" lIns="0" tIns="0" rIns="0" bIns="0" rtlCol="0" anchor="t">
            <a:noAutofit/>
          </a:bodyPr>
          <a:lstStyle/>
          <a:p>
            <a:r>
              <a:rPr kumimoji="1" lang="en-US" altLang="ja-JP" sz="1500" b="1">
                <a:solidFill>
                  <a:srgbClr val="242424"/>
                </a:solidFill>
                <a:latin typeface="Yu Gothic" panose="020B0400000000000000" pitchFamily="50" charset="-128"/>
                <a:ea typeface="Yu Gothic" panose="020B0400000000000000" pitchFamily="50" charset="-128"/>
              </a:rPr>
              <a:t>grade 0</a:t>
            </a:r>
            <a:endParaRPr kumimoji="1" lang="ja-JP" altLang="en-US" sz="1500" b="1">
              <a:solidFill>
                <a:srgbClr val="242424"/>
              </a:solidFill>
              <a:latin typeface="Yu Gothic" panose="020B0400000000000000" pitchFamily="50" charset="-128"/>
              <a:ea typeface="Yu Gothic" panose="020B0400000000000000" pitchFamily="50" charset="-128"/>
            </a:endParaRPr>
          </a:p>
        </p:txBody>
      </p:sp>
      <p:sp>
        <p:nvSpPr>
          <p:cNvPr id="11" name="テキスト ボックス 10">
            <a:extLst>
              <a:ext uri="{FF2B5EF4-FFF2-40B4-BE49-F238E27FC236}">
                <a16:creationId xmlns:a16="http://schemas.microsoft.com/office/drawing/2014/main" id="{C46A9D48-5B26-CD96-C5F0-1C71CCD9EBDC}"/>
              </a:ext>
            </a:extLst>
          </p:cNvPr>
          <p:cNvSpPr txBox="1"/>
          <p:nvPr/>
        </p:nvSpPr>
        <p:spPr>
          <a:xfrm>
            <a:off x="3175000" y="2120900"/>
            <a:ext cx="1270000" cy="276999"/>
          </a:xfrm>
          <a:prstGeom prst="rect">
            <a:avLst/>
          </a:prstGeom>
          <a:noFill/>
        </p:spPr>
        <p:txBody>
          <a:bodyPr vert="horz" wrap="square" lIns="0" tIns="0" rIns="0" bIns="0" rtlCol="0" anchor="t">
            <a:noAutofit/>
          </a:bodyPr>
          <a:lstStyle/>
          <a:p>
            <a:pPr algn="ctr"/>
            <a:r>
              <a:rPr kumimoji="1" lang="en-US" altLang="ja-JP" sz="1500">
                <a:solidFill>
                  <a:srgbClr val="242424"/>
                </a:solidFill>
                <a:latin typeface="Yu Gothic" panose="020B0400000000000000" pitchFamily="50" charset="-128"/>
                <a:ea typeface="Yu Gothic" panose="020B0400000000000000" pitchFamily="50" charset="-128"/>
              </a:rPr>
              <a:t>557</a:t>
            </a:r>
            <a:endParaRPr kumimoji="1" lang="ja-JP" altLang="en-US" sz="1500">
              <a:solidFill>
                <a:srgbClr val="242424"/>
              </a:solidFill>
              <a:latin typeface="Yu Gothic" panose="020B0400000000000000" pitchFamily="50" charset="-128"/>
              <a:ea typeface="Yu Gothic" panose="020B0400000000000000" pitchFamily="50" charset="-128"/>
            </a:endParaRPr>
          </a:p>
        </p:txBody>
      </p:sp>
      <p:sp>
        <p:nvSpPr>
          <p:cNvPr id="12" name="テキスト ボックス 11">
            <a:extLst>
              <a:ext uri="{FF2B5EF4-FFF2-40B4-BE49-F238E27FC236}">
                <a16:creationId xmlns:a16="http://schemas.microsoft.com/office/drawing/2014/main" id="{97B38249-AEBE-1BEF-A981-43395CD3D42C}"/>
              </a:ext>
            </a:extLst>
          </p:cNvPr>
          <p:cNvSpPr txBox="1"/>
          <p:nvPr/>
        </p:nvSpPr>
        <p:spPr>
          <a:xfrm>
            <a:off x="5080000" y="2120900"/>
            <a:ext cx="1651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0.864</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F4A95CAF-5279-F446-8D5A-BBDF53F22A3B}"/>
              </a:ext>
            </a:extLst>
          </p:cNvPr>
          <p:cNvSpPr txBox="1"/>
          <p:nvPr/>
        </p:nvSpPr>
        <p:spPr>
          <a:xfrm>
            <a:off x="7366000" y="2120900"/>
            <a:ext cx="1651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0.840</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4" name="正方形/長方形 13">
            <a:extLst>
              <a:ext uri="{FF2B5EF4-FFF2-40B4-BE49-F238E27FC236}">
                <a16:creationId xmlns:a16="http://schemas.microsoft.com/office/drawing/2014/main" id="{5B35F9BE-DD94-A70F-2469-DD5E8328F926}"/>
              </a:ext>
            </a:extLst>
          </p:cNvPr>
          <p:cNvSpPr/>
          <p:nvPr/>
        </p:nvSpPr>
        <p:spPr>
          <a:xfrm>
            <a:off x="1016000" y="2667000"/>
            <a:ext cx="914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2AFA62A-796E-3BD4-B259-584C79D982E6}"/>
              </a:ext>
            </a:extLst>
          </p:cNvPr>
          <p:cNvSpPr txBox="1"/>
          <p:nvPr/>
        </p:nvSpPr>
        <p:spPr>
          <a:xfrm>
            <a:off x="1270000" y="2819400"/>
            <a:ext cx="1524000" cy="276999"/>
          </a:xfrm>
          <a:prstGeom prst="rect">
            <a:avLst/>
          </a:prstGeom>
          <a:noFill/>
        </p:spPr>
        <p:txBody>
          <a:bodyPr vert="horz" wrap="square" lIns="0" tIns="0" rIns="0" bIns="0" rtlCol="0" anchor="t">
            <a:noAutofit/>
          </a:bodyPr>
          <a:lstStyle/>
          <a:p>
            <a:r>
              <a:rPr kumimoji="1" lang="en-US" altLang="ja-JP" sz="1500" b="1">
                <a:solidFill>
                  <a:srgbClr val="242424"/>
                </a:solidFill>
                <a:latin typeface="Yu Gothic" panose="020B0400000000000000" pitchFamily="50" charset="-128"/>
                <a:ea typeface="Yu Gothic" panose="020B0400000000000000" pitchFamily="50" charset="-128"/>
              </a:rPr>
              <a:t>grade 1</a:t>
            </a:r>
            <a:endParaRPr kumimoji="1" lang="ja-JP" altLang="en-US" sz="1500" b="1">
              <a:solidFill>
                <a:srgbClr val="242424"/>
              </a:solidFill>
              <a:latin typeface="Yu Gothic" panose="020B0400000000000000" pitchFamily="50" charset="-128"/>
              <a:ea typeface="Yu Gothic" panose="020B0400000000000000" pitchFamily="50" charset="-128"/>
            </a:endParaRPr>
          </a:p>
        </p:txBody>
      </p:sp>
      <p:sp>
        <p:nvSpPr>
          <p:cNvPr id="16" name="テキスト ボックス 15">
            <a:extLst>
              <a:ext uri="{FF2B5EF4-FFF2-40B4-BE49-F238E27FC236}">
                <a16:creationId xmlns:a16="http://schemas.microsoft.com/office/drawing/2014/main" id="{5790B122-7C6E-B87C-835B-3FC08474A6FF}"/>
              </a:ext>
            </a:extLst>
          </p:cNvPr>
          <p:cNvSpPr txBox="1"/>
          <p:nvPr/>
        </p:nvSpPr>
        <p:spPr>
          <a:xfrm>
            <a:off x="3175000" y="2819400"/>
            <a:ext cx="1270000" cy="276999"/>
          </a:xfrm>
          <a:prstGeom prst="rect">
            <a:avLst/>
          </a:prstGeom>
          <a:noFill/>
        </p:spPr>
        <p:txBody>
          <a:bodyPr vert="horz" wrap="square" lIns="0" tIns="0" rIns="0" bIns="0" rtlCol="0" anchor="t">
            <a:noAutofit/>
          </a:bodyPr>
          <a:lstStyle/>
          <a:p>
            <a:pPr algn="ctr"/>
            <a:r>
              <a:rPr kumimoji="1" lang="en-US" altLang="ja-JP" sz="1500">
                <a:solidFill>
                  <a:srgbClr val="242424"/>
                </a:solidFill>
                <a:latin typeface="Yu Gothic" panose="020B0400000000000000" pitchFamily="50" charset="-128"/>
                <a:ea typeface="Yu Gothic" panose="020B0400000000000000" pitchFamily="50" charset="-128"/>
              </a:rPr>
              <a:t>444</a:t>
            </a:r>
            <a:endParaRPr kumimoji="1" lang="ja-JP" altLang="en-US" sz="1500">
              <a:solidFill>
                <a:srgbClr val="242424"/>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583450F0-B209-A33E-4563-F7C4EE0AE7B3}"/>
              </a:ext>
            </a:extLst>
          </p:cNvPr>
          <p:cNvSpPr txBox="1"/>
          <p:nvPr/>
        </p:nvSpPr>
        <p:spPr>
          <a:xfrm>
            <a:off x="5080000" y="2819400"/>
            <a:ext cx="1651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0.347</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18" name="テキスト ボックス 17">
            <a:extLst>
              <a:ext uri="{FF2B5EF4-FFF2-40B4-BE49-F238E27FC236}">
                <a16:creationId xmlns:a16="http://schemas.microsoft.com/office/drawing/2014/main" id="{6A83C902-AD2D-F721-A6C3-1ED48AADDE8E}"/>
              </a:ext>
            </a:extLst>
          </p:cNvPr>
          <p:cNvSpPr txBox="1"/>
          <p:nvPr/>
        </p:nvSpPr>
        <p:spPr>
          <a:xfrm>
            <a:off x="7366000" y="2819400"/>
            <a:ext cx="1651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0.385</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19" name="正方形/長方形 18">
            <a:extLst>
              <a:ext uri="{FF2B5EF4-FFF2-40B4-BE49-F238E27FC236}">
                <a16:creationId xmlns:a16="http://schemas.microsoft.com/office/drawing/2014/main" id="{B9074103-4874-525C-DB2C-94F9A6CD9FD2}"/>
              </a:ext>
            </a:extLst>
          </p:cNvPr>
          <p:cNvSpPr/>
          <p:nvPr/>
        </p:nvSpPr>
        <p:spPr>
          <a:xfrm>
            <a:off x="1016000" y="3365500"/>
            <a:ext cx="914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23D7DB8E-2EF3-194A-1C4A-5ED950DAEB3A}"/>
              </a:ext>
            </a:extLst>
          </p:cNvPr>
          <p:cNvSpPr txBox="1"/>
          <p:nvPr/>
        </p:nvSpPr>
        <p:spPr>
          <a:xfrm>
            <a:off x="1270000" y="3517900"/>
            <a:ext cx="1524000" cy="276999"/>
          </a:xfrm>
          <a:prstGeom prst="rect">
            <a:avLst/>
          </a:prstGeom>
          <a:noFill/>
        </p:spPr>
        <p:txBody>
          <a:bodyPr vert="horz" wrap="square" lIns="0" tIns="0" rIns="0" bIns="0" rtlCol="0" anchor="t">
            <a:noAutofit/>
          </a:bodyPr>
          <a:lstStyle/>
          <a:p>
            <a:r>
              <a:rPr kumimoji="1" lang="en-US" altLang="ja-JP" sz="1500" b="1">
                <a:solidFill>
                  <a:srgbClr val="242424"/>
                </a:solidFill>
                <a:latin typeface="Yu Gothic" panose="020B0400000000000000" pitchFamily="50" charset="-128"/>
                <a:ea typeface="Yu Gothic" panose="020B0400000000000000" pitchFamily="50" charset="-128"/>
              </a:rPr>
              <a:t>grade 2</a:t>
            </a:r>
            <a:endParaRPr kumimoji="1" lang="ja-JP" altLang="en-US" sz="1500" b="1">
              <a:solidFill>
                <a:srgbClr val="242424"/>
              </a:solidFill>
              <a:latin typeface="Yu Gothic" panose="020B0400000000000000" pitchFamily="50" charset="-128"/>
              <a:ea typeface="Yu Gothic" panose="020B0400000000000000" pitchFamily="50" charset="-128"/>
            </a:endParaRPr>
          </a:p>
        </p:txBody>
      </p:sp>
      <p:sp>
        <p:nvSpPr>
          <p:cNvPr id="21" name="テキスト ボックス 20">
            <a:extLst>
              <a:ext uri="{FF2B5EF4-FFF2-40B4-BE49-F238E27FC236}">
                <a16:creationId xmlns:a16="http://schemas.microsoft.com/office/drawing/2014/main" id="{458047D5-5507-4674-2B32-021EC76FCD5B}"/>
              </a:ext>
            </a:extLst>
          </p:cNvPr>
          <p:cNvSpPr txBox="1"/>
          <p:nvPr/>
        </p:nvSpPr>
        <p:spPr>
          <a:xfrm>
            <a:off x="3175000" y="3517900"/>
            <a:ext cx="1270000" cy="276999"/>
          </a:xfrm>
          <a:prstGeom prst="rect">
            <a:avLst/>
          </a:prstGeom>
          <a:noFill/>
        </p:spPr>
        <p:txBody>
          <a:bodyPr vert="horz" wrap="square" lIns="0" tIns="0" rIns="0" bIns="0" rtlCol="0" anchor="t">
            <a:noAutofit/>
          </a:bodyPr>
          <a:lstStyle/>
          <a:p>
            <a:pPr algn="ctr"/>
            <a:r>
              <a:rPr kumimoji="1" lang="en-US" altLang="ja-JP" sz="1500">
                <a:solidFill>
                  <a:srgbClr val="242424"/>
                </a:solidFill>
                <a:latin typeface="Yu Gothic" panose="020B0400000000000000" pitchFamily="50" charset="-128"/>
                <a:ea typeface="Yu Gothic" panose="020B0400000000000000" pitchFamily="50" charset="-128"/>
              </a:rPr>
              <a:t>106</a:t>
            </a:r>
            <a:endParaRPr kumimoji="1" lang="ja-JP" altLang="en-US" sz="1500">
              <a:solidFill>
                <a:srgbClr val="242424"/>
              </a:solidFill>
              <a:latin typeface="Yu Gothic" panose="020B0400000000000000" pitchFamily="50" charset="-128"/>
              <a:ea typeface="Yu Gothic" panose="020B0400000000000000" pitchFamily="50" charset="-128"/>
            </a:endParaRPr>
          </a:p>
        </p:txBody>
      </p:sp>
      <p:sp>
        <p:nvSpPr>
          <p:cNvPr id="22" name="テキスト ボックス 21">
            <a:extLst>
              <a:ext uri="{FF2B5EF4-FFF2-40B4-BE49-F238E27FC236}">
                <a16:creationId xmlns:a16="http://schemas.microsoft.com/office/drawing/2014/main" id="{5CF35E3F-C562-5DC2-CFF3-7636A9584B78}"/>
              </a:ext>
            </a:extLst>
          </p:cNvPr>
          <p:cNvSpPr txBox="1"/>
          <p:nvPr/>
        </p:nvSpPr>
        <p:spPr>
          <a:xfrm>
            <a:off x="5080000" y="3517900"/>
            <a:ext cx="1651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0.481</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23" name="テキスト ボックス 22">
            <a:extLst>
              <a:ext uri="{FF2B5EF4-FFF2-40B4-BE49-F238E27FC236}">
                <a16:creationId xmlns:a16="http://schemas.microsoft.com/office/drawing/2014/main" id="{75EAA8FA-8DDD-6AB6-8E9A-7A798EEA067C}"/>
              </a:ext>
            </a:extLst>
          </p:cNvPr>
          <p:cNvSpPr txBox="1"/>
          <p:nvPr/>
        </p:nvSpPr>
        <p:spPr>
          <a:xfrm>
            <a:off x="7366000" y="3517900"/>
            <a:ext cx="1651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0.500</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24" name="正方形/長方形 23">
            <a:extLst>
              <a:ext uri="{FF2B5EF4-FFF2-40B4-BE49-F238E27FC236}">
                <a16:creationId xmlns:a16="http://schemas.microsoft.com/office/drawing/2014/main" id="{02B4D5E3-2440-9766-B1B9-7B8D52832DF6}"/>
              </a:ext>
            </a:extLst>
          </p:cNvPr>
          <p:cNvSpPr/>
          <p:nvPr/>
        </p:nvSpPr>
        <p:spPr>
          <a:xfrm>
            <a:off x="1016000" y="4064000"/>
            <a:ext cx="914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36620D1F-430D-8794-24CF-6543F83DF377}"/>
              </a:ext>
            </a:extLst>
          </p:cNvPr>
          <p:cNvSpPr txBox="1"/>
          <p:nvPr/>
        </p:nvSpPr>
        <p:spPr>
          <a:xfrm>
            <a:off x="1270000" y="4216400"/>
            <a:ext cx="1524000" cy="276999"/>
          </a:xfrm>
          <a:prstGeom prst="rect">
            <a:avLst/>
          </a:prstGeom>
          <a:noFill/>
        </p:spPr>
        <p:txBody>
          <a:bodyPr vert="horz" wrap="square" lIns="0" tIns="0" rIns="0" bIns="0" rtlCol="0" anchor="t">
            <a:noAutofit/>
          </a:bodyPr>
          <a:lstStyle/>
          <a:p>
            <a:r>
              <a:rPr kumimoji="1" lang="en-US" altLang="ja-JP" sz="1500" b="1">
                <a:solidFill>
                  <a:srgbClr val="242424"/>
                </a:solidFill>
                <a:latin typeface="Yu Gothic" panose="020B0400000000000000" pitchFamily="50" charset="-128"/>
                <a:ea typeface="Yu Gothic" panose="020B0400000000000000" pitchFamily="50" charset="-128"/>
              </a:rPr>
              <a:t>grade 3</a:t>
            </a:r>
            <a:endParaRPr kumimoji="1" lang="ja-JP" altLang="en-US" sz="1500" b="1">
              <a:solidFill>
                <a:srgbClr val="242424"/>
              </a:solidFill>
              <a:latin typeface="Yu Gothic" panose="020B0400000000000000" pitchFamily="50" charset="-128"/>
              <a:ea typeface="Yu Gothic" panose="020B0400000000000000" pitchFamily="50" charset="-128"/>
            </a:endParaRPr>
          </a:p>
        </p:txBody>
      </p:sp>
      <p:sp>
        <p:nvSpPr>
          <p:cNvPr id="26" name="テキスト ボックス 25">
            <a:extLst>
              <a:ext uri="{FF2B5EF4-FFF2-40B4-BE49-F238E27FC236}">
                <a16:creationId xmlns:a16="http://schemas.microsoft.com/office/drawing/2014/main" id="{D08DEA6B-9459-5B0F-ACA9-963FB0F72189}"/>
              </a:ext>
            </a:extLst>
          </p:cNvPr>
          <p:cNvSpPr txBox="1"/>
          <p:nvPr/>
        </p:nvSpPr>
        <p:spPr>
          <a:xfrm>
            <a:off x="3175000" y="4216400"/>
            <a:ext cx="1270000" cy="276999"/>
          </a:xfrm>
          <a:prstGeom prst="rect">
            <a:avLst/>
          </a:prstGeom>
          <a:noFill/>
        </p:spPr>
        <p:txBody>
          <a:bodyPr vert="horz" wrap="square" lIns="0" tIns="0" rIns="0" bIns="0" rtlCol="0" anchor="t">
            <a:noAutofit/>
          </a:bodyPr>
          <a:lstStyle/>
          <a:p>
            <a:pPr algn="ctr"/>
            <a:r>
              <a:rPr kumimoji="1" lang="en-US" altLang="ja-JP" sz="1500">
                <a:solidFill>
                  <a:srgbClr val="242424"/>
                </a:solidFill>
                <a:latin typeface="Yu Gothic" panose="020B0400000000000000" pitchFamily="50" charset="-128"/>
                <a:ea typeface="Yu Gothic" panose="020B0400000000000000" pitchFamily="50" charset="-128"/>
              </a:rPr>
              <a:t>39</a:t>
            </a:r>
            <a:endParaRPr kumimoji="1" lang="ja-JP" altLang="en-US" sz="1500">
              <a:solidFill>
                <a:srgbClr val="242424"/>
              </a:solidFill>
              <a:latin typeface="Yu Gothic" panose="020B0400000000000000" pitchFamily="50" charset="-128"/>
              <a:ea typeface="Yu Gothic" panose="020B0400000000000000" pitchFamily="50" charset="-128"/>
            </a:endParaRPr>
          </a:p>
        </p:txBody>
      </p:sp>
      <p:sp>
        <p:nvSpPr>
          <p:cNvPr id="27" name="テキスト ボックス 26">
            <a:extLst>
              <a:ext uri="{FF2B5EF4-FFF2-40B4-BE49-F238E27FC236}">
                <a16:creationId xmlns:a16="http://schemas.microsoft.com/office/drawing/2014/main" id="{269EB645-88FF-CD09-EBCB-61BF1C01F55F}"/>
              </a:ext>
            </a:extLst>
          </p:cNvPr>
          <p:cNvSpPr txBox="1"/>
          <p:nvPr/>
        </p:nvSpPr>
        <p:spPr>
          <a:xfrm>
            <a:off x="5080000" y="4216400"/>
            <a:ext cx="1651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0.795</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28" name="テキスト ボックス 27">
            <a:extLst>
              <a:ext uri="{FF2B5EF4-FFF2-40B4-BE49-F238E27FC236}">
                <a16:creationId xmlns:a16="http://schemas.microsoft.com/office/drawing/2014/main" id="{9F5F8076-2178-2946-F785-7FE73526227D}"/>
              </a:ext>
            </a:extLst>
          </p:cNvPr>
          <p:cNvSpPr txBox="1"/>
          <p:nvPr/>
        </p:nvSpPr>
        <p:spPr>
          <a:xfrm>
            <a:off x="7366000" y="4216400"/>
            <a:ext cx="1651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0.846</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29" name="正方形/長方形 28">
            <a:extLst>
              <a:ext uri="{FF2B5EF4-FFF2-40B4-BE49-F238E27FC236}">
                <a16:creationId xmlns:a16="http://schemas.microsoft.com/office/drawing/2014/main" id="{745C831A-8474-E2E4-7721-759B1B26D7AF}"/>
              </a:ext>
            </a:extLst>
          </p:cNvPr>
          <p:cNvSpPr/>
          <p:nvPr/>
        </p:nvSpPr>
        <p:spPr>
          <a:xfrm>
            <a:off x="1016000" y="4762500"/>
            <a:ext cx="9144000" cy="609600"/>
          </a:xfrm>
          <a:prstGeom prst="rect">
            <a:avLst/>
          </a:prstGeom>
          <a:solidFill>
            <a:srgbClr val="FFFFFF"/>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F8F5C2FD-9438-E34D-C001-8E1D177F9A71}"/>
              </a:ext>
            </a:extLst>
          </p:cNvPr>
          <p:cNvSpPr txBox="1"/>
          <p:nvPr/>
        </p:nvSpPr>
        <p:spPr>
          <a:xfrm>
            <a:off x="1270000" y="4914900"/>
            <a:ext cx="1524000" cy="276999"/>
          </a:xfrm>
          <a:prstGeom prst="rect">
            <a:avLst/>
          </a:prstGeom>
          <a:noFill/>
        </p:spPr>
        <p:txBody>
          <a:bodyPr vert="horz" wrap="square" lIns="0" tIns="0" rIns="0" bIns="0" rtlCol="0" anchor="t">
            <a:noAutofit/>
          </a:bodyPr>
          <a:lstStyle/>
          <a:p>
            <a:r>
              <a:rPr kumimoji="1" lang="en-US" altLang="ja-JP" sz="1500" b="1">
                <a:solidFill>
                  <a:srgbClr val="242424"/>
                </a:solidFill>
                <a:latin typeface="Yu Gothic" panose="020B0400000000000000" pitchFamily="50" charset="-128"/>
                <a:ea typeface="Yu Gothic" panose="020B0400000000000000" pitchFamily="50" charset="-128"/>
              </a:rPr>
              <a:t>grade 4</a:t>
            </a:r>
            <a:endParaRPr kumimoji="1" lang="ja-JP" altLang="en-US" sz="1500" b="1">
              <a:solidFill>
                <a:srgbClr val="242424"/>
              </a:solidFill>
              <a:latin typeface="Yu Gothic" panose="020B0400000000000000" pitchFamily="50" charset="-128"/>
              <a:ea typeface="Yu Gothic" panose="020B0400000000000000" pitchFamily="50" charset="-128"/>
            </a:endParaRPr>
          </a:p>
        </p:txBody>
      </p:sp>
      <p:sp>
        <p:nvSpPr>
          <p:cNvPr id="31" name="テキスト ボックス 30">
            <a:extLst>
              <a:ext uri="{FF2B5EF4-FFF2-40B4-BE49-F238E27FC236}">
                <a16:creationId xmlns:a16="http://schemas.microsoft.com/office/drawing/2014/main" id="{A80657A7-70D0-FCF6-4BD4-CFFE9374DFF2}"/>
              </a:ext>
            </a:extLst>
          </p:cNvPr>
          <p:cNvSpPr txBox="1"/>
          <p:nvPr/>
        </p:nvSpPr>
        <p:spPr>
          <a:xfrm>
            <a:off x="3175000" y="4914900"/>
            <a:ext cx="1270000" cy="276999"/>
          </a:xfrm>
          <a:prstGeom prst="rect">
            <a:avLst/>
          </a:prstGeom>
          <a:noFill/>
        </p:spPr>
        <p:txBody>
          <a:bodyPr vert="horz" wrap="square" lIns="0" tIns="0" rIns="0" bIns="0" rtlCol="0" anchor="t">
            <a:noAutofit/>
          </a:bodyPr>
          <a:lstStyle/>
          <a:p>
            <a:pPr algn="ctr"/>
            <a:r>
              <a:rPr kumimoji="1" lang="en-US" altLang="ja-JP" sz="1500">
                <a:solidFill>
                  <a:srgbClr val="242424"/>
                </a:solidFill>
                <a:latin typeface="Yu Gothic" panose="020B0400000000000000" pitchFamily="50" charset="-128"/>
                <a:ea typeface="Yu Gothic" panose="020B0400000000000000" pitchFamily="50" charset="-128"/>
              </a:rPr>
              <a:t>8</a:t>
            </a:r>
            <a:endParaRPr kumimoji="1" lang="ja-JP" altLang="en-US" sz="1500">
              <a:solidFill>
                <a:srgbClr val="242424"/>
              </a:solidFill>
              <a:latin typeface="Yu Gothic" panose="020B0400000000000000" pitchFamily="50" charset="-128"/>
              <a:ea typeface="Yu Gothic" panose="020B0400000000000000" pitchFamily="50" charset="-128"/>
            </a:endParaRPr>
          </a:p>
        </p:txBody>
      </p:sp>
      <p:sp>
        <p:nvSpPr>
          <p:cNvPr id="32" name="テキスト ボックス 31">
            <a:extLst>
              <a:ext uri="{FF2B5EF4-FFF2-40B4-BE49-F238E27FC236}">
                <a16:creationId xmlns:a16="http://schemas.microsoft.com/office/drawing/2014/main" id="{4192FE9B-E37F-3786-52FF-3D8D675DCBCE}"/>
              </a:ext>
            </a:extLst>
          </p:cNvPr>
          <p:cNvSpPr txBox="1"/>
          <p:nvPr/>
        </p:nvSpPr>
        <p:spPr>
          <a:xfrm>
            <a:off x="5080000" y="4914900"/>
            <a:ext cx="1651000" cy="276999"/>
          </a:xfrm>
          <a:prstGeom prst="rect">
            <a:avLst/>
          </a:prstGeom>
          <a:noFill/>
        </p:spPr>
        <p:txBody>
          <a:bodyPr vert="horz" wrap="square" lIns="0" tIns="0" rIns="0" bIns="0" rtlCol="0" anchor="t">
            <a:noAutofit/>
          </a:bodyPr>
          <a:lstStyle/>
          <a:p>
            <a:pPr algn="ctr"/>
            <a:r>
              <a:rPr kumimoji="1" lang="en-US" altLang="ja-JP" sz="1500">
                <a:solidFill>
                  <a:srgbClr val="666666"/>
                </a:solidFill>
                <a:latin typeface="Yu Gothic" panose="020B0400000000000000" pitchFamily="50" charset="-128"/>
                <a:ea typeface="Yu Gothic" panose="020B0400000000000000" pitchFamily="50" charset="-128"/>
              </a:rPr>
              <a:t>1.000</a:t>
            </a:r>
            <a:endParaRPr kumimoji="1" lang="ja-JP" altLang="en-US" sz="1500">
              <a:solidFill>
                <a:srgbClr val="666666"/>
              </a:solidFill>
              <a:latin typeface="Yu Gothic" panose="020B0400000000000000" pitchFamily="50" charset="-128"/>
              <a:ea typeface="Yu Gothic" panose="020B0400000000000000" pitchFamily="50" charset="-128"/>
            </a:endParaRPr>
          </a:p>
        </p:txBody>
      </p:sp>
      <p:sp>
        <p:nvSpPr>
          <p:cNvPr id="33" name="テキスト ボックス 32">
            <a:extLst>
              <a:ext uri="{FF2B5EF4-FFF2-40B4-BE49-F238E27FC236}">
                <a16:creationId xmlns:a16="http://schemas.microsoft.com/office/drawing/2014/main" id="{986B68FB-C347-DDF2-C0BE-62474A89453C}"/>
              </a:ext>
            </a:extLst>
          </p:cNvPr>
          <p:cNvSpPr txBox="1"/>
          <p:nvPr/>
        </p:nvSpPr>
        <p:spPr>
          <a:xfrm>
            <a:off x="7366000" y="4914900"/>
            <a:ext cx="1651000" cy="276999"/>
          </a:xfrm>
          <a:prstGeom prst="rect">
            <a:avLst/>
          </a:prstGeom>
          <a:noFill/>
        </p:spPr>
        <p:txBody>
          <a:bodyPr vert="horz" wrap="square" lIns="0" tIns="0" rIns="0" bIns="0" rtlCol="0" anchor="t">
            <a:noAutofit/>
          </a:bodyPr>
          <a:lstStyle/>
          <a:p>
            <a:pPr algn="ctr"/>
            <a:r>
              <a:rPr kumimoji="1" lang="en-US" altLang="ja-JP" sz="1500" b="1">
                <a:solidFill>
                  <a:srgbClr val="2F6690"/>
                </a:solidFill>
                <a:latin typeface="Yu Gothic" panose="020B0400000000000000" pitchFamily="50" charset="-128"/>
                <a:ea typeface="Yu Gothic" panose="020B0400000000000000" pitchFamily="50" charset="-128"/>
              </a:rPr>
              <a:t>1.000</a:t>
            </a:r>
            <a:endParaRPr kumimoji="1" lang="ja-JP" altLang="en-US" sz="1500" b="1">
              <a:solidFill>
                <a:srgbClr val="2F6690"/>
              </a:solidFill>
              <a:latin typeface="Yu Gothic" panose="020B0400000000000000" pitchFamily="50" charset="-128"/>
              <a:ea typeface="Yu Gothic" panose="020B0400000000000000" pitchFamily="50" charset="-128"/>
            </a:endParaRPr>
          </a:p>
        </p:txBody>
      </p:sp>
      <p:sp>
        <p:nvSpPr>
          <p:cNvPr id="34" name="テキスト ボックス 33">
            <a:extLst>
              <a:ext uri="{FF2B5EF4-FFF2-40B4-BE49-F238E27FC236}">
                <a16:creationId xmlns:a16="http://schemas.microsoft.com/office/drawing/2014/main" id="{64321F87-4915-C005-D72E-7C5A648BD610}"/>
              </a:ext>
            </a:extLst>
          </p:cNvPr>
          <p:cNvSpPr txBox="1"/>
          <p:nvPr/>
        </p:nvSpPr>
        <p:spPr>
          <a:xfrm>
            <a:off x="1714500" y="5778500"/>
            <a:ext cx="8763000" cy="276999"/>
          </a:xfrm>
          <a:prstGeom prst="rect">
            <a:avLst/>
          </a:prstGeom>
          <a:noFill/>
        </p:spPr>
        <p:txBody>
          <a:bodyPr vert="horz" wrap="square" lIns="0" tIns="0" rIns="0" bIns="0" rtlCol="0" anchor="t">
            <a:noAutofit/>
          </a:bodyPr>
          <a:lstStyle/>
          <a:p>
            <a:pPr algn="ctr"/>
            <a:r>
              <a:rPr kumimoji="1" lang="en-US" altLang="ja-JP" sz="1500" b="1">
                <a:solidFill>
                  <a:srgbClr val="C0392B"/>
                </a:solidFill>
                <a:latin typeface="Yu Gothic" panose="020B0400000000000000" pitchFamily="50" charset="-128"/>
                <a:ea typeface="Yu Gothic" panose="020B0400000000000000" pitchFamily="50" charset="-128"/>
              </a:rPr>
              <a:t>grade 4</a:t>
            </a:r>
            <a:r>
              <a:rPr kumimoji="1" lang="ja-JP" altLang="en-US" sz="1500" b="1">
                <a:solidFill>
                  <a:srgbClr val="C0392B"/>
                </a:solidFill>
                <a:latin typeface="Yu Gothic" panose="020B0400000000000000" pitchFamily="50" charset="-128"/>
                <a:ea typeface="Yu Gothic" panose="020B0400000000000000" pitchFamily="50" charset="-128"/>
              </a:rPr>
              <a:t>は</a:t>
            </a:r>
            <a:r>
              <a:rPr kumimoji="1" lang="en-US" altLang="ja-JP" sz="1500" b="1">
                <a:solidFill>
                  <a:srgbClr val="C0392B"/>
                </a:solidFill>
                <a:latin typeface="Yu Gothic" panose="020B0400000000000000" pitchFamily="50" charset="-128"/>
                <a:ea typeface="Yu Gothic" panose="020B0400000000000000" pitchFamily="50" charset="-128"/>
              </a:rPr>
              <a:t>8</a:t>
            </a:r>
            <a:r>
              <a:rPr kumimoji="1" lang="ja-JP" altLang="en-US" sz="1500" b="1">
                <a:solidFill>
                  <a:srgbClr val="C0392B"/>
                </a:solidFill>
                <a:latin typeface="Yu Gothic" panose="020B0400000000000000" pitchFamily="50" charset="-128"/>
                <a:ea typeface="Yu Gothic" panose="020B0400000000000000" pitchFamily="50" charset="-128"/>
              </a:rPr>
              <a:t>名のみであり、</a:t>
            </a:r>
            <a:r>
              <a:rPr kumimoji="1" lang="en-US" altLang="ja-JP" sz="1500" b="1">
                <a:solidFill>
                  <a:srgbClr val="C0392B"/>
                </a:solidFill>
                <a:latin typeface="Yu Gothic" panose="020B0400000000000000" pitchFamily="50" charset="-128"/>
                <a:ea typeface="Yu Gothic" panose="020B0400000000000000" pitchFamily="50" charset="-128"/>
              </a:rPr>
              <a:t>1.000</a:t>
            </a:r>
            <a:r>
              <a:rPr kumimoji="1" lang="ja-JP" altLang="en-US" sz="1500" b="1">
                <a:solidFill>
                  <a:srgbClr val="C0392B"/>
                </a:solidFill>
                <a:latin typeface="Yu Gothic" panose="020B0400000000000000" pitchFamily="50" charset="-128"/>
                <a:ea typeface="Yu Gothic" panose="020B0400000000000000" pitchFamily="50" charset="-128"/>
              </a:rPr>
              <a:t>という値の解釈には注意が必要</a:t>
            </a:r>
          </a:p>
        </p:txBody>
      </p:sp>
      <p:sp>
        <p:nvSpPr>
          <p:cNvPr id="35" name="テキスト ボックス 34">
            <a:extLst>
              <a:ext uri="{FF2B5EF4-FFF2-40B4-BE49-F238E27FC236}">
                <a16:creationId xmlns:a16="http://schemas.microsoft.com/office/drawing/2014/main" id="{4AB0BA2C-E002-8341-B0AD-2117D73D59E2}"/>
              </a:ext>
            </a:extLst>
          </p:cNvPr>
          <p:cNvSpPr txBox="1"/>
          <p:nvPr/>
        </p:nvSpPr>
        <p:spPr>
          <a:xfrm>
            <a:off x="571500" y="6413500"/>
            <a:ext cx="9652000" cy="276999"/>
          </a:xfrm>
          <a:prstGeom prst="rect">
            <a:avLst/>
          </a:prstGeom>
          <a:noFill/>
        </p:spPr>
        <p:txBody>
          <a:bodyPr vert="horz" wrap="square" lIns="0" tIns="0" rIns="0" bIns="0" rtlCol="0" anchor="t">
            <a:noAutofit/>
          </a:bodyPr>
          <a:lstStyle/>
          <a:p>
            <a:r>
              <a:rPr kumimoji="1" lang="en-US" altLang="ja-JP" sz="800">
                <a:solidFill>
                  <a:srgbClr val="666666"/>
                </a:solidFill>
                <a:latin typeface="Yu Gothic" panose="020B0400000000000000" pitchFamily="50" charset="-128"/>
                <a:ea typeface="Yu Gothic" panose="020B0400000000000000" pitchFamily="50" charset="-128"/>
              </a:rPr>
              <a:t>3</a:t>
            </a:r>
            <a:r>
              <a:rPr kumimoji="1" lang="ja-JP" altLang="en-US" sz="800">
                <a:solidFill>
                  <a:srgbClr val="666666"/>
                </a:solidFill>
                <a:latin typeface="Yu Gothic" panose="020B0400000000000000" pitchFamily="50" charset="-128"/>
                <a:ea typeface="Yu Gothic" panose="020B0400000000000000" pitchFamily="50" charset="-128"/>
              </a:rPr>
              <a:t>クラス学習後の元</a:t>
            </a:r>
            <a:r>
              <a:rPr kumimoji="1" lang="en-US" altLang="ja-JP" sz="800">
                <a:solidFill>
                  <a:srgbClr val="666666"/>
                </a:solidFill>
                <a:latin typeface="Yu Gothic" panose="020B0400000000000000" pitchFamily="50" charset="-128"/>
                <a:ea typeface="Yu Gothic" panose="020B0400000000000000" pitchFamily="50" charset="-128"/>
              </a:rPr>
              <a:t>grade</a:t>
            </a:r>
            <a:r>
              <a:rPr kumimoji="1" lang="ja-JP" altLang="en-US" sz="800">
                <a:solidFill>
                  <a:srgbClr val="666666"/>
                </a:solidFill>
                <a:latin typeface="Yu Gothic" panose="020B0400000000000000" pitchFamily="50" charset="-128"/>
                <a:ea typeface="Yu Gothic" panose="020B0400000000000000" pitchFamily="50" charset="-128"/>
              </a:rPr>
              <a:t>別</a:t>
            </a:r>
            <a:r>
              <a:rPr kumimoji="1" lang="en-US" altLang="ja-JP" sz="800">
                <a:solidFill>
                  <a:srgbClr val="666666"/>
                </a:solidFill>
                <a:latin typeface="Yu Gothic" panose="020B0400000000000000" pitchFamily="50" charset="-128"/>
                <a:ea typeface="Yu Gothic" panose="020B0400000000000000" pitchFamily="50" charset="-128"/>
              </a:rPr>
              <a:t>Recall</a:t>
            </a:r>
            <a:endParaRPr kumimoji="1" lang="ja-JP" altLang="en-US" sz="800">
              <a:solidFill>
                <a:srgbClr val="666666"/>
              </a:solidFill>
              <a:latin typeface="Yu Gothic" panose="020B0400000000000000" pitchFamily="50" charset="-128"/>
              <a:ea typeface="Yu Gothic" panose="020B0400000000000000" pitchFamily="50" charset="-128"/>
            </a:endParaRPr>
          </a:p>
        </p:txBody>
      </p:sp>
      <p:sp>
        <p:nvSpPr>
          <p:cNvPr id="36" name="テキスト ボックス 35">
            <a:extLst>
              <a:ext uri="{FF2B5EF4-FFF2-40B4-BE49-F238E27FC236}">
                <a16:creationId xmlns:a16="http://schemas.microsoft.com/office/drawing/2014/main" id="{DC82DCBB-CF9F-58AA-765C-4E42DB6A222F}"/>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ja-JP" altLang="en-US" sz="800">
                <a:solidFill>
                  <a:srgbClr val="666666"/>
                </a:solidFill>
                <a:latin typeface="Yu Gothic" panose="020B0400000000000000" pitchFamily="50" charset="-128"/>
                <a:ea typeface="Yu Gothic" panose="020B0400000000000000" pitchFamily="50" charset="-128"/>
              </a:rPr>
              <a:t>参考</a:t>
            </a:r>
          </a:p>
        </p:txBody>
      </p:sp>
      <p:sp>
        <p:nvSpPr>
          <p:cNvPr id="37" name="テキスト ボックス 36">
            <a:extLst>
              <a:ext uri="{FF2B5EF4-FFF2-40B4-BE49-F238E27FC236}">
                <a16:creationId xmlns:a16="http://schemas.microsoft.com/office/drawing/2014/main" id="{DB0E88DD-FE8C-9CCE-4668-BFBA94CAD204}"/>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14</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3755707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575514D-65EC-696B-6991-0B736962E3AE}"/>
              </a:ext>
            </a:extLst>
          </p:cNvPr>
          <p:cNvSpPr txBox="1"/>
          <p:nvPr/>
        </p:nvSpPr>
        <p:spPr>
          <a:xfrm>
            <a:off x="571500" y="304800"/>
            <a:ext cx="2159000" cy="276999"/>
          </a:xfrm>
          <a:prstGeom prst="rect">
            <a:avLst/>
          </a:prstGeom>
          <a:noFill/>
        </p:spPr>
        <p:txBody>
          <a:bodyPr vert="horz" wrap="square" lIns="0" tIns="0" rIns="0" bIns="0" rtlCol="0" anchor="t">
            <a:noAutofit/>
          </a:bodyPr>
          <a:lstStyle/>
          <a:p>
            <a:r>
              <a:rPr kumimoji="1" lang="en-US" altLang="ja-JP" sz="1000" b="1">
                <a:solidFill>
                  <a:srgbClr val="2F6690"/>
                </a:solidFill>
                <a:latin typeface="Yu Gothic" panose="020B0400000000000000" pitchFamily="50" charset="-128"/>
                <a:ea typeface="Yu Gothic" panose="020B0400000000000000" pitchFamily="50" charset="-128"/>
              </a:rPr>
              <a:t>APPENDIX</a:t>
            </a:r>
            <a:endParaRPr kumimoji="1" lang="ja-JP" altLang="en-US" sz="1000" b="1">
              <a:solidFill>
                <a:srgbClr val="2F6690"/>
              </a:solidFill>
              <a:latin typeface="Yu Gothic" panose="020B0400000000000000" pitchFamily="50" charset="-128"/>
              <a:ea typeface="Yu Gothic" panose="020B0400000000000000" pitchFamily="50" charset="-128"/>
            </a:endParaRPr>
          </a:p>
        </p:txBody>
      </p:sp>
      <p:sp>
        <p:nvSpPr>
          <p:cNvPr id="3" name="テキスト ボックス 2">
            <a:extLst>
              <a:ext uri="{FF2B5EF4-FFF2-40B4-BE49-F238E27FC236}">
                <a16:creationId xmlns:a16="http://schemas.microsoft.com/office/drawing/2014/main" id="{F1A3353D-E97A-24B8-1D8D-4A6AF0A6BD3F}"/>
              </a:ext>
            </a:extLst>
          </p:cNvPr>
          <p:cNvSpPr txBox="1"/>
          <p:nvPr/>
        </p:nvSpPr>
        <p:spPr>
          <a:xfrm>
            <a:off x="571500" y="533400"/>
            <a:ext cx="11049000" cy="276999"/>
          </a:xfrm>
          <a:prstGeom prst="rect">
            <a:avLst/>
          </a:prstGeom>
          <a:noFill/>
        </p:spPr>
        <p:txBody>
          <a:bodyPr vert="horz" wrap="square" lIns="0" tIns="0" rIns="0" bIns="0" rtlCol="0" anchor="t">
            <a:noAutofit/>
          </a:bodyPr>
          <a:lstStyle/>
          <a:p>
            <a:r>
              <a:rPr kumimoji="1" lang="ja-JP" altLang="en-US" sz="2700" b="1">
                <a:solidFill>
                  <a:srgbClr val="1F3C59"/>
                </a:solidFill>
                <a:latin typeface="Yu Gothic" panose="020B0400000000000000" pitchFamily="50" charset="-128"/>
                <a:ea typeface="Yu Gothic" panose="020B0400000000000000" pitchFamily="50" charset="-128"/>
              </a:rPr>
              <a:t>なぜ</a:t>
            </a:r>
            <a:r>
              <a:rPr kumimoji="1" lang="en-US" altLang="ja-JP" sz="2700" b="1">
                <a:solidFill>
                  <a:srgbClr val="1F3C59"/>
                </a:solidFill>
                <a:latin typeface="Yu Gothic" panose="020B0400000000000000" pitchFamily="50" charset="-128"/>
                <a:ea typeface="Yu Gothic" panose="020B0400000000000000" pitchFamily="50" charset="-128"/>
              </a:rPr>
              <a:t>0.9209</a:t>
            </a:r>
            <a:r>
              <a:rPr kumimoji="1" lang="ja-JP" altLang="en-US" sz="2700" b="1">
                <a:solidFill>
                  <a:srgbClr val="1F3C59"/>
                </a:solidFill>
                <a:latin typeface="Yu Gothic" panose="020B0400000000000000" pitchFamily="50" charset="-128"/>
                <a:ea typeface="Yu Gothic" panose="020B0400000000000000" pitchFamily="50" charset="-128"/>
              </a:rPr>
              <a:t>と今回の</a:t>
            </a:r>
            <a:r>
              <a:rPr kumimoji="1" lang="en-US" altLang="ja-JP" sz="2700" b="1">
                <a:solidFill>
                  <a:srgbClr val="1F3C59"/>
                </a:solidFill>
                <a:latin typeface="Yu Gothic" panose="020B0400000000000000" pitchFamily="50" charset="-128"/>
                <a:ea typeface="Yu Gothic" panose="020B0400000000000000" pitchFamily="50" charset="-128"/>
              </a:rPr>
              <a:t>Accuracy</a:t>
            </a:r>
            <a:r>
              <a:rPr kumimoji="1" lang="ja-JP" altLang="en-US" sz="2700" b="1">
                <a:solidFill>
                  <a:srgbClr val="1F3C59"/>
                </a:solidFill>
                <a:latin typeface="Yu Gothic" panose="020B0400000000000000" pitchFamily="50" charset="-128"/>
                <a:ea typeface="Yu Gothic" panose="020B0400000000000000" pitchFamily="50" charset="-128"/>
              </a:rPr>
              <a:t>を比較しないのか</a:t>
            </a:r>
          </a:p>
        </p:txBody>
      </p:sp>
      <p:cxnSp>
        <p:nvCxnSpPr>
          <p:cNvPr id="4" name="直線コネクタ 3">
            <a:extLst>
              <a:ext uri="{FF2B5EF4-FFF2-40B4-BE49-F238E27FC236}">
                <a16:creationId xmlns:a16="http://schemas.microsoft.com/office/drawing/2014/main" id="{C7E454A3-8E3E-711E-F576-B08528EE2B82}"/>
              </a:ext>
            </a:extLst>
          </p:cNvPr>
          <p:cNvCxnSpPr/>
          <p:nvPr/>
        </p:nvCxnSpPr>
        <p:spPr>
          <a:xfrm>
            <a:off x="571500" y="1155700"/>
            <a:ext cx="11049000" cy="0"/>
          </a:xfrm>
          <a:prstGeom prst="line">
            <a:avLst/>
          </a:prstGeom>
          <a:ln w="27940">
            <a:solidFill>
              <a:srgbClr val="2F6690"/>
            </a:solidFill>
          </a:ln>
        </p:spPr>
        <p:style>
          <a:lnRef idx="2">
            <a:schemeClr val="accent1"/>
          </a:lnRef>
          <a:fillRef idx="0">
            <a:schemeClr val="accent1"/>
          </a:fillRef>
          <a:effectRef idx="1">
            <a:schemeClr val="accent1"/>
          </a:effectRef>
          <a:fontRef idx="minor">
            <a:schemeClr val="tx1"/>
          </a:fontRef>
        </p:style>
      </p:cxnSp>
      <p:sp>
        <p:nvSpPr>
          <p:cNvPr id="5" name="四角形: 角を丸くする 4">
            <a:extLst>
              <a:ext uri="{FF2B5EF4-FFF2-40B4-BE49-F238E27FC236}">
                <a16:creationId xmlns:a16="http://schemas.microsoft.com/office/drawing/2014/main" id="{4BDCE46F-F261-F60B-DE65-AD97A911593A}"/>
              </a:ext>
            </a:extLst>
          </p:cNvPr>
          <p:cNvSpPr/>
          <p:nvPr/>
        </p:nvSpPr>
        <p:spPr>
          <a:xfrm>
            <a:off x="952500" y="1651000"/>
            <a:ext cx="4318000" cy="3175000"/>
          </a:xfrm>
          <a:prstGeom prst="roundRect">
            <a:avLst/>
          </a:prstGeom>
          <a:solidFill>
            <a:srgbClr val="F2F2F2"/>
          </a:solidFill>
          <a:ln w="12700">
            <a:solidFill>
              <a:srgbClr val="B4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38A4E7A-E39D-031E-5613-E117B56A33ED}"/>
              </a:ext>
            </a:extLst>
          </p:cNvPr>
          <p:cNvSpPr txBox="1"/>
          <p:nvPr/>
        </p:nvSpPr>
        <p:spPr>
          <a:xfrm>
            <a:off x="1270000" y="1968500"/>
            <a:ext cx="3683000" cy="276999"/>
          </a:xfrm>
          <a:prstGeom prst="rect">
            <a:avLst/>
          </a:prstGeom>
          <a:noFill/>
        </p:spPr>
        <p:txBody>
          <a:bodyPr vert="horz" wrap="square" lIns="0" tIns="0" rIns="0" bIns="0" rtlCol="0" anchor="t">
            <a:noAutofit/>
          </a:bodyPr>
          <a:lstStyle/>
          <a:p>
            <a:pPr algn="ctr"/>
            <a:r>
              <a:rPr kumimoji="1" lang="ja-JP" altLang="en-US" b="1">
                <a:solidFill>
                  <a:srgbClr val="666666"/>
                </a:solidFill>
                <a:latin typeface="Yu Gothic" panose="020B0400000000000000" pitchFamily="50" charset="-128"/>
                <a:ea typeface="Yu Gothic" panose="020B0400000000000000" pitchFamily="50" charset="-128"/>
              </a:rPr>
              <a:t>先行研究の参考値</a:t>
            </a:r>
          </a:p>
        </p:txBody>
      </p:sp>
      <p:sp>
        <p:nvSpPr>
          <p:cNvPr id="7" name="テキスト ボックス 6">
            <a:extLst>
              <a:ext uri="{FF2B5EF4-FFF2-40B4-BE49-F238E27FC236}">
                <a16:creationId xmlns:a16="http://schemas.microsoft.com/office/drawing/2014/main" id="{90D6B954-65F0-7BC9-1815-AE7CF8D25E1B}"/>
              </a:ext>
            </a:extLst>
          </p:cNvPr>
          <p:cNvSpPr txBox="1"/>
          <p:nvPr/>
        </p:nvSpPr>
        <p:spPr>
          <a:xfrm>
            <a:off x="1270000" y="2692400"/>
            <a:ext cx="3683000" cy="276999"/>
          </a:xfrm>
          <a:prstGeom prst="rect">
            <a:avLst/>
          </a:prstGeom>
          <a:noFill/>
        </p:spPr>
        <p:txBody>
          <a:bodyPr vert="horz" wrap="square" lIns="0" tIns="0" rIns="0" bIns="0" rtlCol="0" anchor="t">
            <a:noAutofit/>
          </a:bodyPr>
          <a:lstStyle/>
          <a:p>
            <a:pPr algn="ctr"/>
            <a:r>
              <a:rPr kumimoji="1" lang="en-US" altLang="ja-JP" sz="2800" b="1">
                <a:solidFill>
                  <a:srgbClr val="242424"/>
                </a:solidFill>
                <a:latin typeface="Yu Gothic" panose="020B0400000000000000" pitchFamily="50" charset="-128"/>
                <a:ea typeface="Yu Gothic" panose="020B0400000000000000" pitchFamily="50" charset="-128"/>
              </a:rPr>
              <a:t>Accuracy 0.9209</a:t>
            </a:r>
            <a:endParaRPr kumimoji="1" lang="ja-JP" altLang="en-US" sz="2800" b="1">
              <a:solidFill>
                <a:srgbClr val="242424"/>
              </a:solidFill>
              <a:latin typeface="Yu Gothic" panose="020B0400000000000000" pitchFamily="50" charset="-128"/>
              <a:ea typeface="Yu Gothic" panose="020B0400000000000000" pitchFamily="50" charset="-128"/>
            </a:endParaRPr>
          </a:p>
        </p:txBody>
      </p:sp>
      <p:sp>
        <p:nvSpPr>
          <p:cNvPr id="8" name="テキスト ボックス 7">
            <a:extLst>
              <a:ext uri="{FF2B5EF4-FFF2-40B4-BE49-F238E27FC236}">
                <a16:creationId xmlns:a16="http://schemas.microsoft.com/office/drawing/2014/main" id="{B0D6EB33-6D00-4610-4B63-71EFE87EB1BF}"/>
              </a:ext>
            </a:extLst>
          </p:cNvPr>
          <p:cNvSpPr txBox="1"/>
          <p:nvPr/>
        </p:nvSpPr>
        <p:spPr>
          <a:xfrm>
            <a:off x="1270000" y="3619500"/>
            <a:ext cx="3683000" cy="276999"/>
          </a:xfrm>
          <a:prstGeom prst="rect">
            <a:avLst/>
          </a:prstGeom>
          <a:noFill/>
        </p:spPr>
        <p:txBody>
          <a:bodyPr vert="horz" wrap="square" lIns="0" tIns="0" rIns="0" bIns="0" rtlCol="0" anchor="t">
            <a:noAutofit/>
          </a:bodyPr>
          <a:lstStyle/>
          <a:p>
            <a:pPr algn="ctr"/>
            <a:r>
              <a:rPr kumimoji="1" lang="ja-JP" altLang="en-US" sz="1600">
                <a:solidFill>
                  <a:srgbClr val="242424"/>
                </a:solidFill>
                <a:latin typeface="Yu Gothic" panose="020B0400000000000000" pitchFamily="50" charset="-128"/>
                <a:ea typeface="Yu Gothic" panose="020B0400000000000000" pitchFamily="50" charset="-128"/>
              </a:rPr>
              <a:t>画像単位</a:t>
            </a:r>
            <a:r>
              <a:rPr kumimoji="1" lang="en-US" altLang="ja-JP" sz="1600">
                <a:solidFill>
                  <a:srgbClr val="242424"/>
                </a:solidFill>
                <a:latin typeface="Yu Gothic" panose="020B0400000000000000" pitchFamily="50" charset="-128"/>
                <a:ea typeface="Yu Gothic" panose="020B0400000000000000" pitchFamily="50" charset="-128"/>
              </a:rPr>
              <a:t>split
5</a:t>
            </a:r>
            <a:r>
              <a:rPr kumimoji="1" lang="ja-JP" altLang="en-US" sz="1600">
                <a:solidFill>
                  <a:srgbClr val="242424"/>
                </a:solidFill>
                <a:latin typeface="Yu Gothic" panose="020B0400000000000000" pitchFamily="50" charset="-128"/>
                <a:ea typeface="Yu Gothic" panose="020B0400000000000000" pitchFamily="50" charset="-128"/>
              </a:rPr>
              <a:t>クラス
</a:t>
            </a:r>
            <a:r>
              <a:rPr kumimoji="1" lang="en-US" altLang="ja-JP" sz="1600">
                <a:solidFill>
                  <a:srgbClr val="242424"/>
                </a:solidFill>
                <a:latin typeface="Yu Gothic" panose="020B0400000000000000" pitchFamily="50" charset="-128"/>
                <a:ea typeface="Yu Gothic" panose="020B0400000000000000" pitchFamily="50" charset="-128"/>
              </a:rPr>
              <a:t>axial 9–15</a:t>
            </a:r>
            <a:endParaRPr kumimoji="1" lang="ja-JP" altLang="en-US" sz="1600">
              <a:solidFill>
                <a:srgbClr val="242424"/>
              </a:solidFill>
              <a:latin typeface="Yu Gothic" panose="020B0400000000000000" pitchFamily="50" charset="-128"/>
              <a:ea typeface="Yu Gothic" panose="020B0400000000000000" pitchFamily="50" charset="-128"/>
            </a:endParaRPr>
          </a:p>
        </p:txBody>
      </p:sp>
      <p:sp>
        <p:nvSpPr>
          <p:cNvPr id="9" name="テキスト ボックス 8">
            <a:extLst>
              <a:ext uri="{FF2B5EF4-FFF2-40B4-BE49-F238E27FC236}">
                <a16:creationId xmlns:a16="http://schemas.microsoft.com/office/drawing/2014/main" id="{40315BF5-DE10-F3E3-336E-4A43F05C788C}"/>
              </a:ext>
            </a:extLst>
          </p:cNvPr>
          <p:cNvSpPr txBox="1"/>
          <p:nvPr/>
        </p:nvSpPr>
        <p:spPr>
          <a:xfrm>
            <a:off x="5676900" y="2857500"/>
            <a:ext cx="838200" cy="276999"/>
          </a:xfrm>
          <a:prstGeom prst="rect">
            <a:avLst/>
          </a:prstGeom>
          <a:noFill/>
        </p:spPr>
        <p:txBody>
          <a:bodyPr vert="horz" wrap="square" lIns="0" tIns="0" rIns="0" bIns="0" rtlCol="0" anchor="t">
            <a:noAutofit/>
          </a:bodyPr>
          <a:lstStyle/>
          <a:p>
            <a:pPr algn="ctr"/>
            <a:r>
              <a:rPr kumimoji="1" lang="ja-JP" altLang="en-US" sz="3000" b="1">
                <a:solidFill>
                  <a:srgbClr val="C0392B"/>
                </a:solidFill>
                <a:latin typeface="Yu Gothic" panose="020B0400000000000000" pitchFamily="50" charset="-128"/>
                <a:ea typeface="Yu Gothic" panose="020B0400000000000000" pitchFamily="50" charset="-128"/>
              </a:rPr>
              <a:t>≠</a:t>
            </a:r>
          </a:p>
        </p:txBody>
      </p:sp>
      <p:sp>
        <p:nvSpPr>
          <p:cNvPr id="10" name="四角形: 角を丸くする 9">
            <a:extLst>
              <a:ext uri="{FF2B5EF4-FFF2-40B4-BE49-F238E27FC236}">
                <a16:creationId xmlns:a16="http://schemas.microsoft.com/office/drawing/2014/main" id="{EFBF9508-5106-648C-382A-FE1074A9772D}"/>
              </a:ext>
            </a:extLst>
          </p:cNvPr>
          <p:cNvSpPr/>
          <p:nvPr/>
        </p:nvSpPr>
        <p:spPr>
          <a:xfrm>
            <a:off x="6921500" y="1651000"/>
            <a:ext cx="4318000" cy="3175000"/>
          </a:xfrm>
          <a:prstGeom prst="roundRect">
            <a:avLst/>
          </a:prstGeom>
          <a:solidFill>
            <a:srgbClr val="EFF5FA"/>
          </a:solidFill>
          <a:ln w="12700">
            <a:solidFill>
              <a:srgbClr val="2F66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3169EBA-8BEA-758D-36EF-8F0DD43804F4}"/>
              </a:ext>
            </a:extLst>
          </p:cNvPr>
          <p:cNvSpPr txBox="1"/>
          <p:nvPr/>
        </p:nvSpPr>
        <p:spPr>
          <a:xfrm>
            <a:off x="7239000" y="1968500"/>
            <a:ext cx="3683000" cy="276999"/>
          </a:xfrm>
          <a:prstGeom prst="rect">
            <a:avLst/>
          </a:prstGeom>
          <a:noFill/>
        </p:spPr>
        <p:txBody>
          <a:bodyPr vert="horz" wrap="square" lIns="0" tIns="0" rIns="0" bIns="0" rtlCol="0" anchor="t">
            <a:noAutofit/>
          </a:bodyPr>
          <a:lstStyle/>
          <a:p>
            <a:pPr algn="ctr"/>
            <a:r>
              <a:rPr kumimoji="1" lang="ja-JP" altLang="en-US" b="1">
                <a:solidFill>
                  <a:srgbClr val="2F6690"/>
                </a:solidFill>
                <a:latin typeface="Yu Gothic" panose="020B0400000000000000" pitchFamily="50" charset="-128"/>
                <a:ea typeface="Yu Gothic" panose="020B0400000000000000" pitchFamily="50" charset="-128"/>
              </a:rPr>
              <a:t>本研究の最終評価</a:t>
            </a:r>
          </a:p>
        </p:txBody>
      </p:sp>
      <p:sp>
        <p:nvSpPr>
          <p:cNvPr id="12" name="テキスト ボックス 11">
            <a:extLst>
              <a:ext uri="{FF2B5EF4-FFF2-40B4-BE49-F238E27FC236}">
                <a16:creationId xmlns:a16="http://schemas.microsoft.com/office/drawing/2014/main" id="{3D7AADFA-8C1B-4836-126B-2B265C1105CF}"/>
              </a:ext>
            </a:extLst>
          </p:cNvPr>
          <p:cNvSpPr txBox="1"/>
          <p:nvPr/>
        </p:nvSpPr>
        <p:spPr>
          <a:xfrm>
            <a:off x="7239000" y="2692400"/>
            <a:ext cx="3683000" cy="276999"/>
          </a:xfrm>
          <a:prstGeom prst="rect">
            <a:avLst/>
          </a:prstGeom>
          <a:noFill/>
        </p:spPr>
        <p:txBody>
          <a:bodyPr vert="horz" wrap="square" lIns="0" tIns="0" rIns="0" bIns="0" rtlCol="0" anchor="t">
            <a:noAutofit/>
          </a:bodyPr>
          <a:lstStyle/>
          <a:p>
            <a:pPr algn="ctr"/>
            <a:r>
              <a:rPr kumimoji="1" lang="en-US" altLang="ja-JP" sz="2800" b="1">
                <a:solidFill>
                  <a:srgbClr val="1F3C59"/>
                </a:solidFill>
                <a:latin typeface="Yu Gothic" panose="020B0400000000000000" pitchFamily="50" charset="-128"/>
                <a:ea typeface="Yu Gothic" panose="020B0400000000000000" pitchFamily="50" charset="-128"/>
              </a:rPr>
              <a:t>Accuracy 0.6352</a:t>
            </a:r>
            <a:endParaRPr kumimoji="1" lang="ja-JP" altLang="en-US" sz="2800" b="1">
              <a:solidFill>
                <a:srgbClr val="1F3C59"/>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08605923-B012-E706-6EC7-1FA3210754A8}"/>
              </a:ext>
            </a:extLst>
          </p:cNvPr>
          <p:cNvSpPr txBox="1"/>
          <p:nvPr/>
        </p:nvSpPr>
        <p:spPr>
          <a:xfrm>
            <a:off x="7239000" y="3619500"/>
            <a:ext cx="3683000" cy="276999"/>
          </a:xfrm>
          <a:prstGeom prst="rect">
            <a:avLst/>
          </a:prstGeom>
          <a:noFill/>
        </p:spPr>
        <p:txBody>
          <a:bodyPr vert="horz" wrap="square" lIns="0" tIns="0" rIns="0" bIns="0" rtlCol="0" anchor="t">
            <a:noAutofit/>
          </a:bodyPr>
          <a:lstStyle/>
          <a:p>
            <a:pPr algn="ctr"/>
            <a:r>
              <a:rPr kumimoji="1" lang="ja-JP" altLang="en-US" sz="1600">
                <a:solidFill>
                  <a:srgbClr val="242424"/>
                </a:solidFill>
                <a:latin typeface="Yu Gothic" panose="020B0400000000000000" pitchFamily="50" charset="-128"/>
                <a:ea typeface="Yu Gothic" panose="020B0400000000000000" pitchFamily="50" charset="-128"/>
              </a:rPr>
              <a:t>患者単位</a:t>
            </a:r>
            <a:r>
              <a:rPr kumimoji="1" lang="en-US" altLang="ja-JP" sz="1600">
                <a:solidFill>
                  <a:srgbClr val="242424"/>
                </a:solidFill>
                <a:latin typeface="Yu Gothic" panose="020B0400000000000000" pitchFamily="50" charset="-128"/>
                <a:ea typeface="Yu Gothic" panose="020B0400000000000000" pitchFamily="50" charset="-128"/>
              </a:rPr>
              <a:t>5-fold OOF
3</a:t>
            </a:r>
            <a:r>
              <a:rPr kumimoji="1" lang="ja-JP" altLang="en-US" sz="1600">
                <a:solidFill>
                  <a:srgbClr val="242424"/>
                </a:solidFill>
                <a:latin typeface="Yu Gothic" panose="020B0400000000000000" pitchFamily="50" charset="-128"/>
                <a:ea typeface="Yu Gothic" panose="020B0400000000000000" pitchFamily="50" charset="-128"/>
              </a:rPr>
              <a:t>クラス
全アキシャル</a:t>
            </a:r>
          </a:p>
        </p:txBody>
      </p:sp>
      <p:sp>
        <p:nvSpPr>
          <p:cNvPr id="14" name="テキスト ボックス 13">
            <a:extLst>
              <a:ext uri="{FF2B5EF4-FFF2-40B4-BE49-F238E27FC236}">
                <a16:creationId xmlns:a16="http://schemas.microsoft.com/office/drawing/2014/main" id="{338C4745-B698-40CB-F283-6C0DB9AF9948}"/>
              </a:ext>
            </a:extLst>
          </p:cNvPr>
          <p:cNvSpPr txBox="1"/>
          <p:nvPr/>
        </p:nvSpPr>
        <p:spPr>
          <a:xfrm>
            <a:off x="1460500" y="5397500"/>
            <a:ext cx="9271000" cy="276999"/>
          </a:xfrm>
          <a:prstGeom prst="rect">
            <a:avLst/>
          </a:prstGeom>
          <a:noFill/>
        </p:spPr>
        <p:txBody>
          <a:bodyPr vert="horz" wrap="square" lIns="0" tIns="0" rIns="0" bIns="0" rtlCol="0" anchor="t">
            <a:noAutofit/>
          </a:bodyPr>
          <a:lstStyle/>
          <a:p>
            <a:pPr algn="ctr"/>
            <a:r>
              <a:rPr kumimoji="1" lang="ja-JP" altLang="en-US" sz="1700" b="1">
                <a:solidFill>
                  <a:srgbClr val="C0392B"/>
                </a:solidFill>
                <a:latin typeface="Yu Gothic" panose="020B0400000000000000" pitchFamily="50" charset="-128"/>
                <a:ea typeface="Yu Gothic" panose="020B0400000000000000" pitchFamily="50" charset="-128"/>
              </a:rPr>
              <a:t>評価単位・クラス定義・断面範囲が異なるため、性能低下とは断定できない</a:t>
            </a:r>
          </a:p>
        </p:txBody>
      </p:sp>
      <p:sp>
        <p:nvSpPr>
          <p:cNvPr id="15" name="テキスト ボックス 14">
            <a:extLst>
              <a:ext uri="{FF2B5EF4-FFF2-40B4-BE49-F238E27FC236}">
                <a16:creationId xmlns:a16="http://schemas.microsoft.com/office/drawing/2014/main" id="{3B4691CE-A09C-75BE-F896-4F03CC69CB61}"/>
              </a:ext>
            </a:extLst>
          </p:cNvPr>
          <p:cNvSpPr txBox="1"/>
          <p:nvPr/>
        </p:nvSpPr>
        <p:spPr>
          <a:xfrm>
            <a:off x="10223500" y="6400800"/>
            <a:ext cx="1016000" cy="276999"/>
          </a:xfrm>
          <a:prstGeom prst="rect">
            <a:avLst/>
          </a:prstGeom>
          <a:noFill/>
        </p:spPr>
        <p:txBody>
          <a:bodyPr vert="horz" wrap="square" lIns="0" tIns="0" rIns="0" bIns="0" rtlCol="0" anchor="t">
            <a:noAutofit/>
          </a:bodyPr>
          <a:lstStyle/>
          <a:p>
            <a:pPr algn="r"/>
            <a:r>
              <a:rPr kumimoji="1" lang="ja-JP" altLang="en-US" sz="800">
                <a:solidFill>
                  <a:srgbClr val="666666"/>
                </a:solidFill>
                <a:latin typeface="Yu Gothic" panose="020B0400000000000000" pitchFamily="50" charset="-128"/>
                <a:ea typeface="Yu Gothic" panose="020B0400000000000000" pitchFamily="50" charset="-128"/>
              </a:rPr>
              <a:t>参考</a:t>
            </a:r>
          </a:p>
        </p:txBody>
      </p:sp>
      <p:sp>
        <p:nvSpPr>
          <p:cNvPr id="16" name="テキスト ボックス 15">
            <a:extLst>
              <a:ext uri="{FF2B5EF4-FFF2-40B4-BE49-F238E27FC236}">
                <a16:creationId xmlns:a16="http://schemas.microsoft.com/office/drawing/2014/main" id="{9B95C3D6-BE09-2556-557A-4A14F68999B3}"/>
              </a:ext>
            </a:extLst>
          </p:cNvPr>
          <p:cNvSpPr txBox="1"/>
          <p:nvPr/>
        </p:nvSpPr>
        <p:spPr>
          <a:xfrm>
            <a:off x="11366500" y="6375400"/>
            <a:ext cx="254000" cy="276999"/>
          </a:xfrm>
          <a:prstGeom prst="rect">
            <a:avLst/>
          </a:prstGeom>
          <a:noFill/>
        </p:spPr>
        <p:txBody>
          <a:bodyPr vert="horz" wrap="square" lIns="0" tIns="0" rIns="0" bIns="0" rtlCol="0" anchor="t">
            <a:noAutofit/>
          </a:bodyPr>
          <a:lstStyle/>
          <a:p>
            <a:pPr algn="r"/>
            <a:r>
              <a:rPr kumimoji="1" lang="en-US" altLang="ja-JP" sz="900" b="1">
                <a:solidFill>
                  <a:srgbClr val="1F3C59"/>
                </a:solidFill>
                <a:latin typeface="Yu Gothic" panose="020B0400000000000000" pitchFamily="50" charset="-128"/>
                <a:ea typeface="Yu Gothic" panose="020B0400000000000000" pitchFamily="50" charset="-128"/>
              </a:rPr>
              <a:t>15</a:t>
            </a:r>
            <a:endParaRPr kumimoji="1" lang="ja-JP" altLang="en-US" sz="900" b="1">
              <a:solidFill>
                <a:srgbClr val="1F3C59"/>
              </a:solidFill>
              <a:latin typeface="Yu Gothic" panose="020B0400000000000000" pitchFamily="50" charset="-128"/>
              <a:ea typeface="Yu Gothic" panose="020B0400000000000000" pitchFamily="50" charset="-128"/>
            </a:endParaRPr>
          </a:p>
        </p:txBody>
      </p:sp>
    </p:spTree>
    <p:extLst>
      <p:ext uri="{BB962C8B-B14F-4D97-AF65-F5344CB8AC3E}">
        <p14:creationId xmlns:p14="http://schemas.microsoft.com/office/powerpoint/2010/main" val="4307425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2131</Words>
  <Application>Microsoft Office PowerPoint</Application>
  <PresentationFormat>ユーザー設定</PresentationFormat>
  <Paragraphs>254</Paragraphs>
  <Slides>15</Slides>
  <Notes>12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Yu Gothic</vt:lpstr>
      <vt:lpstr>Yu Gothic</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一夫 石井</dc:creator>
  <cp:lastModifiedBy>一夫 石井</cp:lastModifiedBy>
  <cp:revision>1</cp:revision>
  <dcterms:created xsi:type="dcterms:W3CDTF">2026-08-10T01:33:12Z</dcterms:created>
  <dcterms:modified xsi:type="dcterms:W3CDTF">2026-08-10T01:33:12Z</dcterms:modified>
</cp:coreProperties>
</file>