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446" autoAdjust="0"/>
  </p:normalViewPr>
  <p:slideViewPr>
    <p:cSldViewPr snapToGrid="0" snapToObjects="1">
      <p:cViewPr varScale="1">
        <p:scale>
          <a:sx n="39" d="100"/>
          <a:sy n="39" d="100"/>
        </p:scale>
        <p:origin x="60" y="6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56976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これから</a:t>
            </a:r>
            <a:r>
              <a:rPr lang="en-US" dirty="0"/>
              <a:t>「Vision </a:t>
            </a:r>
            <a:r>
              <a:rPr lang="en-US" dirty="0" err="1"/>
              <a:t>Transformerを用いた大脳白質病変のグレード予測」について発表します</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研究背景について説明します。大脳白質病変は脳に起こる虚血性の変化であり，高血圧が主なリスク因子とされています。また，脳卒中のリスク因子でもあるため，早期に把握し，血圧管理などにより進行を抑えることが重要です。先行研究ではCNNを用いたグレード予測が行われていますが，CNNは局所的な特徴抽出に強い一方で，画像全体の関係性を扱う点には課題があり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本研究の目的は，全</a:t>
            </a:r>
            <a:r>
              <a:rPr lang="ja-JP" altLang="en-US" dirty="0"/>
              <a:t>ての</a:t>
            </a:r>
            <a:r>
              <a:rPr lang="en-US" dirty="0"/>
              <a:t>アキシャル断面を利用して，ViTによる大脳白質病変のグレード分類性能を検討することです。ポイントは三つあります。一つ目は，一部断面に限定せず全断面を利用することです。二つ目は，Self-Attentionにより広域的な特徴を学習できるViTを適用することです。三つ目は，先行研究で用いられたCNNと比較し，ViTの有効性を評価することで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使用データについて説明します。先行研究と同じく，2016年4月1日から2017年10月31日までに，新武雄病院の脳ドックで頭部MRI検査と血液検査を受けた受診者を対象とします。最終対象は1,146名です。MRI画像はT1強調画像，T2強調画像，FLAIR画像を利用します。また，一人あたり約25枚の横断画像があり，本研究ではこのアキシャル断面の扱いが重要になります。分類タスクは，grade0からgrade4までの5クラス分類です。ただし，grade3やgrade4は症例数が少ないため，クラス不均衡への対応が課題になり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研究手法について説明します。まず，T1強調画像，T2強調画像，FLAIR画像を入力データとして用意し，リサイズや正規化などの前処理を行います。その後，一部のアキシャル断面だけでなく，全アキシャル断面を利用してViTに入力します。ViTでは，画像をパッチに分割し，Self-Attentionによってパッチ同士の関係を学習します。これにより，病変の局所的な特徴だけでなく，脳全体に広がる特徴も捉えられる可能性があると考えてい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比較と評価方針について説明します。先行研究では，FLAIR画像とT1強調画像を用い，axial 9から15の範囲でtest accuracy 0.9209が報告されています。本研究では，このCNNの結果を参考にしながら，ViTが有効かどうか，全断面利用が性能向上につながるかを確認します。評価指標としてはAccuracy，F1-score，ROC-AUCを用います。また，混同行列によりグレードごとの分類傾向を確認し，学習曲線から過学習やデータ不足の影響も確認し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後の展望です。まずは先行研究のCNN実験を再現し，比較基準を作成します。その後，ViTモデルを構築し，全アキシャル断面を用いた場合の学習条件を調整します。さらに，MRI画像だけでなく，検診データなどの表形式データを組み合わせたマルチモーダル解析へ発展させることも検討します。最終的には，MRI画像から大脳白質病変のグレードをより安定して予測する手法の構築を目指しま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参考文献はこちらになります。以上で発表を終わります。ご清聴ありがとうございました。</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endParaRPr kumimoji="1" lang="ja-JP" altLang="en-US" dirty="0"/>
          </a:p>
        </p:txBody>
      </p:sp>
    </p:spTree>
    <p:extLst>
      <p:ext uri="{BB962C8B-B14F-4D97-AF65-F5344CB8AC3E}">
        <p14:creationId xmlns:p14="http://schemas.microsoft.com/office/powerpoint/2010/main" val="3328042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 y="6428232"/>
            <a:ext cx="11018520" cy="0"/>
          </a:xfrm>
          <a:prstGeom prst="line">
            <a:avLst/>
          </a:prstGeom>
          <a:noFill/>
          <a:ln w="8890">
            <a:solidFill>
              <a:srgbClr val="D6DEE8"/>
            </a:solidFill>
            <a:prstDash val="solid"/>
          </a:ln>
        </p:spPr>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Yu Gothic"/>
                <a:ea typeface="Yu Gothic"/>
                <a:cs typeface="Yu Gothic"/>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Yu Gothic"/>
                <a:ea typeface="Yu Gothic"/>
                <a:cs typeface="Yu Gothic"/>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1F4E79"/>
          </a:solidFill>
          <a:ln w="12700">
            <a:solidFill>
              <a:srgbClr val="1F4E79"/>
            </a:solidFill>
            <a:prstDash val="solid"/>
          </a:ln>
        </p:spPr>
      </p:sp>
      <p:sp>
        <p:nvSpPr>
          <p:cNvPr id="3" name="Text 1"/>
          <p:cNvSpPr/>
          <p:nvPr/>
        </p:nvSpPr>
        <p:spPr>
          <a:xfrm>
            <a:off x="777240" y="1417320"/>
            <a:ext cx="9692640" cy="1234440"/>
          </a:xfrm>
          <a:prstGeom prst="rect">
            <a:avLst/>
          </a:prstGeom>
          <a:noFill/>
          <a:ln/>
        </p:spPr>
        <p:txBody>
          <a:bodyPr wrap="square" lIns="0" tIns="0" rIns="0" bIns="0" rtlCol="0" anchor="ctr">
            <a:normAutofit/>
          </a:bodyPr>
          <a:lstStyle/>
          <a:p>
            <a:pPr marL="0" indent="0">
              <a:buNone/>
            </a:pPr>
            <a:r>
              <a:rPr lang="en-US" sz="3600" b="1" dirty="0">
                <a:solidFill>
                  <a:srgbClr val="111827"/>
                </a:solidFill>
                <a:latin typeface="Yu Gothic" pitchFamily="34" charset="0"/>
                <a:ea typeface="Yu Gothic" pitchFamily="34" charset="-122"/>
                <a:cs typeface="Yu Gothic" pitchFamily="34" charset="-120"/>
              </a:rPr>
              <a:t>Vision Transformer(</a:t>
            </a:r>
            <a:r>
              <a:rPr lang="en-US" sz="3600" b="1" dirty="0" err="1">
                <a:solidFill>
                  <a:srgbClr val="111827"/>
                </a:solidFill>
                <a:latin typeface="Yu Gothic" pitchFamily="34" charset="0"/>
                <a:ea typeface="Yu Gothic" pitchFamily="34" charset="-122"/>
                <a:cs typeface="Yu Gothic" pitchFamily="34" charset="-120"/>
              </a:rPr>
              <a:t>ViT</a:t>
            </a:r>
            <a:r>
              <a:rPr lang="en-US" sz="3600" b="1" dirty="0">
                <a:solidFill>
                  <a:srgbClr val="111827"/>
                </a:solidFill>
                <a:latin typeface="Yu Gothic" pitchFamily="34" charset="0"/>
                <a:ea typeface="Yu Gothic" pitchFamily="34" charset="-122"/>
                <a:cs typeface="Yu Gothic" pitchFamily="34" charset="-120"/>
              </a:rPr>
              <a:t>)</a:t>
            </a:r>
            <a:r>
              <a:rPr lang="en-US" sz="3600" b="1" dirty="0" err="1">
                <a:solidFill>
                  <a:srgbClr val="111827"/>
                </a:solidFill>
                <a:latin typeface="Yu Gothic" pitchFamily="34" charset="0"/>
                <a:ea typeface="Yu Gothic" pitchFamily="34" charset="-122"/>
                <a:cs typeface="Yu Gothic" pitchFamily="34" charset="-120"/>
              </a:rPr>
              <a:t>を用いた</a:t>
            </a:r>
            <a:endParaRPr lang="en-US" sz="3600" dirty="0"/>
          </a:p>
          <a:p>
            <a:pPr marL="0" indent="0">
              <a:buNone/>
            </a:pPr>
            <a:r>
              <a:rPr lang="en-US" sz="3600" b="1" dirty="0">
                <a:solidFill>
                  <a:srgbClr val="111827"/>
                </a:solidFill>
                <a:latin typeface="Yu Gothic" pitchFamily="34" charset="0"/>
                <a:ea typeface="Yu Gothic" pitchFamily="34" charset="-122"/>
                <a:cs typeface="Yu Gothic" pitchFamily="34" charset="-120"/>
              </a:rPr>
              <a:t>大脳白質病変のグレード予測</a:t>
            </a:r>
            <a:endParaRPr lang="en-US" sz="3600" dirty="0"/>
          </a:p>
        </p:txBody>
      </p:sp>
      <p:sp>
        <p:nvSpPr>
          <p:cNvPr id="4" name="Shape 2"/>
          <p:cNvSpPr/>
          <p:nvPr/>
        </p:nvSpPr>
        <p:spPr>
          <a:xfrm>
            <a:off x="786384" y="2944368"/>
            <a:ext cx="3108960" cy="0"/>
          </a:xfrm>
          <a:prstGeom prst="line">
            <a:avLst/>
          </a:prstGeom>
          <a:noFill/>
          <a:ln w="38100">
            <a:solidFill>
              <a:srgbClr val="2F75B5"/>
            </a:solidFill>
            <a:prstDash val="solid"/>
          </a:ln>
        </p:spPr>
      </p:sp>
      <p:sp>
        <p:nvSpPr>
          <p:cNvPr id="5" name="Text 3"/>
          <p:cNvSpPr/>
          <p:nvPr/>
        </p:nvSpPr>
        <p:spPr>
          <a:xfrm>
            <a:off x="822960" y="3794760"/>
            <a:ext cx="6035040" cy="320040"/>
          </a:xfrm>
          <a:prstGeom prst="rect">
            <a:avLst/>
          </a:prstGeom>
          <a:noFill/>
          <a:ln/>
        </p:spPr>
        <p:txBody>
          <a:bodyPr wrap="square" lIns="0" tIns="0" rIns="0" bIns="0" rtlCol="0" anchor="ctr"/>
          <a:lstStyle/>
          <a:p>
            <a:pPr marL="0" indent="0">
              <a:buNone/>
            </a:pPr>
            <a:r>
              <a:rPr lang="en-US" sz="2400" dirty="0">
                <a:solidFill>
                  <a:srgbClr val="111827"/>
                </a:solidFill>
                <a:latin typeface="Yu Gothic" pitchFamily="34" charset="0"/>
                <a:ea typeface="Yu Gothic" pitchFamily="34" charset="-122"/>
                <a:cs typeface="Yu Gothic" pitchFamily="34" charset="-120"/>
              </a:rPr>
              <a:t>浅川 天夢  /  石井 一夫</a:t>
            </a:r>
            <a:endParaRPr lang="en-US" sz="2400" dirty="0"/>
          </a:p>
        </p:txBody>
      </p:sp>
      <p:sp>
        <p:nvSpPr>
          <p:cNvPr id="6" name="Text 4"/>
          <p:cNvSpPr/>
          <p:nvPr/>
        </p:nvSpPr>
        <p:spPr>
          <a:xfrm>
            <a:off x="822960" y="4187952"/>
            <a:ext cx="7498080" cy="320040"/>
          </a:xfrm>
          <a:prstGeom prst="rect">
            <a:avLst/>
          </a:prstGeom>
          <a:noFill/>
          <a:ln/>
        </p:spPr>
        <p:txBody>
          <a:bodyPr wrap="square" lIns="0" tIns="0" rIns="0" bIns="0" rtlCol="0" anchor="ctr"/>
          <a:lstStyle/>
          <a:p>
            <a:pPr marL="0" indent="0">
              <a:buNone/>
            </a:pPr>
            <a:r>
              <a:rPr lang="en-US" sz="2000" dirty="0">
                <a:solidFill>
                  <a:srgbClr val="4B5563"/>
                </a:solidFill>
                <a:latin typeface="Yu Gothic" pitchFamily="34" charset="0"/>
                <a:ea typeface="Yu Gothic" pitchFamily="34" charset="-122"/>
                <a:cs typeface="Yu Gothic" pitchFamily="34" charset="-120"/>
              </a:rPr>
              <a:t>公立諏訪東京理科大学 工学部 情報応用工学科</a:t>
            </a:r>
            <a:endParaRPr lang="en-US" sz="2000" dirty="0"/>
          </a:p>
        </p:txBody>
      </p:sp>
      <p:sp>
        <p:nvSpPr>
          <p:cNvPr id="8" name="Text 6"/>
          <p:cNvSpPr/>
          <p:nvPr/>
        </p:nvSpPr>
        <p:spPr>
          <a:xfrm>
            <a:off x="8430768" y="1371600"/>
            <a:ext cx="2660904" cy="301752"/>
          </a:xfrm>
          <a:prstGeom prst="rect">
            <a:avLst/>
          </a:prstGeom>
          <a:noFill/>
          <a:ln/>
        </p:spPr>
        <p:txBody>
          <a:bodyPr wrap="square" lIns="0" tIns="0" rIns="0" bIns="0" rtlCol="0" anchor="ctr"/>
          <a:lstStyle/>
          <a:p>
            <a:pPr marL="0" indent="0">
              <a:buNone/>
            </a:pPr>
            <a:endParaRPr lang="en-US" sz="1400" dirty="0"/>
          </a:p>
        </p:txBody>
      </p:sp>
      <p:sp>
        <p:nvSpPr>
          <p:cNvPr id="9" name="Text 7"/>
          <p:cNvSpPr/>
          <p:nvPr/>
        </p:nvSpPr>
        <p:spPr>
          <a:xfrm>
            <a:off x="8430768" y="1737360"/>
            <a:ext cx="2660904" cy="2304288"/>
          </a:xfrm>
          <a:prstGeom prst="rect">
            <a:avLst/>
          </a:prstGeom>
          <a:noFill/>
          <a:ln/>
        </p:spPr>
        <p:txBody>
          <a:bodyPr wrap="square" lIns="254" tIns="254" rIns="254" bIns="254" rtlCol="0" anchor="t">
            <a:normAutofit/>
          </a:bodyPr>
          <a:lstStyle/>
          <a:p>
            <a:pPr marL="0" indent="0">
              <a:buNone/>
            </a:pP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Yu Gothic"/>
                <a:ea typeface="Yu Gothic"/>
                <a:cs typeface="Yu Gothic"/>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20040"/>
            <a:ext cx="9875520" cy="411480"/>
          </a:xfrm>
          <a:prstGeom prst="rect">
            <a:avLst/>
          </a:prstGeom>
          <a:noFill/>
          <a:ln/>
        </p:spPr>
        <p:txBody>
          <a:bodyPr wrap="square" lIns="0" tIns="0" rIns="0" bIns="0" rtlCol="0" anchor="ctr"/>
          <a:lstStyle/>
          <a:p>
            <a:pPr marL="0" indent="0">
              <a:buNone/>
            </a:pPr>
            <a:r>
              <a:rPr lang="en-US" sz="2400" b="1" dirty="0">
                <a:solidFill>
                  <a:srgbClr val="111827"/>
                </a:solidFill>
                <a:latin typeface="Yu Gothic" pitchFamily="34" charset="0"/>
                <a:ea typeface="Yu Gothic" pitchFamily="34" charset="-122"/>
                <a:cs typeface="Yu Gothic" pitchFamily="34" charset="-120"/>
              </a:rPr>
              <a:t>研究背景</a:t>
            </a:r>
            <a:endParaRPr lang="en-US" sz="2400" dirty="0"/>
          </a:p>
        </p:txBody>
      </p:sp>
      <p:sp>
        <p:nvSpPr>
          <p:cNvPr id="3" name="Shape 1"/>
          <p:cNvSpPr/>
          <p:nvPr/>
        </p:nvSpPr>
        <p:spPr>
          <a:xfrm>
            <a:off x="594360" y="868680"/>
            <a:ext cx="11018520" cy="0"/>
          </a:xfrm>
          <a:prstGeom prst="line">
            <a:avLst/>
          </a:prstGeom>
          <a:noFill/>
          <a:ln w="25400">
            <a:solidFill>
              <a:srgbClr val="1F4E79"/>
            </a:solidFill>
            <a:prstDash val="solid"/>
          </a:ln>
        </p:spPr>
      </p:sp>
      <p:sp>
        <p:nvSpPr>
          <p:cNvPr id="4" name="Text 2"/>
          <p:cNvSpPr/>
          <p:nvPr/>
        </p:nvSpPr>
        <p:spPr>
          <a:xfrm>
            <a:off x="621792" y="941832"/>
            <a:ext cx="10332720" cy="274320"/>
          </a:xfrm>
          <a:prstGeom prst="rect">
            <a:avLst/>
          </a:prstGeom>
          <a:noFill/>
          <a:ln/>
        </p:spPr>
        <p:txBody>
          <a:bodyPr wrap="square" lIns="0" tIns="0" rIns="0" bIns="0" rtlCol="0" anchor="ctr"/>
          <a:lstStyle/>
          <a:p>
            <a:pPr marL="0" indent="0">
              <a:buNone/>
            </a:pPr>
            <a:endParaRPr lang="en-US" sz="2400" dirty="0"/>
          </a:p>
        </p:txBody>
      </p:sp>
      <p:sp>
        <p:nvSpPr>
          <p:cNvPr id="5" name="Shape 3"/>
          <p:cNvSpPr/>
          <p:nvPr/>
        </p:nvSpPr>
        <p:spPr>
          <a:xfrm>
            <a:off x="731520" y="1417320"/>
            <a:ext cx="5074920" cy="3566160"/>
          </a:xfrm>
          <a:prstGeom prst="roundRect">
            <a:avLst>
              <a:gd name="adj" fmla="val 2051"/>
            </a:avLst>
          </a:prstGeom>
          <a:solidFill>
            <a:srgbClr val="F7F9FC"/>
          </a:solidFill>
          <a:ln w="13970">
            <a:solidFill>
              <a:srgbClr val="D6DEE8"/>
            </a:solidFill>
            <a:prstDash val="solid"/>
          </a:ln>
        </p:spPr>
      </p:sp>
      <p:sp>
        <p:nvSpPr>
          <p:cNvPr id="6" name="Text 4"/>
          <p:cNvSpPr/>
          <p:nvPr/>
        </p:nvSpPr>
        <p:spPr>
          <a:xfrm>
            <a:off x="932688" y="1554480"/>
            <a:ext cx="4672584" cy="301752"/>
          </a:xfrm>
          <a:prstGeom prst="rect">
            <a:avLst/>
          </a:prstGeom>
          <a:noFill/>
          <a:ln/>
        </p:spPr>
        <p:txBody>
          <a:bodyPr wrap="square" lIns="0" tIns="0" rIns="0" bIns="0" rtlCol="0" anchor="ctr"/>
          <a:lstStyle/>
          <a:p>
            <a:pPr marL="0" indent="0">
              <a:buNone/>
            </a:pPr>
            <a:r>
              <a:rPr lang="en-US" sz="2400" b="1" dirty="0">
                <a:solidFill>
                  <a:srgbClr val="1F4E79"/>
                </a:solidFill>
                <a:latin typeface="Yu Gothic" pitchFamily="34" charset="0"/>
                <a:ea typeface="Yu Gothic" pitchFamily="34" charset="-122"/>
                <a:cs typeface="Yu Gothic" pitchFamily="34" charset="-120"/>
              </a:rPr>
              <a:t>大脳白質病変</a:t>
            </a:r>
            <a:endParaRPr lang="en-US" sz="2400" dirty="0"/>
          </a:p>
        </p:txBody>
      </p:sp>
      <p:sp>
        <p:nvSpPr>
          <p:cNvPr id="7" name="Text 5"/>
          <p:cNvSpPr/>
          <p:nvPr/>
        </p:nvSpPr>
        <p:spPr>
          <a:xfrm>
            <a:off x="932688" y="1920240"/>
            <a:ext cx="4672584" cy="2944368"/>
          </a:xfrm>
          <a:prstGeom prst="rect">
            <a:avLst/>
          </a:prstGeom>
          <a:noFill/>
          <a:ln/>
        </p:spPr>
        <p:txBody>
          <a:bodyPr wrap="square" lIns="254" tIns="254" rIns="254" bIns="254" rtlCol="0" anchor="t">
            <a:normAutofit/>
          </a:bodyPr>
          <a:lstStyle/>
          <a:p>
            <a:pPr marL="0" indent="0">
              <a:buNone/>
            </a:pPr>
            <a:r>
              <a:rPr lang="en-US" sz="2400" dirty="0">
                <a:solidFill>
                  <a:srgbClr val="111827"/>
                </a:solidFill>
                <a:latin typeface="Yu Gothic" pitchFamily="34" charset="0"/>
                <a:ea typeface="Yu Gothic" pitchFamily="34" charset="-122"/>
                <a:cs typeface="Yu Gothic" pitchFamily="34" charset="-120"/>
              </a:rPr>
              <a:t>・脳に起こる虚血性の変化</a:t>
            </a:r>
            <a:endParaRPr lang="en-US" sz="2400" dirty="0"/>
          </a:p>
          <a:p>
            <a:pPr marL="0" indent="0">
              <a:buNone/>
            </a:pPr>
            <a:r>
              <a:rPr lang="en-US" sz="2400" dirty="0">
                <a:solidFill>
                  <a:srgbClr val="111827"/>
                </a:solidFill>
                <a:latin typeface="Yu Gothic" pitchFamily="34" charset="0"/>
                <a:ea typeface="Yu Gothic" pitchFamily="34" charset="-122"/>
                <a:cs typeface="Yu Gothic" pitchFamily="34" charset="-120"/>
              </a:rPr>
              <a:t>・高血圧が主なリスク因子</a:t>
            </a:r>
            <a:endParaRPr lang="en-US" sz="2400" dirty="0"/>
          </a:p>
          <a:p>
            <a:pPr marL="0" indent="0">
              <a:buNone/>
            </a:pPr>
            <a:r>
              <a:rPr lang="en-US" sz="2400" dirty="0">
                <a:solidFill>
                  <a:srgbClr val="111827"/>
                </a:solidFill>
                <a:latin typeface="Yu Gothic" pitchFamily="34" charset="0"/>
                <a:ea typeface="Yu Gothic" pitchFamily="34" charset="-122"/>
                <a:cs typeface="Yu Gothic" pitchFamily="34" charset="-120"/>
              </a:rPr>
              <a:t>・脳卒中リスクとの関連</a:t>
            </a:r>
            <a:endParaRPr lang="en-US" sz="2400" dirty="0"/>
          </a:p>
          <a:p>
            <a:pPr marL="0" indent="0">
              <a:buNone/>
            </a:pPr>
            <a:r>
              <a:rPr lang="en-US" sz="2400" dirty="0">
                <a:solidFill>
                  <a:srgbClr val="111827"/>
                </a:solidFill>
                <a:latin typeface="Yu Gothic" pitchFamily="34" charset="0"/>
                <a:ea typeface="Yu Gothic" pitchFamily="34" charset="-122"/>
                <a:cs typeface="Yu Gothic" pitchFamily="34" charset="-120"/>
              </a:rPr>
              <a:t>・進行抑制には早期把握が重要</a:t>
            </a:r>
            <a:endParaRPr lang="en-US" sz="2400" dirty="0"/>
          </a:p>
        </p:txBody>
      </p:sp>
      <p:sp>
        <p:nvSpPr>
          <p:cNvPr id="8" name="Shape 6"/>
          <p:cNvSpPr/>
          <p:nvPr/>
        </p:nvSpPr>
        <p:spPr>
          <a:xfrm>
            <a:off x="6080759" y="1435609"/>
            <a:ext cx="5074920" cy="3566160"/>
          </a:xfrm>
          <a:prstGeom prst="roundRect">
            <a:avLst>
              <a:gd name="adj" fmla="val 2051"/>
            </a:avLst>
          </a:prstGeom>
          <a:solidFill>
            <a:srgbClr val="F7F9FC"/>
          </a:solidFill>
          <a:ln w="13970">
            <a:solidFill>
              <a:srgbClr val="D6DEE8"/>
            </a:solidFill>
            <a:prstDash val="solid"/>
          </a:ln>
        </p:spPr>
      </p:sp>
      <p:sp>
        <p:nvSpPr>
          <p:cNvPr id="9" name="Text 7"/>
          <p:cNvSpPr/>
          <p:nvPr/>
        </p:nvSpPr>
        <p:spPr>
          <a:xfrm>
            <a:off x="6556248" y="1554480"/>
            <a:ext cx="4672584" cy="301752"/>
          </a:xfrm>
          <a:prstGeom prst="rect">
            <a:avLst/>
          </a:prstGeom>
          <a:noFill/>
          <a:ln/>
        </p:spPr>
        <p:txBody>
          <a:bodyPr wrap="square" lIns="0" tIns="0" rIns="0" bIns="0" rtlCol="0" anchor="ctr"/>
          <a:lstStyle/>
          <a:p>
            <a:pPr marL="0" indent="0">
              <a:buNone/>
            </a:pPr>
            <a:r>
              <a:rPr lang="en-US" sz="2400" b="1" dirty="0">
                <a:solidFill>
                  <a:srgbClr val="1F4E79"/>
                </a:solidFill>
                <a:latin typeface="Yu Gothic" pitchFamily="34" charset="0"/>
                <a:ea typeface="Yu Gothic" pitchFamily="34" charset="-122"/>
                <a:cs typeface="Yu Gothic" pitchFamily="34" charset="-120"/>
              </a:rPr>
              <a:t>従来の画像解析</a:t>
            </a:r>
            <a:endParaRPr lang="en-US" sz="2400" dirty="0"/>
          </a:p>
        </p:txBody>
      </p:sp>
      <p:sp>
        <p:nvSpPr>
          <p:cNvPr id="10" name="Text 8"/>
          <p:cNvSpPr/>
          <p:nvPr/>
        </p:nvSpPr>
        <p:spPr>
          <a:xfrm>
            <a:off x="6199196" y="1920240"/>
            <a:ext cx="4672584" cy="2944368"/>
          </a:xfrm>
          <a:prstGeom prst="rect">
            <a:avLst/>
          </a:prstGeom>
          <a:noFill/>
          <a:ln/>
        </p:spPr>
        <p:txBody>
          <a:bodyPr wrap="square" lIns="254" tIns="254" rIns="254" bIns="254" rtlCol="0" anchor="t">
            <a:normAutofit/>
          </a:bodyPr>
          <a:lstStyle/>
          <a:p>
            <a:pPr marL="0" indent="0">
              <a:buNone/>
            </a:pPr>
            <a:r>
              <a:rPr lang="en-US" sz="2000" dirty="0">
                <a:solidFill>
                  <a:srgbClr val="111827"/>
                </a:solidFill>
                <a:latin typeface="Yu Gothic" pitchFamily="34" charset="0"/>
                <a:ea typeface="Yu Gothic" pitchFamily="34" charset="-122"/>
                <a:cs typeface="Yu Gothic" pitchFamily="34" charset="-120"/>
              </a:rPr>
              <a:t>・CNNは局所的特徴抽出に強い</a:t>
            </a:r>
            <a:endParaRPr lang="en-US" sz="2000" dirty="0"/>
          </a:p>
          <a:p>
            <a:pPr marL="0" indent="0">
              <a:buNone/>
            </a:pPr>
            <a:r>
              <a:rPr lang="en-US" sz="2000" dirty="0">
                <a:solidFill>
                  <a:srgbClr val="111827"/>
                </a:solidFill>
                <a:latin typeface="Yu Gothic" pitchFamily="34" charset="0"/>
                <a:ea typeface="Yu Gothic" pitchFamily="34" charset="-122"/>
                <a:cs typeface="Yu Gothic" pitchFamily="34" charset="-120"/>
              </a:rPr>
              <a:t>・先行研究では一部アキシャル断面を利用</a:t>
            </a:r>
            <a:endParaRPr lang="en-US" sz="2000" dirty="0"/>
          </a:p>
          <a:p>
            <a:pPr marL="0" indent="0">
              <a:buNone/>
            </a:pPr>
            <a:r>
              <a:rPr lang="en-US" sz="2000" dirty="0">
                <a:solidFill>
                  <a:srgbClr val="111827"/>
                </a:solidFill>
                <a:latin typeface="Yu Gothic" pitchFamily="34" charset="0"/>
                <a:ea typeface="Yu Gothic" pitchFamily="34" charset="-122"/>
                <a:cs typeface="Yu Gothic" pitchFamily="34" charset="-120"/>
              </a:rPr>
              <a:t>・全体的な病変分布や断面選択依存性が課題</a:t>
            </a:r>
            <a:endParaRPr lang="en-US" sz="2000" dirty="0"/>
          </a:p>
        </p:txBody>
      </p:sp>
      <p:sp>
        <p:nvSpPr>
          <p:cNvPr id="11" name="Shape 9"/>
          <p:cNvSpPr/>
          <p:nvPr/>
        </p:nvSpPr>
        <p:spPr>
          <a:xfrm>
            <a:off x="6080760" y="1417320"/>
            <a:ext cx="0" cy="3566160"/>
          </a:xfrm>
          <a:prstGeom prst="line">
            <a:avLst/>
          </a:prstGeom>
          <a:noFill/>
          <a:ln w="12700">
            <a:solidFill>
              <a:srgbClr val="D6DEE8"/>
            </a:solidFill>
            <a:prstDash val="solid"/>
          </a:ln>
        </p:spPr>
      </p:sp>
      <p:sp>
        <p:nvSpPr>
          <p:cNvPr id="12" name="Text 10"/>
          <p:cNvSpPr/>
          <p:nvPr/>
        </p:nvSpPr>
        <p:spPr>
          <a:xfrm>
            <a:off x="594360" y="6190488"/>
            <a:ext cx="9692640" cy="201168"/>
          </a:xfrm>
          <a:prstGeom prst="rect">
            <a:avLst/>
          </a:prstGeom>
          <a:noFill/>
          <a:ln/>
        </p:spPr>
        <p:txBody>
          <a:bodyPr wrap="square" lIns="0" tIns="0" rIns="0" bIns="0" rtlCol="0" anchor="ctr"/>
          <a:lstStyle/>
          <a:p>
            <a:pPr marL="0" indent="0">
              <a:buNone/>
            </a:pPr>
            <a:r>
              <a:rPr lang="en-US" dirty="0">
                <a:latin typeface="Yu Gothic" pitchFamily="34" charset="0"/>
                <a:ea typeface="Yu Gothic" pitchFamily="34" charset="-122"/>
                <a:cs typeface="Yu Gothic" pitchFamily="34" charset="-120"/>
              </a:rPr>
              <a:t>先行研究では，大脳白質病変が高血圧や脳卒中リスクと関連する背景が示されている。</a:t>
            </a:r>
            <a:endParaRPr lang="en-US"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Yu Gothic"/>
                <a:ea typeface="Yu Gothic"/>
                <a:cs typeface="Yu Gothic"/>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20040"/>
            <a:ext cx="9875520" cy="411480"/>
          </a:xfrm>
          <a:prstGeom prst="rect">
            <a:avLst/>
          </a:prstGeom>
          <a:noFill/>
          <a:ln/>
        </p:spPr>
        <p:txBody>
          <a:bodyPr wrap="square" lIns="0" tIns="0" rIns="0" bIns="0" rtlCol="0" anchor="ctr"/>
          <a:lstStyle/>
          <a:p>
            <a:pPr marL="0" indent="0">
              <a:buNone/>
            </a:pPr>
            <a:r>
              <a:rPr lang="en-US" sz="2400" b="1" dirty="0">
                <a:solidFill>
                  <a:srgbClr val="111827"/>
                </a:solidFill>
                <a:latin typeface="Yu Gothic" pitchFamily="34" charset="0"/>
                <a:ea typeface="Yu Gothic" pitchFamily="34" charset="-122"/>
                <a:cs typeface="Yu Gothic" pitchFamily="34" charset="-120"/>
              </a:rPr>
              <a:t>研究目的</a:t>
            </a:r>
            <a:endParaRPr lang="en-US" sz="2400" dirty="0"/>
          </a:p>
        </p:txBody>
      </p:sp>
      <p:sp>
        <p:nvSpPr>
          <p:cNvPr id="3" name="Shape 1"/>
          <p:cNvSpPr/>
          <p:nvPr/>
        </p:nvSpPr>
        <p:spPr>
          <a:xfrm>
            <a:off x="594360" y="868680"/>
            <a:ext cx="11018520" cy="0"/>
          </a:xfrm>
          <a:prstGeom prst="line">
            <a:avLst/>
          </a:prstGeom>
          <a:noFill/>
          <a:ln w="25400">
            <a:solidFill>
              <a:srgbClr val="1F4E79"/>
            </a:solidFill>
            <a:prstDash val="solid"/>
          </a:ln>
        </p:spPr>
      </p:sp>
      <p:sp>
        <p:nvSpPr>
          <p:cNvPr id="4" name="Text 2"/>
          <p:cNvSpPr/>
          <p:nvPr/>
        </p:nvSpPr>
        <p:spPr>
          <a:xfrm>
            <a:off x="621792" y="941832"/>
            <a:ext cx="10332720" cy="274320"/>
          </a:xfrm>
          <a:prstGeom prst="rect">
            <a:avLst/>
          </a:prstGeom>
          <a:noFill/>
          <a:ln/>
        </p:spPr>
        <p:txBody>
          <a:bodyPr wrap="square" lIns="0" tIns="0" rIns="0" bIns="0" rtlCol="0" anchor="ctr"/>
          <a:lstStyle/>
          <a:p>
            <a:pPr marL="0" indent="0">
              <a:buNone/>
            </a:pPr>
            <a:endParaRPr lang="en-US" sz="1050" dirty="0"/>
          </a:p>
        </p:txBody>
      </p:sp>
      <p:sp>
        <p:nvSpPr>
          <p:cNvPr id="5" name="Text 3"/>
          <p:cNvSpPr/>
          <p:nvPr/>
        </p:nvSpPr>
        <p:spPr>
          <a:xfrm>
            <a:off x="822960" y="1417320"/>
            <a:ext cx="1097280" cy="320040"/>
          </a:xfrm>
          <a:prstGeom prst="rect">
            <a:avLst/>
          </a:prstGeom>
          <a:noFill/>
          <a:ln/>
        </p:spPr>
        <p:txBody>
          <a:bodyPr wrap="square" lIns="0" tIns="0" rIns="0" bIns="0" rtlCol="0" anchor="ctr"/>
          <a:lstStyle/>
          <a:p>
            <a:pPr marL="0" indent="0">
              <a:buNone/>
            </a:pPr>
            <a:endParaRPr lang="en-US" sz="1500" dirty="0"/>
          </a:p>
        </p:txBody>
      </p:sp>
      <p:sp>
        <p:nvSpPr>
          <p:cNvPr id="6" name="Text 4"/>
          <p:cNvSpPr/>
          <p:nvPr/>
        </p:nvSpPr>
        <p:spPr>
          <a:xfrm>
            <a:off x="822960" y="1828800"/>
            <a:ext cx="10332720" cy="914400"/>
          </a:xfrm>
          <a:prstGeom prst="rect">
            <a:avLst/>
          </a:prstGeom>
          <a:noFill/>
          <a:ln/>
        </p:spPr>
        <p:txBody>
          <a:bodyPr wrap="square" lIns="0" tIns="0" rIns="0" bIns="0" rtlCol="0" anchor="ctr">
            <a:normAutofit/>
          </a:bodyPr>
          <a:lstStyle/>
          <a:p>
            <a:pPr marL="0" indent="0">
              <a:buNone/>
            </a:pPr>
            <a:r>
              <a:rPr lang="en-US" sz="2500" b="1" dirty="0">
                <a:solidFill>
                  <a:srgbClr val="111827"/>
                </a:solidFill>
                <a:latin typeface="Yu Gothic" pitchFamily="34" charset="0"/>
                <a:ea typeface="Yu Gothic" pitchFamily="34" charset="-122"/>
                <a:cs typeface="Yu Gothic" pitchFamily="34" charset="-120"/>
              </a:rPr>
              <a:t>全アキシャル断面を利用し，ViTによる</a:t>
            </a:r>
            <a:endParaRPr lang="en-US" sz="2500" dirty="0"/>
          </a:p>
          <a:p>
            <a:pPr marL="0" indent="0">
              <a:buNone/>
            </a:pPr>
            <a:r>
              <a:rPr lang="en-US" sz="2500" b="1" dirty="0">
                <a:solidFill>
                  <a:srgbClr val="111827"/>
                </a:solidFill>
                <a:latin typeface="Yu Gothic" pitchFamily="34" charset="0"/>
                <a:ea typeface="Yu Gothic" pitchFamily="34" charset="-122"/>
                <a:cs typeface="Yu Gothic" pitchFamily="34" charset="-120"/>
              </a:rPr>
              <a:t>大脳白質病変のグレード分類性能を検討する</a:t>
            </a:r>
            <a:endParaRPr lang="en-US" sz="2500" dirty="0"/>
          </a:p>
        </p:txBody>
      </p:sp>
      <p:sp>
        <p:nvSpPr>
          <p:cNvPr id="7" name="Shape 5"/>
          <p:cNvSpPr/>
          <p:nvPr/>
        </p:nvSpPr>
        <p:spPr>
          <a:xfrm>
            <a:off x="822960" y="3063240"/>
            <a:ext cx="3337560" cy="1417320"/>
          </a:xfrm>
          <a:prstGeom prst="roundRect">
            <a:avLst>
              <a:gd name="adj" fmla="val 5161"/>
            </a:avLst>
          </a:prstGeom>
          <a:solidFill>
            <a:srgbClr val="F7F9FC"/>
          </a:solidFill>
          <a:ln w="13970">
            <a:solidFill>
              <a:srgbClr val="D6DEE8"/>
            </a:solidFill>
            <a:prstDash val="solid"/>
          </a:ln>
        </p:spPr>
      </p:sp>
      <p:sp>
        <p:nvSpPr>
          <p:cNvPr id="8" name="Text 6"/>
          <p:cNvSpPr/>
          <p:nvPr/>
        </p:nvSpPr>
        <p:spPr>
          <a:xfrm>
            <a:off x="1024128" y="3200400"/>
            <a:ext cx="2935224" cy="301752"/>
          </a:xfrm>
          <a:prstGeom prst="rect">
            <a:avLst/>
          </a:prstGeom>
          <a:noFill/>
          <a:ln/>
        </p:spPr>
        <p:txBody>
          <a:bodyPr wrap="square" lIns="0" tIns="0" rIns="0" bIns="0" rtlCol="0" anchor="ctr"/>
          <a:lstStyle/>
          <a:p>
            <a:pPr marL="0" indent="0">
              <a:buNone/>
            </a:pPr>
            <a:r>
              <a:rPr lang="en-US" sz="1500" b="1" dirty="0">
                <a:solidFill>
                  <a:srgbClr val="1F4E79"/>
                </a:solidFill>
                <a:latin typeface="Yu Gothic" pitchFamily="34" charset="0"/>
                <a:ea typeface="Yu Gothic" pitchFamily="34" charset="-122"/>
                <a:cs typeface="Yu Gothic" pitchFamily="34" charset="-120"/>
              </a:rPr>
              <a:t>1. 全断面利用</a:t>
            </a:r>
            <a:endParaRPr lang="en-US" sz="1500" dirty="0"/>
          </a:p>
        </p:txBody>
      </p:sp>
      <p:sp>
        <p:nvSpPr>
          <p:cNvPr id="9" name="Text 7"/>
          <p:cNvSpPr/>
          <p:nvPr/>
        </p:nvSpPr>
        <p:spPr>
          <a:xfrm>
            <a:off x="1024128" y="3566160"/>
            <a:ext cx="2935224" cy="795528"/>
          </a:xfrm>
          <a:prstGeom prst="rect">
            <a:avLst/>
          </a:prstGeom>
          <a:noFill/>
          <a:ln/>
        </p:spPr>
        <p:txBody>
          <a:bodyPr wrap="square" lIns="254" tIns="254" rIns="254" bIns="254" rtlCol="0" anchor="t">
            <a:normAutofit/>
          </a:bodyPr>
          <a:lstStyle/>
          <a:p>
            <a:pPr marL="0" indent="0">
              <a:buNone/>
            </a:pPr>
            <a:r>
              <a:rPr lang="en-US" sz="1400" dirty="0">
                <a:solidFill>
                  <a:srgbClr val="111827"/>
                </a:solidFill>
                <a:latin typeface="Yu Gothic" pitchFamily="34" charset="0"/>
                <a:ea typeface="Yu Gothic" pitchFamily="34" charset="-122"/>
                <a:cs typeface="Yu Gothic" pitchFamily="34" charset="-120"/>
              </a:rPr>
              <a:t>一部断面に限定せず，病変分布を広く扱う</a:t>
            </a:r>
            <a:endParaRPr lang="en-US" sz="1400" dirty="0"/>
          </a:p>
        </p:txBody>
      </p:sp>
      <p:sp>
        <p:nvSpPr>
          <p:cNvPr id="10" name="Shape 8"/>
          <p:cNvSpPr/>
          <p:nvPr/>
        </p:nvSpPr>
        <p:spPr>
          <a:xfrm>
            <a:off x="4434840" y="3063240"/>
            <a:ext cx="3337560" cy="1417320"/>
          </a:xfrm>
          <a:prstGeom prst="roundRect">
            <a:avLst>
              <a:gd name="adj" fmla="val 5161"/>
            </a:avLst>
          </a:prstGeom>
          <a:solidFill>
            <a:srgbClr val="F7F9FC"/>
          </a:solidFill>
          <a:ln w="13970">
            <a:solidFill>
              <a:srgbClr val="D6DEE8"/>
            </a:solidFill>
            <a:prstDash val="solid"/>
          </a:ln>
        </p:spPr>
      </p:sp>
      <p:sp>
        <p:nvSpPr>
          <p:cNvPr id="11" name="Text 9"/>
          <p:cNvSpPr/>
          <p:nvPr/>
        </p:nvSpPr>
        <p:spPr>
          <a:xfrm>
            <a:off x="4636008" y="3200400"/>
            <a:ext cx="2935224" cy="301752"/>
          </a:xfrm>
          <a:prstGeom prst="rect">
            <a:avLst/>
          </a:prstGeom>
          <a:noFill/>
          <a:ln/>
        </p:spPr>
        <p:txBody>
          <a:bodyPr wrap="square" lIns="0" tIns="0" rIns="0" bIns="0" rtlCol="0" anchor="ctr"/>
          <a:lstStyle/>
          <a:p>
            <a:pPr marL="0" indent="0">
              <a:buNone/>
            </a:pPr>
            <a:r>
              <a:rPr lang="en-US" sz="1500" b="1" dirty="0">
                <a:solidFill>
                  <a:srgbClr val="1F4E79"/>
                </a:solidFill>
                <a:latin typeface="Yu Gothic" pitchFamily="34" charset="0"/>
                <a:ea typeface="Yu Gothic" pitchFamily="34" charset="-122"/>
                <a:cs typeface="Yu Gothic" pitchFamily="34" charset="-120"/>
              </a:rPr>
              <a:t>2. ViTの適用</a:t>
            </a:r>
            <a:endParaRPr lang="en-US" sz="1500" dirty="0"/>
          </a:p>
        </p:txBody>
      </p:sp>
      <p:sp>
        <p:nvSpPr>
          <p:cNvPr id="12" name="Text 10"/>
          <p:cNvSpPr/>
          <p:nvPr/>
        </p:nvSpPr>
        <p:spPr>
          <a:xfrm>
            <a:off x="4636008" y="3566160"/>
            <a:ext cx="2935224" cy="795528"/>
          </a:xfrm>
          <a:prstGeom prst="rect">
            <a:avLst/>
          </a:prstGeom>
          <a:noFill/>
          <a:ln/>
        </p:spPr>
        <p:txBody>
          <a:bodyPr wrap="square" lIns="254" tIns="254" rIns="254" bIns="254" rtlCol="0" anchor="t">
            <a:normAutofit/>
          </a:bodyPr>
          <a:lstStyle/>
          <a:p>
            <a:pPr marL="0" indent="0">
              <a:buNone/>
            </a:pPr>
            <a:r>
              <a:rPr lang="ja-JP" altLang="en-US" sz="1400" dirty="0">
                <a:solidFill>
                  <a:srgbClr val="111827"/>
                </a:solidFill>
                <a:latin typeface="Yu Gothic" pitchFamily="34" charset="0"/>
                <a:ea typeface="Yu Gothic" pitchFamily="34" charset="-122"/>
              </a:rPr>
              <a:t>最もスタンダードなモデルである</a:t>
            </a:r>
            <a:r>
              <a:rPr lang="en-US" altLang="ja-JP" sz="1400" dirty="0">
                <a:solidFill>
                  <a:srgbClr val="111827"/>
                </a:solidFill>
                <a:latin typeface="Yu Gothic" pitchFamily="34" charset="0"/>
                <a:ea typeface="Yu Gothic" pitchFamily="34" charset="-122"/>
              </a:rPr>
              <a:t>VIT-B/16</a:t>
            </a:r>
            <a:r>
              <a:rPr lang="ja-JP" altLang="en-US" sz="1400" dirty="0">
                <a:solidFill>
                  <a:srgbClr val="111827"/>
                </a:solidFill>
                <a:latin typeface="Yu Gothic" pitchFamily="34" charset="0"/>
                <a:ea typeface="Yu Gothic" pitchFamily="34" charset="-122"/>
              </a:rPr>
              <a:t>を用いて、画像を分析する</a:t>
            </a:r>
            <a:endParaRPr lang="en-US" sz="1400" dirty="0"/>
          </a:p>
        </p:txBody>
      </p:sp>
      <p:sp>
        <p:nvSpPr>
          <p:cNvPr id="13" name="Shape 11"/>
          <p:cNvSpPr/>
          <p:nvPr/>
        </p:nvSpPr>
        <p:spPr>
          <a:xfrm>
            <a:off x="8046720" y="3063240"/>
            <a:ext cx="3337560" cy="1417320"/>
          </a:xfrm>
          <a:prstGeom prst="roundRect">
            <a:avLst>
              <a:gd name="adj" fmla="val 5161"/>
            </a:avLst>
          </a:prstGeom>
          <a:solidFill>
            <a:srgbClr val="F7F9FC"/>
          </a:solidFill>
          <a:ln w="13970">
            <a:solidFill>
              <a:srgbClr val="D6DEE8"/>
            </a:solidFill>
            <a:prstDash val="solid"/>
          </a:ln>
        </p:spPr>
      </p:sp>
      <p:sp>
        <p:nvSpPr>
          <p:cNvPr id="14" name="Text 12"/>
          <p:cNvSpPr/>
          <p:nvPr/>
        </p:nvSpPr>
        <p:spPr>
          <a:xfrm>
            <a:off x="8247888" y="3200400"/>
            <a:ext cx="2935224" cy="301752"/>
          </a:xfrm>
          <a:prstGeom prst="rect">
            <a:avLst/>
          </a:prstGeom>
          <a:noFill/>
          <a:ln/>
        </p:spPr>
        <p:txBody>
          <a:bodyPr wrap="square" lIns="0" tIns="0" rIns="0" bIns="0" rtlCol="0" anchor="ctr"/>
          <a:lstStyle/>
          <a:p>
            <a:pPr marL="0" indent="0">
              <a:buNone/>
            </a:pPr>
            <a:r>
              <a:rPr lang="en-US" sz="1500" b="1" dirty="0">
                <a:solidFill>
                  <a:srgbClr val="1F4E79"/>
                </a:solidFill>
                <a:latin typeface="Yu Gothic" pitchFamily="34" charset="0"/>
                <a:ea typeface="Yu Gothic" pitchFamily="34" charset="-122"/>
                <a:cs typeface="Yu Gothic" pitchFamily="34" charset="-120"/>
              </a:rPr>
              <a:t>3. CNNと比較</a:t>
            </a:r>
            <a:endParaRPr lang="en-US" sz="1500" dirty="0"/>
          </a:p>
        </p:txBody>
      </p:sp>
      <p:sp>
        <p:nvSpPr>
          <p:cNvPr id="15" name="Text 13"/>
          <p:cNvSpPr/>
          <p:nvPr/>
        </p:nvSpPr>
        <p:spPr>
          <a:xfrm>
            <a:off x="8247888" y="3566160"/>
            <a:ext cx="2935224" cy="795528"/>
          </a:xfrm>
          <a:prstGeom prst="rect">
            <a:avLst/>
          </a:prstGeom>
          <a:noFill/>
          <a:ln/>
        </p:spPr>
        <p:txBody>
          <a:bodyPr wrap="square" lIns="254" tIns="254" rIns="254" bIns="254" rtlCol="0" anchor="t">
            <a:normAutofit/>
          </a:bodyPr>
          <a:lstStyle/>
          <a:p>
            <a:pPr marL="0" indent="0">
              <a:buNone/>
            </a:pPr>
            <a:r>
              <a:rPr lang="en-US" sz="1400" dirty="0">
                <a:solidFill>
                  <a:srgbClr val="111827"/>
                </a:solidFill>
                <a:latin typeface="Yu Gothic" pitchFamily="34" charset="0"/>
                <a:ea typeface="Yu Gothic" pitchFamily="34" charset="-122"/>
                <a:cs typeface="Yu Gothic" pitchFamily="34" charset="-120"/>
              </a:rPr>
              <a:t>先行研究のCNNを基準に有効性を評価</a:t>
            </a: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Yu Gothic"/>
                <a:ea typeface="Yu Gothic"/>
                <a:cs typeface="Yu Gothic"/>
              </a:defRPr>
            </a:lvl1pPr>
          </a:lstStyle>
          <a:p>
            <a:pPr algn="l"/>
            <a:fld id="{F7021451-1387-4CA6-816F-3879F97B5CBC}" type="slidenum">
              <a:rPr lang="en-US" b="0"/>
              <a:t>3</a:t>
            </a:fld>
            <a:endParaRPr lang="en-US"/>
          </a:p>
        </p:txBody>
      </p:sp>
      <p:sp>
        <p:nvSpPr>
          <p:cNvPr id="16" name="Shape 32">
            <a:extLst>
              <a:ext uri="{FF2B5EF4-FFF2-40B4-BE49-F238E27FC236}">
                <a16:creationId xmlns:a16="http://schemas.microsoft.com/office/drawing/2014/main" id="{1C60CCE3-C16B-CC89-EE28-BD0E88FD7436}"/>
              </a:ext>
            </a:extLst>
          </p:cNvPr>
          <p:cNvSpPr/>
          <p:nvPr/>
        </p:nvSpPr>
        <p:spPr>
          <a:xfrm>
            <a:off x="952500" y="4717869"/>
            <a:ext cx="10287000" cy="1005840"/>
          </a:xfrm>
          <a:prstGeom prst="roundRect">
            <a:avLst>
              <a:gd name="adj" fmla="val 7273"/>
            </a:avLst>
          </a:prstGeom>
          <a:solidFill>
            <a:srgbClr val="F8FAFC"/>
          </a:solidFill>
          <a:ln w="13970">
            <a:solidFill>
              <a:srgbClr val="D6DEE8"/>
            </a:solidFill>
            <a:prstDash val="solid"/>
          </a:ln>
        </p:spPr>
        <p:txBody>
          <a:bodyPr/>
          <a:lstStyle/>
          <a:p>
            <a:r>
              <a:rPr lang="ja-JP" altLang="en-US" b="1" dirty="0">
                <a:solidFill>
                  <a:schemeClr val="accent1">
                    <a:lumMod val="75000"/>
                  </a:schemeClr>
                </a:solidFill>
              </a:rPr>
              <a:t>アキシャルとは</a:t>
            </a:r>
            <a:endParaRPr lang="en-US" altLang="ja-JP" b="1" dirty="0">
              <a:solidFill>
                <a:schemeClr val="accent1">
                  <a:lumMod val="75000"/>
                </a:schemeClr>
              </a:solidFill>
            </a:endParaRPr>
          </a:p>
          <a:p>
            <a:r>
              <a:rPr lang="en-US" altLang="ja-JP" dirty="0"/>
              <a:t>MRI</a:t>
            </a:r>
            <a:r>
              <a:rPr lang="ja-JP" altLang="en-US" dirty="0"/>
              <a:t>で撮影された横断面のスライス画像</a:t>
            </a:r>
            <a:r>
              <a:rPr lang="en-US" altLang="ja-JP" dirty="0"/>
              <a:t>1</a:t>
            </a:r>
            <a:r>
              <a:rPr lang="ja-JP" altLang="en-US" dirty="0"/>
              <a:t>枚を</a:t>
            </a:r>
            <a:r>
              <a:rPr lang="en-US" altLang="ja-JP" dirty="0"/>
              <a:t>1</a:t>
            </a:r>
            <a:r>
              <a:rPr lang="ja-JP" altLang="en-US" dirty="0"/>
              <a:t>アキシャルとして扱っている。</a:t>
            </a:r>
            <a:r>
              <a:rPr lang="en-US" altLang="ja-JP" dirty="0"/>
              <a:t>1</a:t>
            </a:r>
            <a:r>
              <a:rPr lang="ja-JP" altLang="en-US" dirty="0"/>
              <a:t>人の患者につき</a:t>
            </a:r>
            <a:r>
              <a:rPr lang="en-US" altLang="ja-JP" dirty="0"/>
              <a:t>25</a:t>
            </a:r>
            <a:r>
              <a:rPr lang="ja-JP" altLang="en-US" dirty="0"/>
              <a:t>枚程度の横断画像があり、眼球側を</a:t>
            </a:r>
            <a:r>
              <a:rPr lang="en-US" altLang="ja-JP" dirty="0"/>
              <a:t>1</a:t>
            </a:r>
            <a:r>
              <a:rPr lang="ja-JP" altLang="en-US" dirty="0"/>
              <a:t>として昇順に番号を割り当てた。</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20040"/>
            <a:ext cx="9875520" cy="411480"/>
          </a:xfrm>
          <a:prstGeom prst="rect">
            <a:avLst/>
          </a:prstGeom>
          <a:noFill/>
          <a:ln/>
        </p:spPr>
        <p:txBody>
          <a:bodyPr wrap="square" lIns="0" tIns="0" rIns="0" bIns="0" rtlCol="0" anchor="ctr"/>
          <a:lstStyle/>
          <a:p>
            <a:pPr marL="0" indent="0">
              <a:buNone/>
            </a:pPr>
            <a:r>
              <a:rPr lang="en-US" sz="2400" b="1" dirty="0">
                <a:solidFill>
                  <a:srgbClr val="111827"/>
                </a:solidFill>
                <a:latin typeface="Yu Gothic" pitchFamily="34" charset="0"/>
                <a:ea typeface="Yu Gothic" pitchFamily="34" charset="-122"/>
                <a:cs typeface="Yu Gothic" pitchFamily="34" charset="-120"/>
              </a:rPr>
              <a:t>使用データと分類タスク</a:t>
            </a:r>
            <a:endParaRPr lang="en-US" sz="2400" dirty="0"/>
          </a:p>
        </p:txBody>
      </p:sp>
      <p:sp>
        <p:nvSpPr>
          <p:cNvPr id="3" name="Shape 1"/>
          <p:cNvSpPr/>
          <p:nvPr/>
        </p:nvSpPr>
        <p:spPr>
          <a:xfrm>
            <a:off x="594360" y="868680"/>
            <a:ext cx="11018520" cy="0"/>
          </a:xfrm>
          <a:prstGeom prst="line">
            <a:avLst/>
          </a:prstGeom>
          <a:noFill/>
          <a:ln w="25400">
            <a:solidFill>
              <a:srgbClr val="1F4E79"/>
            </a:solidFill>
            <a:prstDash val="solid"/>
          </a:ln>
        </p:spPr>
      </p:sp>
      <p:sp>
        <p:nvSpPr>
          <p:cNvPr id="4" name="Text 2"/>
          <p:cNvSpPr/>
          <p:nvPr/>
        </p:nvSpPr>
        <p:spPr>
          <a:xfrm>
            <a:off x="621792" y="941832"/>
            <a:ext cx="10332720" cy="274320"/>
          </a:xfrm>
          <a:prstGeom prst="rect">
            <a:avLst/>
          </a:prstGeom>
          <a:noFill/>
          <a:ln/>
        </p:spPr>
        <p:txBody>
          <a:bodyPr wrap="square" lIns="0" tIns="0" rIns="0" bIns="0" rtlCol="0" anchor="ctr"/>
          <a:lstStyle/>
          <a:p>
            <a:pPr marL="0" indent="0">
              <a:buNone/>
            </a:pPr>
            <a:r>
              <a:rPr lang="en-US" sz="2000" dirty="0" err="1">
                <a:solidFill>
                  <a:srgbClr val="4B5563"/>
                </a:solidFill>
                <a:latin typeface="Yu Gothic" pitchFamily="34" charset="0"/>
                <a:ea typeface="Yu Gothic" pitchFamily="34" charset="-122"/>
                <a:cs typeface="Yu Gothic" pitchFamily="34" charset="-120"/>
              </a:rPr>
              <a:t>先行研究と同じMRI</a:t>
            </a:r>
            <a:r>
              <a:rPr lang="ja-JP" altLang="en-US" sz="2000" dirty="0">
                <a:solidFill>
                  <a:srgbClr val="4B5563"/>
                </a:solidFill>
                <a:latin typeface="Yu Gothic" pitchFamily="34" charset="0"/>
                <a:ea typeface="Yu Gothic" pitchFamily="34" charset="-122"/>
                <a:cs typeface="Yu Gothic" pitchFamily="34" charset="-120"/>
              </a:rPr>
              <a:t>画像</a:t>
            </a:r>
            <a:r>
              <a:rPr lang="en-US" sz="2000" dirty="0" err="1">
                <a:solidFill>
                  <a:srgbClr val="4B5563"/>
                </a:solidFill>
                <a:latin typeface="Yu Gothic" pitchFamily="34" charset="0"/>
                <a:ea typeface="Yu Gothic" pitchFamily="34" charset="-122"/>
                <a:cs typeface="Yu Gothic" pitchFamily="34" charset="-120"/>
              </a:rPr>
              <a:t>データを対象とする</a:t>
            </a:r>
            <a:endParaRPr lang="en-US" sz="2000" dirty="0"/>
          </a:p>
        </p:txBody>
      </p:sp>
      <p:sp>
        <p:nvSpPr>
          <p:cNvPr id="5" name="Shape 3"/>
          <p:cNvSpPr/>
          <p:nvPr/>
        </p:nvSpPr>
        <p:spPr>
          <a:xfrm>
            <a:off x="685800" y="1325880"/>
            <a:ext cx="3429000" cy="1691640"/>
          </a:xfrm>
          <a:prstGeom prst="roundRect">
            <a:avLst>
              <a:gd name="adj" fmla="val 4324"/>
            </a:avLst>
          </a:prstGeom>
          <a:solidFill>
            <a:srgbClr val="F7F9FC"/>
          </a:solidFill>
          <a:ln w="13970">
            <a:solidFill>
              <a:srgbClr val="D6DEE8"/>
            </a:solidFill>
            <a:prstDash val="solid"/>
          </a:ln>
        </p:spPr>
      </p:sp>
      <p:sp>
        <p:nvSpPr>
          <p:cNvPr id="6" name="Text 4"/>
          <p:cNvSpPr/>
          <p:nvPr/>
        </p:nvSpPr>
        <p:spPr>
          <a:xfrm>
            <a:off x="886968" y="1463040"/>
            <a:ext cx="3026664" cy="301752"/>
          </a:xfrm>
          <a:prstGeom prst="rect">
            <a:avLst/>
          </a:prstGeom>
          <a:noFill/>
          <a:ln/>
        </p:spPr>
        <p:txBody>
          <a:bodyPr wrap="square" lIns="0" tIns="0" rIns="0" bIns="0" rtlCol="0" anchor="ctr"/>
          <a:lstStyle/>
          <a:p>
            <a:pPr marL="0" indent="0">
              <a:buNone/>
            </a:pPr>
            <a:r>
              <a:rPr lang="en-US" sz="1500" b="1" dirty="0">
                <a:solidFill>
                  <a:srgbClr val="1F4E79"/>
                </a:solidFill>
                <a:latin typeface="Yu Gothic" pitchFamily="34" charset="0"/>
                <a:ea typeface="Yu Gothic" pitchFamily="34" charset="-122"/>
                <a:cs typeface="Yu Gothic" pitchFamily="34" charset="-120"/>
              </a:rPr>
              <a:t>対象データ</a:t>
            </a:r>
            <a:endParaRPr lang="en-US" sz="1500" dirty="0"/>
          </a:p>
        </p:txBody>
      </p:sp>
      <p:sp>
        <p:nvSpPr>
          <p:cNvPr id="7" name="Text 5"/>
          <p:cNvSpPr/>
          <p:nvPr/>
        </p:nvSpPr>
        <p:spPr>
          <a:xfrm>
            <a:off x="886968" y="1828800"/>
            <a:ext cx="3026664" cy="1069848"/>
          </a:xfrm>
          <a:prstGeom prst="rect">
            <a:avLst/>
          </a:prstGeom>
          <a:noFill/>
          <a:ln/>
        </p:spPr>
        <p:txBody>
          <a:bodyPr wrap="square" lIns="254" tIns="254" rIns="254" bIns="254" rtlCol="0" anchor="t">
            <a:normAutofit lnSpcReduction="10000"/>
          </a:bodyPr>
          <a:lstStyle/>
          <a:p>
            <a:pPr marL="0" indent="0">
              <a:buNone/>
            </a:pPr>
            <a:r>
              <a:rPr lang="en-US" sz="1280" dirty="0">
                <a:solidFill>
                  <a:srgbClr val="111827"/>
                </a:solidFill>
                <a:latin typeface="Yu Gothic" pitchFamily="34" charset="0"/>
                <a:ea typeface="Yu Gothic" pitchFamily="34" charset="-122"/>
                <a:cs typeface="Yu Gothic" pitchFamily="34" charset="-120"/>
              </a:rPr>
              <a:t>2016年4月1日〜2017年10月31日</a:t>
            </a:r>
            <a:endParaRPr lang="en-US" sz="1280" dirty="0"/>
          </a:p>
          <a:p>
            <a:pPr marL="0" indent="0">
              <a:buNone/>
            </a:pPr>
            <a:r>
              <a:rPr lang="en-US" sz="1280" dirty="0">
                <a:solidFill>
                  <a:srgbClr val="111827"/>
                </a:solidFill>
                <a:latin typeface="Yu Gothic" pitchFamily="34" charset="0"/>
                <a:ea typeface="Yu Gothic" pitchFamily="34" charset="-122"/>
                <a:cs typeface="Yu Gothic" pitchFamily="34" charset="-120"/>
              </a:rPr>
              <a:t>新武雄病院 脳ドック受診者</a:t>
            </a:r>
            <a:endParaRPr lang="en-US" sz="1280" dirty="0"/>
          </a:p>
          <a:p>
            <a:pPr marL="0" indent="0">
              <a:buNone/>
            </a:pPr>
            <a:r>
              <a:rPr lang="en-US" sz="1280" dirty="0">
                <a:solidFill>
                  <a:srgbClr val="111827"/>
                </a:solidFill>
                <a:latin typeface="Yu Gothic" pitchFamily="34" charset="0"/>
                <a:ea typeface="Yu Gothic" pitchFamily="34" charset="-122"/>
                <a:cs typeface="Yu Gothic" pitchFamily="34" charset="-120"/>
              </a:rPr>
              <a:t>最終対象：1,146名(</a:t>
            </a:r>
            <a:r>
              <a:rPr lang="ja-JP" altLang="en-US" sz="1280" dirty="0">
                <a:solidFill>
                  <a:srgbClr val="111827"/>
                </a:solidFill>
                <a:latin typeface="Yu Gothic" pitchFamily="34" charset="0"/>
                <a:ea typeface="Yu Gothic" pitchFamily="34" charset="-122"/>
                <a:cs typeface="Yu Gothic" pitchFamily="34" charset="-120"/>
              </a:rPr>
              <a:t>生化学検査データがある、</a:t>
            </a:r>
            <a:r>
              <a:rPr lang="en-US" altLang="ja-JP" sz="1280" dirty="0">
                <a:solidFill>
                  <a:srgbClr val="111827"/>
                </a:solidFill>
                <a:latin typeface="Yu Gothic" pitchFamily="34" charset="0"/>
                <a:ea typeface="Yu Gothic" pitchFamily="34" charset="-122"/>
                <a:cs typeface="Yu Gothic" pitchFamily="34" charset="-120"/>
              </a:rPr>
              <a:t>MRI</a:t>
            </a:r>
            <a:r>
              <a:rPr lang="ja-JP" altLang="en-US" sz="1280" dirty="0">
                <a:solidFill>
                  <a:srgbClr val="111827"/>
                </a:solidFill>
                <a:latin typeface="Yu Gothic" pitchFamily="34" charset="0"/>
                <a:ea typeface="Yu Gothic" pitchFamily="34" charset="-122"/>
                <a:cs typeface="Yu Gothic" pitchFamily="34" charset="-120"/>
              </a:rPr>
              <a:t>画像データがある、</a:t>
            </a:r>
            <a:r>
              <a:rPr lang="en-US" altLang="ja-JP" sz="1280" dirty="0">
                <a:solidFill>
                  <a:srgbClr val="111827"/>
                </a:solidFill>
                <a:latin typeface="Yu Gothic" pitchFamily="34" charset="0"/>
                <a:ea typeface="Yu Gothic" pitchFamily="34" charset="-122"/>
                <a:cs typeface="Yu Gothic" pitchFamily="34" charset="-120"/>
              </a:rPr>
              <a:t>T1 T2 FLAIR</a:t>
            </a:r>
            <a:r>
              <a:rPr lang="ja-JP" altLang="en-US" sz="1280" dirty="0">
                <a:solidFill>
                  <a:srgbClr val="111827"/>
                </a:solidFill>
                <a:latin typeface="Yu Gothic" pitchFamily="34" charset="0"/>
                <a:ea typeface="Yu Gothic" pitchFamily="34" charset="-122"/>
                <a:cs typeface="Yu Gothic" pitchFamily="34" charset="-120"/>
              </a:rPr>
              <a:t>の</a:t>
            </a:r>
            <a:r>
              <a:rPr lang="en-US" altLang="ja-JP" sz="1280" dirty="0">
                <a:solidFill>
                  <a:srgbClr val="111827"/>
                </a:solidFill>
                <a:latin typeface="Yu Gothic" pitchFamily="34" charset="0"/>
                <a:ea typeface="Yu Gothic" pitchFamily="34" charset="-122"/>
                <a:cs typeface="Yu Gothic" pitchFamily="34" charset="-120"/>
              </a:rPr>
              <a:t>3</a:t>
            </a:r>
            <a:r>
              <a:rPr lang="ja-JP" altLang="en-US" sz="1280" dirty="0">
                <a:solidFill>
                  <a:srgbClr val="111827"/>
                </a:solidFill>
                <a:latin typeface="Yu Gothic" pitchFamily="34" charset="0"/>
                <a:ea typeface="Yu Gothic" pitchFamily="34" charset="-122"/>
                <a:cs typeface="Yu Gothic" pitchFamily="34" charset="-120"/>
              </a:rPr>
              <a:t>種類がそろっているという条件を満たした人を対象</a:t>
            </a:r>
            <a:r>
              <a:rPr lang="en-US" sz="1280" dirty="0">
                <a:solidFill>
                  <a:srgbClr val="111827"/>
                </a:solidFill>
                <a:latin typeface="Yu Gothic" pitchFamily="34" charset="0"/>
                <a:ea typeface="Yu Gothic" pitchFamily="34" charset="-122"/>
                <a:cs typeface="Yu Gothic" pitchFamily="34" charset="-120"/>
              </a:rPr>
              <a:t>)</a:t>
            </a:r>
            <a:endParaRPr lang="en-US" sz="1280" dirty="0"/>
          </a:p>
        </p:txBody>
      </p:sp>
      <p:sp>
        <p:nvSpPr>
          <p:cNvPr id="8" name="Shape 6"/>
          <p:cNvSpPr/>
          <p:nvPr/>
        </p:nvSpPr>
        <p:spPr>
          <a:xfrm>
            <a:off x="4389120" y="1325880"/>
            <a:ext cx="3429000" cy="1691640"/>
          </a:xfrm>
          <a:prstGeom prst="roundRect">
            <a:avLst>
              <a:gd name="adj" fmla="val 4324"/>
            </a:avLst>
          </a:prstGeom>
          <a:solidFill>
            <a:srgbClr val="F7F9FC"/>
          </a:solidFill>
          <a:ln w="13970">
            <a:solidFill>
              <a:srgbClr val="D6DEE8"/>
            </a:solidFill>
            <a:prstDash val="solid"/>
          </a:ln>
        </p:spPr>
      </p:sp>
      <p:sp>
        <p:nvSpPr>
          <p:cNvPr id="9" name="Text 7"/>
          <p:cNvSpPr/>
          <p:nvPr/>
        </p:nvSpPr>
        <p:spPr>
          <a:xfrm>
            <a:off x="4590288" y="1463040"/>
            <a:ext cx="3026664" cy="301752"/>
          </a:xfrm>
          <a:prstGeom prst="rect">
            <a:avLst/>
          </a:prstGeom>
          <a:noFill/>
          <a:ln/>
        </p:spPr>
        <p:txBody>
          <a:bodyPr wrap="square" lIns="0" tIns="0" rIns="0" bIns="0" rtlCol="0" anchor="ctr"/>
          <a:lstStyle/>
          <a:p>
            <a:pPr marL="0" indent="0">
              <a:buNone/>
            </a:pPr>
            <a:r>
              <a:rPr lang="en-US" sz="1500" b="1" dirty="0">
                <a:solidFill>
                  <a:srgbClr val="1F4E79"/>
                </a:solidFill>
                <a:latin typeface="Yu Gothic" pitchFamily="34" charset="0"/>
                <a:ea typeface="Yu Gothic" pitchFamily="34" charset="-122"/>
                <a:cs typeface="Yu Gothic" pitchFamily="34" charset="-120"/>
              </a:rPr>
              <a:t>MRI画像</a:t>
            </a:r>
            <a:endParaRPr lang="en-US" sz="1500" dirty="0"/>
          </a:p>
        </p:txBody>
      </p:sp>
      <p:sp>
        <p:nvSpPr>
          <p:cNvPr id="10" name="Text 8"/>
          <p:cNvSpPr/>
          <p:nvPr/>
        </p:nvSpPr>
        <p:spPr>
          <a:xfrm>
            <a:off x="4590288" y="1828800"/>
            <a:ext cx="3026664" cy="1069848"/>
          </a:xfrm>
          <a:prstGeom prst="rect">
            <a:avLst/>
          </a:prstGeom>
          <a:noFill/>
          <a:ln/>
        </p:spPr>
        <p:txBody>
          <a:bodyPr wrap="square" lIns="254" tIns="254" rIns="254" bIns="254" rtlCol="0" anchor="t">
            <a:normAutofit/>
          </a:bodyPr>
          <a:lstStyle/>
          <a:p>
            <a:pPr marL="0" indent="0">
              <a:buNone/>
            </a:pPr>
            <a:r>
              <a:rPr lang="en-US" sz="1280" dirty="0">
                <a:solidFill>
                  <a:srgbClr val="111827"/>
                </a:solidFill>
                <a:latin typeface="Yu Gothic" pitchFamily="34" charset="0"/>
                <a:ea typeface="Yu Gothic" pitchFamily="34" charset="-122"/>
                <a:cs typeface="Yu Gothic" pitchFamily="34" charset="-120"/>
              </a:rPr>
              <a:t>T1強調画像(</a:t>
            </a:r>
            <a:r>
              <a:rPr lang="ja-JP" altLang="en-US" sz="1280" dirty="0">
                <a:solidFill>
                  <a:srgbClr val="111827"/>
                </a:solidFill>
                <a:latin typeface="Yu Gothic" pitchFamily="34" charset="0"/>
                <a:ea typeface="Yu Gothic" pitchFamily="34" charset="-122"/>
                <a:cs typeface="Yu Gothic" pitchFamily="34" charset="-120"/>
              </a:rPr>
              <a:t>構造に注目</a:t>
            </a:r>
            <a:r>
              <a:rPr lang="en-US" sz="1280" dirty="0">
                <a:solidFill>
                  <a:srgbClr val="111827"/>
                </a:solidFill>
                <a:latin typeface="Yu Gothic" pitchFamily="34" charset="0"/>
                <a:ea typeface="Yu Gothic" pitchFamily="34" charset="-122"/>
                <a:cs typeface="Yu Gothic" pitchFamily="34" charset="-120"/>
              </a:rPr>
              <a:t>)</a:t>
            </a:r>
            <a:endParaRPr lang="en-US" sz="1280" dirty="0"/>
          </a:p>
          <a:p>
            <a:pPr marL="0" indent="0">
              <a:buNone/>
            </a:pPr>
            <a:r>
              <a:rPr lang="en-US" sz="1280" dirty="0">
                <a:solidFill>
                  <a:srgbClr val="111827"/>
                </a:solidFill>
                <a:latin typeface="Yu Gothic" pitchFamily="34" charset="0"/>
                <a:ea typeface="Yu Gothic" pitchFamily="34" charset="-122"/>
                <a:cs typeface="Yu Gothic" pitchFamily="34" charset="-120"/>
              </a:rPr>
              <a:t>T2強調画像(</a:t>
            </a:r>
            <a:r>
              <a:rPr lang="ja-JP" altLang="en-US" sz="1280" dirty="0">
                <a:solidFill>
                  <a:srgbClr val="111827"/>
                </a:solidFill>
                <a:latin typeface="Yu Gothic" pitchFamily="34" charset="0"/>
                <a:ea typeface="Yu Gothic" pitchFamily="34" charset="-122"/>
                <a:cs typeface="Yu Gothic" pitchFamily="34" charset="-120"/>
              </a:rPr>
              <a:t>水分に注目</a:t>
            </a:r>
            <a:r>
              <a:rPr lang="en-US" sz="1280" dirty="0">
                <a:solidFill>
                  <a:srgbClr val="111827"/>
                </a:solidFill>
                <a:latin typeface="Yu Gothic" pitchFamily="34" charset="0"/>
                <a:ea typeface="Yu Gothic" pitchFamily="34" charset="-122"/>
                <a:cs typeface="Yu Gothic" pitchFamily="34" charset="-120"/>
              </a:rPr>
              <a:t>)</a:t>
            </a:r>
            <a:endParaRPr lang="en-US" sz="1280" dirty="0"/>
          </a:p>
          <a:p>
            <a:pPr marL="0" indent="0">
              <a:buNone/>
            </a:pPr>
            <a:r>
              <a:rPr lang="en-US" sz="1280" dirty="0" err="1">
                <a:solidFill>
                  <a:srgbClr val="111827"/>
                </a:solidFill>
                <a:latin typeface="Yu Gothic" pitchFamily="34" charset="0"/>
                <a:ea typeface="Yu Gothic" pitchFamily="34" charset="-122"/>
                <a:cs typeface="Yu Gothic" pitchFamily="34" charset="-120"/>
              </a:rPr>
              <a:t>FLAIR画像</a:t>
            </a:r>
            <a:r>
              <a:rPr lang="en-US" sz="1280" dirty="0">
                <a:solidFill>
                  <a:srgbClr val="111827"/>
                </a:solidFill>
                <a:latin typeface="Yu Gothic" pitchFamily="34" charset="0"/>
                <a:ea typeface="Yu Gothic" pitchFamily="34" charset="-122"/>
                <a:cs typeface="Yu Gothic" pitchFamily="34" charset="-120"/>
              </a:rPr>
              <a:t>(</a:t>
            </a:r>
            <a:r>
              <a:rPr lang="ja-JP" altLang="en-US" sz="1280" dirty="0">
                <a:solidFill>
                  <a:srgbClr val="111827"/>
                </a:solidFill>
                <a:latin typeface="Yu Gothic" pitchFamily="34" charset="0"/>
                <a:ea typeface="Yu Gothic" pitchFamily="34" charset="-122"/>
                <a:cs typeface="Yu Gothic" pitchFamily="34" charset="-120"/>
              </a:rPr>
              <a:t>病変由来の水に注目</a:t>
            </a:r>
            <a:r>
              <a:rPr lang="en-US" sz="1280" dirty="0">
                <a:solidFill>
                  <a:srgbClr val="111827"/>
                </a:solidFill>
                <a:latin typeface="Yu Gothic" pitchFamily="34" charset="0"/>
                <a:ea typeface="Yu Gothic" pitchFamily="34" charset="-122"/>
                <a:cs typeface="Yu Gothic" pitchFamily="34" charset="-120"/>
              </a:rPr>
              <a:t>)</a:t>
            </a:r>
            <a:endParaRPr lang="en-US" sz="1280" dirty="0"/>
          </a:p>
          <a:p>
            <a:pPr marL="0" indent="0">
              <a:buNone/>
            </a:pPr>
            <a:r>
              <a:rPr lang="en-US" sz="1280" dirty="0">
                <a:solidFill>
                  <a:srgbClr val="111827"/>
                </a:solidFill>
                <a:latin typeface="Yu Gothic" pitchFamily="34" charset="0"/>
                <a:ea typeface="Yu Gothic" pitchFamily="34" charset="-122"/>
                <a:cs typeface="Yu Gothic" pitchFamily="34" charset="-120"/>
              </a:rPr>
              <a:t>1人あたり約25枚の横断画像</a:t>
            </a:r>
            <a:endParaRPr lang="en-US" sz="1280" dirty="0"/>
          </a:p>
        </p:txBody>
      </p:sp>
      <p:sp>
        <p:nvSpPr>
          <p:cNvPr id="11" name="Shape 9"/>
          <p:cNvSpPr/>
          <p:nvPr/>
        </p:nvSpPr>
        <p:spPr>
          <a:xfrm>
            <a:off x="8092440" y="1325880"/>
            <a:ext cx="3429000" cy="1691640"/>
          </a:xfrm>
          <a:prstGeom prst="roundRect">
            <a:avLst>
              <a:gd name="adj" fmla="val 4324"/>
            </a:avLst>
          </a:prstGeom>
          <a:solidFill>
            <a:srgbClr val="F7F9FC"/>
          </a:solidFill>
          <a:ln w="13970">
            <a:solidFill>
              <a:srgbClr val="D6DEE8"/>
            </a:solidFill>
            <a:prstDash val="solid"/>
          </a:ln>
        </p:spPr>
      </p:sp>
      <p:sp>
        <p:nvSpPr>
          <p:cNvPr id="12" name="Text 10"/>
          <p:cNvSpPr/>
          <p:nvPr/>
        </p:nvSpPr>
        <p:spPr>
          <a:xfrm>
            <a:off x="8293608" y="1463040"/>
            <a:ext cx="3026664" cy="301752"/>
          </a:xfrm>
          <a:prstGeom prst="rect">
            <a:avLst/>
          </a:prstGeom>
          <a:noFill/>
          <a:ln/>
        </p:spPr>
        <p:txBody>
          <a:bodyPr wrap="square" lIns="0" tIns="0" rIns="0" bIns="0" rtlCol="0" anchor="ctr"/>
          <a:lstStyle/>
          <a:p>
            <a:pPr marL="0" indent="0">
              <a:buNone/>
            </a:pPr>
            <a:r>
              <a:rPr lang="en-US" sz="1500" b="1" dirty="0">
                <a:solidFill>
                  <a:srgbClr val="1F4E79"/>
                </a:solidFill>
                <a:latin typeface="Yu Gothic" pitchFamily="34" charset="0"/>
                <a:ea typeface="Yu Gothic" pitchFamily="34" charset="-122"/>
                <a:cs typeface="Yu Gothic" pitchFamily="34" charset="-120"/>
              </a:rPr>
              <a:t>分類ラベル</a:t>
            </a:r>
            <a:endParaRPr lang="en-US" sz="1500" dirty="0"/>
          </a:p>
        </p:txBody>
      </p:sp>
      <p:sp>
        <p:nvSpPr>
          <p:cNvPr id="13" name="Text 11"/>
          <p:cNvSpPr/>
          <p:nvPr/>
        </p:nvSpPr>
        <p:spPr>
          <a:xfrm>
            <a:off x="8293608" y="1828800"/>
            <a:ext cx="3026664" cy="1069848"/>
          </a:xfrm>
          <a:prstGeom prst="rect">
            <a:avLst/>
          </a:prstGeom>
          <a:noFill/>
          <a:ln/>
        </p:spPr>
        <p:txBody>
          <a:bodyPr wrap="square" lIns="254" tIns="254" rIns="254" bIns="254" rtlCol="0" anchor="t">
            <a:normAutofit/>
          </a:bodyPr>
          <a:lstStyle/>
          <a:p>
            <a:pPr marL="0" indent="0">
              <a:buNone/>
            </a:pPr>
            <a:r>
              <a:rPr lang="en-US" sz="1280" dirty="0">
                <a:solidFill>
                  <a:srgbClr val="111827"/>
                </a:solidFill>
                <a:latin typeface="Yu Gothic" pitchFamily="34" charset="0"/>
                <a:ea typeface="Yu Gothic" pitchFamily="34" charset="-122"/>
                <a:cs typeface="Yu Gothic" pitchFamily="34" charset="-120"/>
              </a:rPr>
              <a:t>大脳白質病変の重症度</a:t>
            </a:r>
            <a:endParaRPr lang="en-US" sz="1280" dirty="0"/>
          </a:p>
          <a:p>
            <a:pPr marL="0" indent="0">
              <a:buNone/>
            </a:pPr>
            <a:r>
              <a:rPr lang="en-US" sz="1280" dirty="0">
                <a:solidFill>
                  <a:srgbClr val="111827"/>
                </a:solidFill>
                <a:latin typeface="Yu Gothic" pitchFamily="34" charset="0"/>
                <a:ea typeface="Yu Gothic" pitchFamily="34" charset="-122"/>
                <a:cs typeface="Yu Gothic" pitchFamily="34" charset="-120"/>
              </a:rPr>
              <a:t>grade0〜grade4(4</a:t>
            </a:r>
            <a:r>
              <a:rPr lang="ja-JP" altLang="en-US" sz="1280" dirty="0">
                <a:solidFill>
                  <a:srgbClr val="111827"/>
                </a:solidFill>
                <a:latin typeface="Yu Gothic" pitchFamily="34" charset="0"/>
                <a:ea typeface="Yu Gothic" pitchFamily="34" charset="-122"/>
                <a:cs typeface="Yu Gothic" pitchFamily="34" charset="-120"/>
              </a:rPr>
              <a:t>が最も重症</a:t>
            </a:r>
            <a:r>
              <a:rPr lang="en-US" sz="1280" dirty="0">
                <a:solidFill>
                  <a:srgbClr val="111827"/>
                </a:solidFill>
                <a:latin typeface="Yu Gothic" pitchFamily="34" charset="0"/>
                <a:ea typeface="Yu Gothic" pitchFamily="34" charset="-122"/>
                <a:cs typeface="Yu Gothic" pitchFamily="34" charset="-120"/>
              </a:rPr>
              <a:t>)</a:t>
            </a:r>
            <a:endParaRPr lang="en-US" sz="1280" dirty="0"/>
          </a:p>
          <a:p>
            <a:pPr marL="0" indent="0">
              <a:buNone/>
            </a:pPr>
            <a:r>
              <a:rPr lang="en-US" sz="1280" dirty="0">
                <a:solidFill>
                  <a:srgbClr val="111827"/>
                </a:solidFill>
                <a:latin typeface="Yu Gothic" pitchFamily="34" charset="0"/>
                <a:ea typeface="Yu Gothic" pitchFamily="34" charset="-122"/>
                <a:cs typeface="Yu Gothic" pitchFamily="34" charset="-120"/>
              </a:rPr>
              <a:t>5クラス分類</a:t>
            </a:r>
            <a:endParaRPr lang="en-US" sz="1280" dirty="0"/>
          </a:p>
        </p:txBody>
      </p:sp>
      <p:sp>
        <p:nvSpPr>
          <p:cNvPr id="14" name="Text 12"/>
          <p:cNvSpPr/>
          <p:nvPr/>
        </p:nvSpPr>
        <p:spPr>
          <a:xfrm>
            <a:off x="777240" y="3456432"/>
            <a:ext cx="2011680" cy="256032"/>
          </a:xfrm>
          <a:prstGeom prst="rect">
            <a:avLst/>
          </a:prstGeom>
          <a:noFill/>
          <a:ln/>
        </p:spPr>
        <p:txBody>
          <a:bodyPr wrap="square" lIns="0" tIns="0" rIns="0" bIns="0" rtlCol="0" anchor="ctr"/>
          <a:lstStyle/>
          <a:p>
            <a:pPr marL="0" indent="0">
              <a:buNone/>
            </a:pPr>
            <a:r>
              <a:rPr lang="en-US" sz="1350" b="1" dirty="0">
                <a:solidFill>
                  <a:srgbClr val="1F4E79"/>
                </a:solidFill>
                <a:latin typeface="Yu Gothic" pitchFamily="34" charset="0"/>
                <a:ea typeface="Yu Gothic" pitchFamily="34" charset="-122"/>
                <a:cs typeface="Yu Gothic" pitchFamily="34" charset="-120"/>
              </a:rPr>
              <a:t>グレード別人数</a:t>
            </a:r>
            <a:endParaRPr lang="en-US" sz="1350" dirty="0"/>
          </a:p>
        </p:txBody>
      </p:sp>
      <p:sp>
        <p:nvSpPr>
          <p:cNvPr id="15" name="Shape 13"/>
          <p:cNvSpPr/>
          <p:nvPr/>
        </p:nvSpPr>
        <p:spPr>
          <a:xfrm>
            <a:off x="777240" y="3822192"/>
            <a:ext cx="1783080" cy="1143000"/>
          </a:xfrm>
          <a:prstGeom prst="roundRect">
            <a:avLst>
              <a:gd name="adj" fmla="val 5600"/>
            </a:avLst>
          </a:prstGeom>
          <a:solidFill>
            <a:srgbClr val="EEF5FB"/>
          </a:solidFill>
          <a:ln w="12700">
            <a:solidFill>
              <a:srgbClr val="D6DEE8"/>
            </a:solidFill>
            <a:prstDash val="solid"/>
          </a:ln>
        </p:spPr>
      </p:sp>
      <p:sp>
        <p:nvSpPr>
          <p:cNvPr id="16" name="Text 14"/>
          <p:cNvSpPr/>
          <p:nvPr/>
        </p:nvSpPr>
        <p:spPr>
          <a:xfrm>
            <a:off x="886968" y="3950208"/>
            <a:ext cx="1508760" cy="237744"/>
          </a:xfrm>
          <a:prstGeom prst="rect">
            <a:avLst/>
          </a:prstGeom>
          <a:noFill/>
          <a:ln/>
        </p:spPr>
        <p:txBody>
          <a:bodyPr wrap="square" lIns="0" tIns="0" rIns="0" bIns="0" rtlCol="0" anchor="ctr"/>
          <a:lstStyle/>
          <a:p>
            <a:pPr marL="0" indent="0" algn="ctr">
              <a:buNone/>
            </a:pPr>
            <a:r>
              <a:rPr lang="en-US" sz="1300" b="1" dirty="0">
                <a:solidFill>
                  <a:srgbClr val="111827"/>
                </a:solidFill>
                <a:latin typeface="Yu Gothic" pitchFamily="34" charset="0"/>
                <a:ea typeface="Yu Gothic" pitchFamily="34" charset="-122"/>
                <a:cs typeface="Yu Gothic" pitchFamily="34" charset="-120"/>
              </a:rPr>
              <a:t>grade0</a:t>
            </a:r>
            <a:endParaRPr lang="en-US" sz="1300" dirty="0"/>
          </a:p>
        </p:txBody>
      </p:sp>
      <p:sp>
        <p:nvSpPr>
          <p:cNvPr id="17" name="Text 15"/>
          <p:cNvSpPr/>
          <p:nvPr/>
        </p:nvSpPr>
        <p:spPr>
          <a:xfrm>
            <a:off x="886968" y="4297680"/>
            <a:ext cx="1508760" cy="256032"/>
          </a:xfrm>
          <a:prstGeom prst="rect">
            <a:avLst/>
          </a:prstGeom>
          <a:noFill/>
          <a:ln/>
        </p:spPr>
        <p:txBody>
          <a:bodyPr wrap="square" lIns="0" tIns="0" rIns="0" bIns="0" rtlCol="0" anchor="ctr"/>
          <a:lstStyle/>
          <a:p>
            <a:pPr marL="0" indent="0" algn="ctr">
              <a:buNone/>
            </a:pPr>
            <a:r>
              <a:rPr lang="en-US" sz="1400" b="1" dirty="0">
                <a:solidFill>
                  <a:srgbClr val="1F4E79"/>
                </a:solidFill>
                <a:latin typeface="Yu Gothic" pitchFamily="34" charset="0"/>
                <a:ea typeface="Yu Gothic" pitchFamily="34" charset="-122"/>
                <a:cs typeface="Yu Gothic" pitchFamily="34" charset="-120"/>
              </a:rPr>
              <a:t>551名</a:t>
            </a:r>
            <a:endParaRPr lang="en-US" sz="1400" dirty="0"/>
          </a:p>
        </p:txBody>
      </p:sp>
      <p:sp>
        <p:nvSpPr>
          <p:cNvPr id="18" name="Text 16"/>
          <p:cNvSpPr/>
          <p:nvPr/>
        </p:nvSpPr>
        <p:spPr>
          <a:xfrm>
            <a:off x="886968" y="4626864"/>
            <a:ext cx="1508760" cy="219456"/>
          </a:xfrm>
          <a:prstGeom prst="rect">
            <a:avLst/>
          </a:prstGeom>
          <a:noFill/>
          <a:ln/>
        </p:spPr>
        <p:txBody>
          <a:bodyPr wrap="square" lIns="0" tIns="0" rIns="0" bIns="0" rtlCol="0" anchor="ctr"/>
          <a:lstStyle/>
          <a:p>
            <a:pPr marL="0" indent="0" algn="ctr">
              <a:buNone/>
            </a:pPr>
            <a:r>
              <a:rPr lang="en-US" sz="1050" dirty="0">
                <a:solidFill>
                  <a:srgbClr val="4B5563"/>
                </a:solidFill>
                <a:latin typeface="Yu Gothic" pitchFamily="34" charset="0"/>
                <a:ea typeface="Yu Gothic" pitchFamily="34" charset="-122"/>
                <a:cs typeface="Yu Gothic" pitchFamily="34" charset="-120"/>
              </a:rPr>
              <a:t>44.1%</a:t>
            </a:r>
            <a:endParaRPr lang="en-US" sz="1050" dirty="0"/>
          </a:p>
        </p:txBody>
      </p:sp>
      <p:sp>
        <p:nvSpPr>
          <p:cNvPr id="19" name="Shape 17"/>
          <p:cNvSpPr/>
          <p:nvPr/>
        </p:nvSpPr>
        <p:spPr>
          <a:xfrm>
            <a:off x="2898648" y="3822192"/>
            <a:ext cx="1783080" cy="1143000"/>
          </a:xfrm>
          <a:prstGeom prst="roundRect">
            <a:avLst>
              <a:gd name="adj" fmla="val 5600"/>
            </a:avLst>
          </a:prstGeom>
          <a:solidFill>
            <a:srgbClr val="EEF5FB"/>
          </a:solidFill>
          <a:ln w="12700">
            <a:solidFill>
              <a:srgbClr val="D6DEE8"/>
            </a:solidFill>
            <a:prstDash val="solid"/>
          </a:ln>
        </p:spPr>
      </p:sp>
      <p:sp>
        <p:nvSpPr>
          <p:cNvPr id="20" name="Text 18"/>
          <p:cNvSpPr/>
          <p:nvPr/>
        </p:nvSpPr>
        <p:spPr>
          <a:xfrm>
            <a:off x="3008376" y="3950208"/>
            <a:ext cx="1508760" cy="237744"/>
          </a:xfrm>
          <a:prstGeom prst="rect">
            <a:avLst/>
          </a:prstGeom>
          <a:noFill/>
          <a:ln/>
        </p:spPr>
        <p:txBody>
          <a:bodyPr wrap="square" lIns="0" tIns="0" rIns="0" bIns="0" rtlCol="0" anchor="ctr"/>
          <a:lstStyle/>
          <a:p>
            <a:pPr marL="0" indent="0" algn="ctr">
              <a:buNone/>
            </a:pPr>
            <a:r>
              <a:rPr lang="en-US" sz="1300" b="1" dirty="0">
                <a:solidFill>
                  <a:srgbClr val="111827"/>
                </a:solidFill>
                <a:latin typeface="Yu Gothic" pitchFamily="34" charset="0"/>
                <a:ea typeface="Yu Gothic" pitchFamily="34" charset="-122"/>
                <a:cs typeface="Yu Gothic" pitchFamily="34" charset="-120"/>
              </a:rPr>
              <a:t>grade1</a:t>
            </a:r>
            <a:endParaRPr lang="en-US" sz="1300" dirty="0"/>
          </a:p>
        </p:txBody>
      </p:sp>
      <p:sp>
        <p:nvSpPr>
          <p:cNvPr id="21" name="Text 19"/>
          <p:cNvSpPr/>
          <p:nvPr/>
        </p:nvSpPr>
        <p:spPr>
          <a:xfrm>
            <a:off x="3008376" y="4297680"/>
            <a:ext cx="1508760" cy="256032"/>
          </a:xfrm>
          <a:prstGeom prst="rect">
            <a:avLst/>
          </a:prstGeom>
          <a:noFill/>
          <a:ln/>
        </p:spPr>
        <p:txBody>
          <a:bodyPr wrap="square" lIns="0" tIns="0" rIns="0" bIns="0" rtlCol="0" anchor="ctr"/>
          <a:lstStyle/>
          <a:p>
            <a:pPr marL="0" indent="0" algn="ctr">
              <a:buNone/>
            </a:pPr>
            <a:r>
              <a:rPr lang="en-US" sz="1400" b="1" dirty="0">
                <a:solidFill>
                  <a:srgbClr val="1F4E79"/>
                </a:solidFill>
                <a:latin typeface="Yu Gothic" pitchFamily="34" charset="0"/>
                <a:ea typeface="Yu Gothic" pitchFamily="34" charset="-122"/>
                <a:cs typeface="Yu Gothic" pitchFamily="34" charset="-120"/>
              </a:rPr>
              <a:t>441名</a:t>
            </a:r>
            <a:endParaRPr lang="en-US" sz="1400" dirty="0"/>
          </a:p>
        </p:txBody>
      </p:sp>
      <p:sp>
        <p:nvSpPr>
          <p:cNvPr id="22" name="Text 20"/>
          <p:cNvSpPr/>
          <p:nvPr/>
        </p:nvSpPr>
        <p:spPr>
          <a:xfrm>
            <a:off x="3008376" y="4626864"/>
            <a:ext cx="1508760" cy="219456"/>
          </a:xfrm>
          <a:prstGeom prst="rect">
            <a:avLst/>
          </a:prstGeom>
          <a:noFill/>
          <a:ln/>
        </p:spPr>
        <p:txBody>
          <a:bodyPr wrap="square" lIns="0" tIns="0" rIns="0" bIns="0" rtlCol="0" anchor="ctr"/>
          <a:lstStyle/>
          <a:p>
            <a:pPr marL="0" indent="0" algn="ctr">
              <a:buNone/>
            </a:pPr>
            <a:r>
              <a:rPr lang="en-US" sz="1050" dirty="0">
                <a:solidFill>
                  <a:srgbClr val="4B5563"/>
                </a:solidFill>
                <a:latin typeface="Yu Gothic" pitchFamily="34" charset="0"/>
                <a:ea typeface="Yu Gothic" pitchFamily="34" charset="-122"/>
                <a:cs typeface="Yu Gothic" pitchFamily="34" charset="-120"/>
              </a:rPr>
              <a:t>38.5%</a:t>
            </a:r>
            <a:endParaRPr lang="en-US" sz="1050" dirty="0"/>
          </a:p>
        </p:txBody>
      </p:sp>
      <p:sp>
        <p:nvSpPr>
          <p:cNvPr id="23" name="Shape 21"/>
          <p:cNvSpPr/>
          <p:nvPr/>
        </p:nvSpPr>
        <p:spPr>
          <a:xfrm>
            <a:off x="5020056" y="3822192"/>
            <a:ext cx="1783080" cy="1143000"/>
          </a:xfrm>
          <a:prstGeom prst="roundRect">
            <a:avLst>
              <a:gd name="adj" fmla="val 5600"/>
            </a:avLst>
          </a:prstGeom>
          <a:solidFill>
            <a:srgbClr val="FFFFFF"/>
          </a:solidFill>
          <a:ln w="12700">
            <a:solidFill>
              <a:srgbClr val="D6DEE8"/>
            </a:solidFill>
            <a:prstDash val="solid"/>
          </a:ln>
        </p:spPr>
      </p:sp>
      <p:sp>
        <p:nvSpPr>
          <p:cNvPr id="24" name="Text 22"/>
          <p:cNvSpPr/>
          <p:nvPr/>
        </p:nvSpPr>
        <p:spPr>
          <a:xfrm>
            <a:off x="5129784" y="3950208"/>
            <a:ext cx="1508760" cy="237744"/>
          </a:xfrm>
          <a:prstGeom prst="rect">
            <a:avLst/>
          </a:prstGeom>
          <a:noFill/>
          <a:ln/>
        </p:spPr>
        <p:txBody>
          <a:bodyPr wrap="square" lIns="0" tIns="0" rIns="0" bIns="0" rtlCol="0" anchor="ctr"/>
          <a:lstStyle/>
          <a:p>
            <a:pPr marL="0" indent="0" algn="ctr">
              <a:buNone/>
            </a:pPr>
            <a:r>
              <a:rPr lang="en-US" sz="1300" b="1" dirty="0">
                <a:solidFill>
                  <a:srgbClr val="111827"/>
                </a:solidFill>
                <a:latin typeface="Yu Gothic" pitchFamily="34" charset="0"/>
                <a:ea typeface="Yu Gothic" pitchFamily="34" charset="-122"/>
                <a:cs typeface="Yu Gothic" pitchFamily="34" charset="-120"/>
              </a:rPr>
              <a:t>grade2</a:t>
            </a:r>
            <a:endParaRPr lang="en-US" sz="1300" dirty="0"/>
          </a:p>
        </p:txBody>
      </p:sp>
      <p:sp>
        <p:nvSpPr>
          <p:cNvPr id="25" name="Text 23"/>
          <p:cNvSpPr/>
          <p:nvPr/>
        </p:nvSpPr>
        <p:spPr>
          <a:xfrm>
            <a:off x="5129784" y="4297680"/>
            <a:ext cx="1508760" cy="256032"/>
          </a:xfrm>
          <a:prstGeom prst="rect">
            <a:avLst/>
          </a:prstGeom>
          <a:noFill/>
          <a:ln/>
        </p:spPr>
        <p:txBody>
          <a:bodyPr wrap="square" lIns="0" tIns="0" rIns="0" bIns="0" rtlCol="0" anchor="ctr"/>
          <a:lstStyle/>
          <a:p>
            <a:pPr marL="0" indent="0" algn="ctr">
              <a:buNone/>
            </a:pPr>
            <a:r>
              <a:rPr lang="en-US" sz="1400" b="1" dirty="0">
                <a:solidFill>
                  <a:srgbClr val="1F4E79"/>
                </a:solidFill>
                <a:latin typeface="Yu Gothic" pitchFamily="34" charset="0"/>
                <a:ea typeface="Yu Gothic" pitchFamily="34" charset="-122"/>
                <a:cs typeface="Yu Gothic" pitchFamily="34" charset="-120"/>
              </a:rPr>
              <a:t>107名</a:t>
            </a:r>
            <a:endParaRPr lang="en-US" sz="1400" dirty="0"/>
          </a:p>
        </p:txBody>
      </p:sp>
      <p:sp>
        <p:nvSpPr>
          <p:cNvPr id="26" name="Text 24"/>
          <p:cNvSpPr/>
          <p:nvPr/>
        </p:nvSpPr>
        <p:spPr>
          <a:xfrm>
            <a:off x="5129784" y="4626864"/>
            <a:ext cx="1508760" cy="219456"/>
          </a:xfrm>
          <a:prstGeom prst="rect">
            <a:avLst/>
          </a:prstGeom>
          <a:noFill/>
          <a:ln/>
        </p:spPr>
        <p:txBody>
          <a:bodyPr wrap="square" lIns="0" tIns="0" rIns="0" bIns="0" rtlCol="0" anchor="ctr"/>
          <a:lstStyle/>
          <a:p>
            <a:pPr marL="0" indent="0" algn="ctr">
              <a:buNone/>
            </a:pPr>
            <a:r>
              <a:rPr lang="en-US" sz="1050" dirty="0">
                <a:solidFill>
                  <a:srgbClr val="4B5563"/>
                </a:solidFill>
                <a:latin typeface="Yu Gothic" pitchFamily="34" charset="0"/>
                <a:ea typeface="Yu Gothic" pitchFamily="34" charset="-122"/>
                <a:cs typeface="Yu Gothic" pitchFamily="34" charset="-120"/>
              </a:rPr>
              <a:t>9.3%</a:t>
            </a:r>
            <a:endParaRPr lang="en-US" sz="1050" dirty="0"/>
          </a:p>
        </p:txBody>
      </p:sp>
      <p:sp>
        <p:nvSpPr>
          <p:cNvPr id="27" name="Shape 25"/>
          <p:cNvSpPr/>
          <p:nvPr/>
        </p:nvSpPr>
        <p:spPr>
          <a:xfrm>
            <a:off x="7141464" y="3822192"/>
            <a:ext cx="1783080" cy="1143000"/>
          </a:xfrm>
          <a:prstGeom prst="roundRect">
            <a:avLst>
              <a:gd name="adj" fmla="val 5600"/>
            </a:avLst>
          </a:prstGeom>
          <a:solidFill>
            <a:srgbClr val="FFFFFF"/>
          </a:solidFill>
          <a:ln w="12700">
            <a:solidFill>
              <a:srgbClr val="D6DEE8"/>
            </a:solidFill>
            <a:prstDash val="solid"/>
          </a:ln>
        </p:spPr>
      </p:sp>
      <p:sp>
        <p:nvSpPr>
          <p:cNvPr id="28" name="Text 26"/>
          <p:cNvSpPr/>
          <p:nvPr/>
        </p:nvSpPr>
        <p:spPr>
          <a:xfrm>
            <a:off x="7251192" y="3950208"/>
            <a:ext cx="1508760" cy="237744"/>
          </a:xfrm>
          <a:prstGeom prst="rect">
            <a:avLst/>
          </a:prstGeom>
          <a:noFill/>
          <a:ln/>
        </p:spPr>
        <p:txBody>
          <a:bodyPr wrap="square" lIns="0" tIns="0" rIns="0" bIns="0" rtlCol="0" anchor="ctr"/>
          <a:lstStyle/>
          <a:p>
            <a:pPr marL="0" indent="0" algn="ctr">
              <a:buNone/>
            </a:pPr>
            <a:r>
              <a:rPr lang="en-US" sz="1300" b="1" dirty="0">
                <a:solidFill>
                  <a:srgbClr val="111827"/>
                </a:solidFill>
                <a:latin typeface="Yu Gothic" pitchFamily="34" charset="0"/>
                <a:ea typeface="Yu Gothic" pitchFamily="34" charset="-122"/>
                <a:cs typeface="Yu Gothic" pitchFamily="34" charset="-120"/>
              </a:rPr>
              <a:t>grade3</a:t>
            </a:r>
            <a:endParaRPr lang="en-US" sz="1300" dirty="0"/>
          </a:p>
        </p:txBody>
      </p:sp>
      <p:sp>
        <p:nvSpPr>
          <p:cNvPr id="29" name="Text 27"/>
          <p:cNvSpPr/>
          <p:nvPr/>
        </p:nvSpPr>
        <p:spPr>
          <a:xfrm>
            <a:off x="7251192" y="4297680"/>
            <a:ext cx="1508760" cy="256032"/>
          </a:xfrm>
          <a:prstGeom prst="rect">
            <a:avLst/>
          </a:prstGeom>
          <a:noFill/>
          <a:ln/>
        </p:spPr>
        <p:txBody>
          <a:bodyPr wrap="square" lIns="0" tIns="0" rIns="0" bIns="0" rtlCol="0" anchor="ctr"/>
          <a:lstStyle/>
          <a:p>
            <a:pPr marL="0" indent="0" algn="ctr">
              <a:buNone/>
            </a:pPr>
            <a:r>
              <a:rPr lang="en-US" sz="1400" b="1" dirty="0">
                <a:solidFill>
                  <a:srgbClr val="1F4E79"/>
                </a:solidFill>
                <a:latin typeface="Yu Gothic" pitchFamily="34" charset="0"/>
                <a:ea typeface="Yu Gothic" pitchFamily="34" charset="-122"/>
                <a:cs typeface="Yu Gothic" pitchFamily="34" charset="-120"/>
              </a:rPr>
              <a:t>39名</a:t>
            </a:r>
            <a:endParaRPr lang="en-US" sz="1400" dirty="0"/>
          </a:p>
        </p:txBody>
      </p:sp>
      <p:sp>
        <p:nvSpPr>
          <p:cNvPr id="30" name="Text 28"/>
          <p:cNvSpPr/>
          <p:nvPr/>
        </p:nvSpPr>
        <p:spPr>
          <a:xfrm>
            <a:off x="7251192" y="4626864"/>
            <a:ext cx="1508760" cy="219456"/>
          </a:xfrm>
          <a:prstGeom prst="rect">
            <a:avLst/>
          </a:prstGeom>
          <a:noFill/>
          <a:ln/>
        </p:spPr>
        <p:txBody>
          <a:bodyPr wrap="square" lIns="0" tIns="0" rIns="0" bIns="0" rtlCol="0" anchor="ctr"/>
          <a:lstStyle/>
          <a:p>
            <a:pPr marL="0" indent="0" algn="ctr">
              <a:buNone/>
            </a:pPr>
            <a:r>
              <a:rPr lang="en-US" sz="1050" dirty="0">
                <a:solidFill>
                  <a:srgbClr val="4B5563"/>
                </a:solidFill>
                <a:latin typeface="Yu Gothic" pitchFamily="34" charset="0"/>
                <a:ea typeface="Yu Gothic" pitchFamily="34" charset="-122"/>
                <a:cs typeface="Yu Gothic" pitchFamily="34" charset="-120"/>
              </a:rPr>
              <a:t>3.4%</a:t>
            </a:r>
            <a:endParaRPr lang="en-US" sz="1050" dirty="0"/>
          </a:p>
        </p:txBody>
      </p:sp>
      <p:sp>
        <p:nvSpPr>
          <p:cNvPr id="31" name="Shape 29"/>
          <p:cNvSpPr/>
          <p:nvPr/>
        </p:nvSpPr>
        <p:spPr>
          <a:xfrm>
            <a:off x="9262872" y="3822192"/>
            <a:ext cx="1783080" cy="1143000"/>
          </a:xfrm>
          <a:prstGeom prst="roundRect">
            <a:avLst>
              <a:gd name="adj" fmla="val 5600"/>
            </a:avLst>
          </a:prstGeom>
          <a:solidFill>
            <a:srgbClr val="FFFFFF"/>
          </a:solidFill>
          <a:ln w="12700">
            <a:solidFill>
              <a:srgbClr val="D6DEE8"/>
            </a:solidFill>
            <a:prstDash val="solid"/>
          </a:ln>
        </p:spPr>
      </p:sp>
      <p:sp>
        <p:nvSpPr>
          <p:cNvPr id="32" name="Text 30"/>
          <p:cNvSpPr/>
          <p:nvPr/>
        </p:nvSpPr>
        <p:spPr>
          <a:xfrm>
            <a:off x="9372600" y="3950208"/>
            <a:ext cx="1508760" cy="237744"/>
          </a:xfrm>
          <a:prstGeom prst="rect">
            <a:avLst/>
          </a:prstGeom>
          <a:noFill/>
          <a:ln/>
        </p:spPr>
        <p:txBody>
          <a:bodyPr wrap="square" lIns="0" tIns="0" rIns="0" bIns="0" rtlCol="0" anchor="ctr"/>
          <a:lstStyle/>
          <a:p>
            <a:pPr marL="0" indent="0" algn="ctr">
              <a:buNone/>
            </a:pPr>
            <a:r>
              <a:rPr lang="en-US" sz="1300" b="1" dirty="0">
                <a:solidFill>
                  <a:srgbClr val="111827"/>
                </a:solidFill>
                <a:latin typeface="Yu Gothic" pitchFamily="34" charset="0"/>
                <a:ea typeface="Yu Gothic" pitchFamily="34" charset="-122"/>
                <a:cs typeface="Yu Gothic" pitchFamily="34" charset="-120"/>
              </a:rPr>
              <a:t>grade4</a:t>
            </a:r>
            <a:endParaRPr lang="en-US" sz="1300" dirty="0"/>
          </a:p>
        </p:txBody>
      </p:sp>
      <p:sp>
        <p:nvSpPr>
          <p:cNvPr id="33" name="Text 31"/>
          <p:cNvSpPr/>
          <p:nvPr/>
        </p:nvSpPr>
        <p:spPr>
          <a:xfrm>
            <a:off x="9372600" y="4297680"/>
            <a:ext cx="1508760" cy="256032"/>
          </a:xfrm>
          <a:prstGeom prst="rect">
            <a:avLst/>
          </a:prstGeom>
          <a:noFill/>
          <a:ln/>
        </p:spPr>
        <p:txBody>
          <a:bodyPr wrap="square" lIns="0" tIns="0" rIns="0" bIns="0" rtlCol="0" anchor="ctr"/>
          <a:lstStyle/>
          <a:p>
            <a:pPr marL="0" indent="0" algn="ctr">
              <a:buNone/>
            </a:pPr>
            <a:r>
              <a:rPr lang="en-US" sz="1400" b="1" dirty="0">
                <a:solidFill>
                  <a:srgbClr val="1F4E79"/>
                </a:solidFill>
                <a:latin typeface="Yu Gothic" pitchFamily="34" charset="0"/>
                <a:ea typeface="Yu Gothic" pitchFamily="34" charset="-122"/>
                <a:cs typeface="Yu Gothic" pitchFamily="34" charset="-120"/>
              </a:rPr>
              <a:t>8名</a:t>
            </a:r>
            <a:endParaRPr lang="en-US" sz="1400" dirty="0"/>
          </a:p>
        </p:txBody>
      </p:sp>
      <p:sp>
        <p:nvSpPr>
          <p:cNvPr id="34" name="Text 32"/>
          <p:cNvSpPr/>
          <p:nvPr/>
        </p:nvSpPr>
        <p:spPr>
          <a:xfrm>
            <a:off x="9372600" y="4626864"/>
            <a:ext cx="1508760" cy="219456"/>
          </a:xfrm>
          <a:prstGeom prst="rect">
            <a:avLst/>
          </a:prstGeom>
          <a:noFill/>
          <a:ln/>
        </p:spPr>
        <p:txBody>
          <a:bodyPr wrap="square" lIns="0" tIns="0" rIns="0" bIns="0" rtlCol="0" anchor="ctr"/>
          <a:lstStyle/>
          <a:p>
            <a:pPr marL="0" indent="0" algn="ctr">
              <a:buNone/>
            </a:pPr>
            <a:r>
              <a:rPr lang="en-US" sz="1050" dirty="0">
                <a:solidFill>
                  <a:srgbClr val="4B5563"/>
                </a:solidFill>
                <a:latin typeface="Yu Gothic" pitchFamily="34" charset="0"/>
                <a:ea typeface="Yu Gothic" pitchFamily="34" charset="-122"/>
                <a:cs typeface="Yu Gothic" pitchFamily="34" charset="-120"/>
              </a:rPr>
              <a:t>0.7%</a:t>
            </a:r>
            <a:endParaRPr lang="en-US" sz="1050" dirty="0"/>
          </a:p>
        </p:txBody>
      </p:sp>
      <p:sp>
        <p:nvSpPr>
          <p:cNvPr id="35" name="Text 33"/>
          <p:cNvSpPr/>
          <p:nvPr/>
        </p:nvSpPr>
        <p:spPr>
          <a:xfrm>
            <a:off x="594360" y="6190488"/>
            <a:ext cx="9692640" cy="201168"/>
          </a:xfrm>
          <a:prstGeom prst="rect">
            <a:avLst/>
          </a:prstGeom>
          <a:noFill/>
          <a:ln/>
        </p:spPr>
        <p:txBody>
          <a:bodyPr wrap="square" lIns="0" tIns="0" rIns="0" bIns="0" rtlCol="0" anchor="ctr"/>
          <a:lstStyle/>
          <a:p>
            <a:pPr marL="0" indent="0">
              <a:buNone/>
            </a:pPr>
            <a:r>
              <a:rPr lang="en-US" sz="2000" dirty="0">
                <a:solidFill>
                  <a:srgbClr val="6B7280"/>
                </a:solidFill>
                <a:latin typeface="Yu Gothic" pitchFamily="34" charset="0"/>
                <a:ea typeface="Yu Gothic" pitchFamily="34" charset="-122"/>
                <a:cs typeface="Yu Gothic" pitchFamily="34" charset="-120"/>
              </a:rPr>
              <a:t>高グレードほど症例数が少なく，クラス不均衡への対応が重要となる。</a:t>
            </a:r>
            <a:endParaRPr lang="en-US" sz="2000" dirty="0"/>
          </a:p>
        </p:txBody>
      </p:sp>
      <p:sp>
        <p:nvSpPr>
          <p:cNvPr id="36"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Yu Gothic"/>
                <a:ea typeface="Yu Gothic"/>
                <a:cs typeface="Yu Gothic"/>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20040"/>
            <a:ext cx="9875520" cy="411480"/>
          </a:xfrm>
          <a:prstGeom prst="rect">
            <a:avLst/>
          </a:prstGeom>
          <a:noFill/>
          <a:ln/>
        </p:spPr>
        <p:txBody>
          <a:bodyPr wrap="square" lIns="0" tIns="0" rIns="0" bIns="0" rtlCol="0" anchor="ctr"/>
          <a:lstStyle/>
          <a:p>
            <a:pPr marL="0" indent="0">
              <a:buNone/>
            </a:pPr>
            <a:r>
              <a:rPr lang="en-US" sz="2400" b="1" dirty="0">
                <a:solidFill>
                  <a:srgbClr val="111827"/>
                </a:solidFill>
                <a:latin typeface="Yu Gothic" pitchFamily="34" charset="0"/>
                <a:ea typeface="Yu Gothic" pitchFamily="34" charset="-122"/>
                <a:cs typeface="Yu Gothic" pitchFamily="34" charset="-120"/>
              </a:rPr>
              <a:t>研究手法</a:t>
            </a:r>
            <a:endParaRPr lang="en-US" sz="2400" dirty="0"/>
          </a:p>
        </p:txBody>
      </p:sp>
      <p:sp>
        <p:nvSpPr>
          <p:cNvPr id="3" name="Shape 1"/>
          <p:cNvSpPr/>
          <p:nvPr/>
        </p:nvSpPr>
        <p:spPr>
          <a:xfrm>
            <a:off x="594360" y="868680"/>
            <a:ext cx="11018520" cy="0"/>
          </a:xfrm>
          <a:prstGeom prst="line">
            <a:avLst/>
          </a:prstGeom>
          <a:noFill/>
          <a:ln w="25400">
            <a:solidFill>
              <a:srgbClr val="1F4E79"/>
            </a:solidFill>
            <a:prstDash val="solid"/>
          </a:ln>
        </p:spPr>
      </p:sp>
      <p:sp>
        <p:nvSpPr>
          <p:cNvPr id="5" name="Shape 3"/>
          <p:cNvSpPr/>
          <p:nvPr/>
        </p:nvSpPr>
        <p:spPr>
          <a:xfrm>
            <a:off x="621792" y="1828800"/>
            <a:ext cx="1901952" cy="1691640"/>
          </a:xfrm>
          <a:prstGeom prst="roundRect">
            <a:avLst>
              <a:gd name="adj" fmla="val 4324"/>
            </a:avLst>
          </a:prstGeom>
          <a:solidFill>
            <a:srgbClr val="FFFFFF"/>
          </a:solidFill>
          <a:ln w="15240">
            <a:solidFill>
              <a:srgbClr val="D6DEE8"/>
            </a:solidFill>
            <a:prstDash val="solid"/>
          </a:ln>
        </p:spPr>
      </p:sp>
      <p:sp>
        <p:nvSpPr>
          <p:cNvPr id="6" name="Shape 4"/>
          <p:cNvSpPr/>
          <p:nvPr/>
        </p:nvSpPr>
        <p:spPr>
          <a:xfrm>
            <a:off x="1298448" y="1298448"/>
            <a:ext cx="530352" cy="530352"/>
          </a:xfrm>
          <a:prstGeom prst="ellipse">
            <a:avLst/>
          </a:prstGeom>
          <a:solidFill>
            <a:srgbClr val="1F4E79"/>
          </a:solidFill>
          <a:ln w="12700">
            <a:solidFill>
              <a:srgbClr val="1F4E79"/>
            </a:solidFill>
            <a:prstDash val="solid"/>
          </a:ln>
        </p:spPr>
      </p:sp>
      <p:sp>
        <p:nvSpPr>
          <p:cNvPr id="7" name="Text 5"/>
          <p:cNvSpPr/>
          <p:nvPr/>
        </p:nvSpPr>
        <p:spPr>
          <a:xfrm>
            <a:off x="1298448" y="1389888"/>
            <a:ext cx="530352" cy="201168"/>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8" name="Text 6"/>
          <p:cNvSpPr/>
          <p:nvPr/>
        </p:nvSpPr>
        <p:spPr>
          <a:xfrm>
            <a:off x="749808" y="2039112"/>
            <a:ext cx="1645920" cy="292608"/>
          </a:xfrm>
          <a:prstGeom prst="rect">
            <a:avLst/>
          </a:prstGeom>
          <a:noFill/>
          <a:ln/>
        </p:spPr>
        <p:txBody>
          <a:bodyPr wrap="square" lIns="0" tIns="0" rIns="0" bIns="0" rtlCol="0" anchor="ctr">
            <a:normAutofit/>
          </a:bodyPr>
          <a:lstStyle/>
          <a:p>
            <a:pPr marL="0" indent="0" algn="ctr">
              <a:buNone/>
            </a:pPr>
            <a:r>
              <a:rPr lang="en-US" sz="1450" b="1" dirty="0">
                <a:solidFill>
                  <a:srgbClr val="111827"/>
                </a:solidFill>
                <a:latin typeface="Yu Gothic" pitchFamily="34" charset="0"/>
                <a:ea typeface="Yu Gothic" pitchFamily="34" charset="-122"/>
                <a:cs typeface="Yu Gothic" pitchFamily="34" charset="-120"/>
              </a:rPr>
              <a:t>MRI画像</a:t>
            </a:r>
            <a:endParaRPr lang="en-US" sz="1450" dirty="0"/>
          </a:p>
        </p:txBody>
      </p:sp>
      <p:sp>
        <p:nvSpPr>
          <p:cNvPr id="9" name="Text 7"/>
          <p:cNvSpPr/>
          <p:nvPr/>
        </p:nvSpPr>
        <p:spPr>
          <a:xfrm>
            <a:off x="749808" y="2532888"/>
            <a:ext cx="1645920" cy="438912"/>
          </a:xfrm>
          <a:prstGeom prst="rect">
            <a:avLst/>
          </a:prstGeom>
          <a:noFill/>
          <a:ln/>
        </p:spPr>
        <p:txBody>
          <a:bodyPr wrap="square" lIns="0" tIns="0" rIns="0" bIns="0" rtlCol="0" anchor="ctr">
            <a:normAutofit/>
          </a:bodyPr>
          <a:lstStyle/>
          <a:p>
            <a:pPr marL="0" indent="0" algn="ctr">
              <a:buNone/>
            </a:pPr>
            <a:r>
              <a:rPr lang="en-US" sz="1150" dirty="0">
                <a:solidFill>
                  <a:srgbClr val="4B5563"/>
                </a:solidFill>
                <a:latin typeface="Yu Gothic" pitchFamily="34" charset="0"/>
                <a:ea typeface="Yu Gothic" pitchFamily="34" charset="-122"/>
                <a:cs typeface="Yu Gothic" pitchFamily="34" charset="-120"/>
              </a:rPr>
              <a:t>T1 / T2 / FLAIR</a:t>
            </a:r>
            <a:endParaRPr lang="en-US" sz="1150" dirty="0"/>
          </a:p>
        </p:txBody>
      </p:sp>
      <p:sp>
        <p:nvSpPr>
          <p:cNvPr id="10" name="Shape 8"/>
          <p:cNvSpPr/>
          <p:nvPr/>
        </p:nvSpPr>
        <p:spPr>
          <a:xfrm>
            <a:off x="2569464" y="2679192"/>
            <a:ext cx="274320" cy="0"/>
          </a:xfrm>
          <a:prstGeom prst="line">
            <a:avLst/>
          </a:prstGeom>
          <a:noFill/>
          <a:ln w="19050">
            <a:solidFill>
              <a:srgbClr val="2F75B5"/>
            </a:solidFill>
            <a:prstDash val="solid"/>
            <a:headEnd type="none"/>
            <a:tailEnd type="triangle"/>
          </a:ln>
        </p:spPr>
      </p:sp>
      <p:sp>
        <p:nvSpPr>
          <p:cNvPr id="11" name="Shape 9"/>
          <p:cNvSpPr/>
          <p:nvPr/>
        </p:nvSpPr>
        <p:spPr>
          <a:xfrm>
            <a:off x="2926080" y="1828800"/>
            <a:ext cx="1901952" cy="1691640"/>
          </a:xfrm>
          <a:prstGeom prst="roundRect">
            <a:avLst>
              <a:gd name="adj" fmla="val 4324"/>
            </a:avLst>
          </a:prstGeom>
          <a:solidFill>
            <a:srgbClr val="FFFFFF"/>
          </a:solidFill>
          <a:ln w="15240">
            <a:solidFill>
              <a:srgbClr val="D6DEE8"/>
            </a:solidFill>
            <a:prstDash val="solid"/>
          </a:ln>
        </p:spPr>
      </p:sp>
      <p:sp>
        <p:nvSpPr>
          <p:cNvPr id="12" name="Shape 10"/>
          <p:cNvSpPr/>
          <p:nvPr/>
        </p:nvSpPr>
        <p:spPr>
          <a:xfrm>
            <a:off x="3602736" y="1298448"/>
            <a:ext cx="530352" cy="530352"/>
          </a:xfrm>
          <a:prstGeom prst="ellipse">
            <a:avLst/>
          </a:prstGeom>
          <a:solidFill>
            <a:srgbClr val="1F4E79"/>
          </a:solidFill>
          <a:ln w="12700">
            <a:solidFill>
              <a:srgbClr val="1F4E79"/>
            </a:solidFill>
            <a:prstDash val="solid"/>
          </a:ln>
        </p:spPr>
      </p:sp>
      <p:sp>
        <p:nvSpPr>
          <p:cNvPr id="13" name="Text 11"/>
          <p:cNvSpPr/>
          <p:nvPr/>
        </p:nvSpPr>
        <p:spPr>
          <a:xfrm>
            <a:off x="3602736" y="1389888"/>
            <a:ext cx="530352" cy="201168"/>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14" name="Text 12"/>
          <p:cNvSpPr/>
          <p:nvPr/>
        </p:nvSpPr>
        <p:spPr>
          <a:xfrm>
            <a:off x="3054096" y="2039112"/>
            <a:ext cx="1645920" cy="292608"/>
          </a:xfrm>
          <a:prstGeom prst="rect">
            <a:avLst/>
          </a:prstGeom>
          <a:noFill/>
          <a:ln/>
        </p:spPr>
        <p:txBody>
          <a:bodyPr wrap="square" lIns="0" tIns="0" rIns="0" bIns="0" rtlCol="0" anchor="ctr">
            <a:normAutofit/>
          </a:bodyPr>
          <a:lstStyle/>
          <a:p>
            <a:pPr marL="0" indent="0" algn="ctr">
              <a:buNone/>
            </a:pPr>
            <a:r>
              <a:rPr lang="en-US" sz="1450" b="1" dirty="0">
                <a:solidFill>
                  <a:srgbClr val="111827"/>
                </a:solidFill>
                <a:latin typeface="Yu Gothic" pitchFamily="34" charset="0"/>
                <a:ea typeface="Yu Gothic" pitchFamily="34" charset="-122"/>
                <a:cs typeface="Yu Gothic" pitchFamily="34" charset="-120"/>
              </a:rPr>
              <a:t>前処理</a:t>
            </a:r>
            <a:endParaRPr lang="en-US" sz="1450" dirty="0"/>
          </a:p>
        </p:txBody>
      </p:sp>
      <p:sp>
        <p:nvSpPr>
          <p:cNvPr id="15" name="Text 13"/>
          <p:cNvSpPr/>
          <p:nvPr/>
        </p:nvSpPr>
        <p:spPr>
          <a:xfrm>
            <a:off x="3054096" y="2532888"/>
            <a:ext cx="1645920" cy="438912"/>
          </a:xfrm>
          <a:prstGeom prst="rect">
            <a:avLst/>
          </a:prstGeom>
          <a:noFill/>
          <a:ln/>
        </p:spPr>
        <p:txBody>
          <a:bodyPr wrap="square" lIns="0" tIns="0" rIns="0" bIns="0" rtlCol="0" anchor="ctr">
            <a:normAutofit/>
          </a:bodyPr>
          <a:lstStyle/>
          <a:p>
            <a:pPr marL="0" indent="0" algn="ctr">
              <a:buNone/>
            </a:pPr>
            <a:r>
              <a:rPr lang="en-US" sz="1150" dirty="0">
                <a:solidFill>
                  <a:srgbClr val="4B5563"/>
                </a:solidFill>
                <a:latin typeface="Yu Gothic" pitchFamily="34" charset="0"/>
                <a:ea typeface="Yu Gothic" pitchFamily="34" charset="-122"/>
                <a:cs typeface="Yu Gothic" pitchFamily="34" charset="-120"/>
              </a:rPr>
              <a:t>リサイズ・正規化</a:t>
            </a:r>
            <a:endParaRPr lang="en-US" sz="1150" dirty="0"/>
          </a:p>
        </p:txBody>
      </p:sp>
      <p:sp>
        <p:nvSpPr>
          <p:cNvPr id="16" name="Shape 14"/>
          <p:cNvSpPr/>
          <p:nvPr/>
        </p:nvSpPr>
        <p:spPr>
          <a:xfrm>
            <a:off x="4873752" y="2679192"/>
            <a:ext cx="274320" cy="0"/>
          </a:xfrm>
          <a:prstGeom prst="line">
            <a:avLst/>
          </a:prstGeom>
          <a:noFill/>
          <a:ln w="19050">
            <a:solidFill>
              <a:srgbClr val="2F75B5"/>
            </a:solidFill>
            <a:prstDash val="solid"/>
            <a:headEnd type="none"/>
            <a:tailEnd type="triangle"/>
          </a:ln>
        </p:spPr>
      </p:sp>
      <p:sp>
        <p:nvSpPr>
          <p:cNvPr id="17" name="Shape 15"/>
          <p:cNvSpPr/>
          <p:nvPr/>
        </p:nvSpPr>
        <p:spPr>
          <a:xfrm>
            <a:off x="5230368" y="1828800"/>
            <a:ext cx="1901952" cy="1691640"/>
          </a:xfrm>
          <a:prstGeom prst="roundRect">
            <a:avLst>
              <a:gd name="adj" fmla="val 4324"/>
            </a:avLst>
          </a:prstGeom>
          <a:solidFill>
            <a:srgbClr val="FFFFFF"/>
          </a:solidFill>
          <a:ln w="15240">
            <a:solidFill>
              <a:srgbClr val="D6DEE8"/>
            </a:solidFill>
            <a:prstDash val="solid"/>
          </a:ln>
        </p:spPr>
      </p:sp>
      <p:sp>
        <p:nvSpPr>
          <p:cNvPr id="18" name="Shape 16"/>
          <p:cNvSpPr/>
          <p:nvPr/>
        </p:nvSpPr>
        <p:spPr>
          <a:xfrm>
            <a:off x="5907024" y="1298448"/>
            <a:ext cx="530352" cy="530352"/>
          </a:xfrm>
          <a:prstGeom prst="ellipse">
            <a:avLst/>
          </a:prstGeom>
          <a:solidFill>
            <a:srgbClr val="1F4E79"/>
          </a:solidFill>
          <a:ln w="12700">
            <a:solidFill>
              <a:srgbClr val="1F4E79"/>
            </a:solidFill>
            <a:prstDash val="solid"/>
          </a:ln>
        </p:spPr>
      </p:sp>
      <p:sp>
        <p:nvSpPr>
          <p:cNvPr id="19" name="Text 17"/>
          <p:cNvSpPr/>
          <p:nvPr/>
        </p:nvSpPr>
        <p:spPr>
          <a:xfrm>
            <a:off x="5907024" y="1389888"/>
            <a:ext cx="530352" cy="201168"/>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3</a:t>
            </a:r>
            <a:endParaRPr lang="en-US" sz="1200" dirty="0"/>
          </a:p>
        </p:txBody>
      </p:sp>
      <p:sp>
        <p:nvSpPr>
          <p:cNvPr id="20" name="Text 18"/>
          <p:cNvSpPr/>
          <p:nvPr/>
        </p:nvSpPr>
        <p:spPr>
          <a:xfrm>
            <a:off x="5358384" y="2039112"/>
            <a:ext cx="1645920" cy="292608"/>
          </a:xfrm>
          <a:prstGeom prst="rect">
            <a:avLst/>
          </a:prstGeom>
          <a:noFill/>
          <a:ln/>
        </p:spPr>
        <p:txBody>
          <a:bodyPr wrap="square" lIns="0" tIns="0" rIns="0" bIns="0" rtlCol="0" anchor="ctr">
            <a:normAutofit/>
          </a:bodyPr>
          <a:lstStyle/>
          <a:p>
            <a:pPr marL="0" indent="0" algn="ctr">
              <a:buNone/>
            </a:pPr>
            <a:r>
              <a:rPr lang="en-US" sz="1450" b="1" dirty="0">
                <a:solidFill>
                  <a:srgbClr val="111827"/>
                </a:solidFill>
                <a:latin typeface="Yu Gothic" pitchFamily="34" charset="0"/>
                <a:ea typeface="Yu Gothic" pitchFamily="34" charset="-122"/>
                <a:cs typeface="Yu Gothic" pitchFamily="34" charset="-120"/>
              </a:rPr>
              <a:t>全アキシャル断面</a:t>
            </a:r>
            <a:endParaRPr lang="en-US" sz="1450" dirty="0"/>
          </a:p>
        </p:txBody>
      </p:sp>
      <p:sp>
        <p:nvSpPr>
          <p:cNvPr id="21" name="Text 19"/>
          <p:cNvSpPr/>
          <p:nvPr/>
        </p:nvSpPr>
        <p:spPr>
          <a:xfrm>
            <a:off x="5358384" y="2532888"/>
            <a:ext cx="1645920" cy="438912"/>
          </a:xfrm>
          <a:prstGeom prst="rect">
            <a:avLst/>
          </a:prstGeom>
          <a:noFill/>
          <a:ln/>
        </p:spPr>
        <p:txBody>
          <a:bodyPr wrap="square" lIns="0" tIns="0" rIns="0" bIns="0" rtlCol="0" anchor="ctr">
            <a:normAutofit/>
          </a:bodyPr>
          <a:lstStyle/>
          <a:p>
            <a:pPr marL="0" indent="0" algn="ctr">
              <a:buNone/>
            </a:pPr>
            <a:r>
              <a:rPr lang="en-US" sz="1150" dirty="0">
                <a:solidFill>
                  <a:srgbClr val="4B5563"/>
                </a:solidFill>
                <a:latin typeface="Yu Gothic" pitchFamily="34" charset="0"/>
                <a:ea typeface="Yu Gothic" pitchFamily="34" charset="-122"/>
                <a:cs typeface="Yu Gothic" pitchFamily="34" charset="-120"/>
              </a:rPr>
              <a:t>一部断面に限定しない</a:t>
            </a:r>
            <a:endParaRPr lang="en-US" sz="1150" dirty="0"/>
          </a:p>
        </p:txBody>
      </p:sp>
      <p:sp>
        <p:nvSpPr>
          <p:cNvPr id="22" name="Shape 20"/>
          <p:cNvSpPr/>
          <p:nvPr/>
        </p:nvSpPr>
        <p:spPr>
          <a:xfrm>
            <a:off x="7178040" y="2679192"/>
            <a:ext cx="274320" cy="0"/>
          </a:xfrm>
          <a:prstGeom prst="line">
            <a:avLst/>
          </a:prstGeom>
          <a:noFill/>
          <a:ln w="19050">
            <a:solidFill>
              <a:srgbClr val="2F75B5"/>
            </a:solidFill>
            <a:prstDash val="solid"/>
            <a:headEnd type="none"/>
            <a:tailEnd type="triangle"/>
          </a:ln>
        </p:spPr>
      </p:sp>
      <p:sp>
        <p:nvSpPr>
          <p:cNvPr id="23" name="Shape 21"/>
          <p:cNvSpPr/>
          <p:nvPr/>
        </p:nvSpPr>
        <p:spPr>
          <a:xfrm>
            <a:off x="7534656" y="1828800"/>
            <a:ext cx="1901952" cy="1691640"/>
          </a:xfrm>
          <a:prstGeom prst="roundRect">
            <a:avLst>
              <a:gd name="adj" fmla="val 4324"/>
            </a:avLst>
          </a:prstGeom>
          <a:solidFill>
            <a:srgbClr val="EEF5FB"/>
          </a:solidFill>
          <a:ln w="15240">
            <a:solidFill>
              <a:srgbClr val="D6DEE8"/>
            </a:solidFill>
            <a:prstDash val="solid"/>
          </a:ln>
        </p:spPr>
      </p:sp>
      <p:sp>
        <p:nvSpPr>
          <p:cNvPr id="24" name="Shape 22"/>
          <p:cNvSpPr/>
          <p:nvPr/>
        </p:nvSpPr>
        <p:spPr>
          <a:xfrm>
            <a:off x="8211312" y="1298448"/>
            <a:ext cx="530352" cy="530352"/>
          </a:xfrm>
          <a:prstGeom prst="ellipse">
            <a:avLst/>
          </a:prstGeom>
          <a:solidFill>
            <a:srgbClr val="1F4E79"/>
          </a:solidFill>
          <a:ln w="12700">
            <a:solidFill>
              <a:srgbClr val="1F4E79"/>
            </a:solidFill>
            <a:prstDash val="solid"/>
          </a:ln>
        </p:spPr>
      </p:sp>
      <p:sp>
        <p:nvSpPr>
          <p:cNvPr id="25" name="Text 23"/>
          <p:cNvSpPr/>
          <p:nvPr/>
        </p:nvSpPr>
        <p:spPr>
          <a:xfrm>
            <a:off x="8211312" y="1389888"/>
            <a:ext cx="530352" cy="201168"/>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4</a:t>
            </a:r>
            <a:endParaRPr lang="en-US" sz="1200" dirty="0"/>
          </a:p>
        </p:txBody>
      </p:sp>
      <p:sp>
        <p:nvSpPr>
          <p:cNvPr id="26" name="Text 24"/>
          <p:cNvSpPr/>
          <p:nvPr/>
        </p:nvSpPr>
        <p:spPr>
          <a:xfrm>
            <a:off x="7662672" y="2039112"/>
            <a:ext cx="1645920" cy="292608"/>
          </a:xfrm>
          <a:prstGeom prst="rect">
            <a:avLst/>
          </a:prstGeom>
          <a:noFill/>
          <a:ln/>
        </p:spPr>
        <p:txBody>
          <a:bodyPr wrap="square" lIns="0" tIns="0" rIns="0" bIns="0" rtlCol="0" anchor="ctr">
            <a:normAutofit/>
          </a:bodyPr>
          <a:lstStyle/>
          <a:p>
            <a:pPr marL="0" indent="0" algn="ctr">
              <a:buNone/>
            </a:pPr>
            <a:r>
              <a:rPr lang="en-US" sz="1450" b="1" dirty="0">
                <a:solidFill>
                  <a:srgbClr val="111827"/>
                </a:solidFill>
                <a:latin typeface="Yu Gothic" pitchFamily="34" charset="0"/>
                <a:ea typeface="Yu Gothic" pitchFamily="34" charset="-122"/>
                <a:cs typeface="Yu Gothic" pitchFamily="34" charset="-120"/>
              </a:rPr>
              <a:t>ViT学習</a:t>
            </a:r>
            <a:endParaRPr lang="en-US" sz="1450" dirty="0"/>
          </a:p>
        </p:txBody>
      </p:sp>
      <p:sp>
        <p:nvSpPr>
          <p:cNvPr id="27" name="Text 25"/>
          <p:cNvSpPr/>
          <p:nvPr/>
        </p:nvSpPr>
        <p:spPr>
          <a:xfrm>
            <a:off x="7662672" y="2532888"/>
            <a:ext cx="1645920" cy="438912"/>
          </a:xfrm>
          <a:prstGeom prst="rect">
            <a:avLst/>
          </a:prstGeom>
          <a:noFill/>
          <a:ln/>
        </p:spPr>
        <p:txBody>
          <a:bodyPr wrap="square" lIns="0" tIns="0" rIns="0" bIns="0" rtlCol="0" anchor="ctr">
            <a:normAutofit/>
          </a:bodyPr>
          <a:lstStyle/>
          <a:p>
            <a:pPr marL="0" indent="0" algn="ctr">
              <a:buNone/>
            </a:pPr>
            <a:r>
              <a:rPr lang="en-US" sz="1150" dirty="0">
                <a:solidFill>
                  <a:srgbClr val="4B5563"/>
                </a:solidFill>
                <a:latin typeface="Yu Gothic" pitchFamily="34" charset="0"/>
                <a:ea typeface="Yu Gothic" pitchFamily="34" charset="-122"/>
                <a:cs typeface="Yu Gothic" pitchFamily="34" charset="-120"/>
              </a:rPr>
              <a:t>パッチ化・Self-Attention</a:t>
            </a:r>
            <a:endParaRPr lang="en-US" sz="1150" dirty="0"/>
          </a:p>
        </p:txBody>
      </p:sp>
      <p:sp>
        <p:nvSpPr>
          <p:cNvPr id="28" name="Shape 26"/>
          <p:cNvSpPr/>
          <p:nvPr/>
        </p:nvSpPr>
        <p:spPr>
          <a:xfrm>
            <a:off x="9482328" y="2679192"/>
            <a:ext cx="274320" cy="0"/>
          </a:xfrm>
          <a:prstGeom prst="line">
            <a:avLst/>
          </a:prstGeom>
          <a:noFill/>
          <a:ln w="19050">
            <a:solidFill>
              <a:srgbClr val="2F75B5"/>
            </a:solidFill>
            <a:prstDash val="solid"/>
            <a:headEnd type="none"/>
            <a:tailEnd type="triangle"/>
          </a:ln>
        </p:spPr>
      </p:sp>
      <p:sp>
        <p:nvSpPr>
          <p:cNvPr id="29" name="Shape 27"/>
          <p:cNvSpPr/>
          <p:nvPr/>
        </p:nvSpPr>
        <p:spPr>
          <a:xfrm>
            <a:off x="9838944" y="1828800"/>
            <a:ext cx="1901952" cy="1691640"/>
          </a:xfrm>
          <a:prstGeom prst="roundRect">
            <a:avLst>
              <a:gd name="adj" fmla="val 4324"/>
            </a:avLst>
          </a:prstGeom>
          <a:solidFill>
            <a:srgbClr val="FFFFFF"/>
          </a:solidFill>
          <a:ln w="15240">
            <a:solidFill>
              <a:srgbClr val="D6DEE8"/>
            </a:solidFill>
            <a:prstDash val="solid"/>
          </a:ln>
        </p:spPr>
      </p:sp>
      <p:sp>
        <p:nvSpPr>
          <p:cNvPr id="30" name="Shape 28"/>
          <p:cNvSpPr/>
          <p:nvPr/>
        </p:nvSpPr>
        <p:spPr>
          <a:xfrm>
            <a:off x="10515600" y="1298448"/>
            <a:ext cx="530352" cy="530352"/>
          </a:xfrm>
          <a:prstGeom prst="ellipse">
            <a:avLst/>
          </a:prstGeom>
          <a:solidFill>
            <a:srgbClr val="1F4E79"/>
          </a:solidFill>
          <a:ln w="12700">
            <a:solidFill>
              <a:srgbClr val="1F4E79"/>
            </a:solidFill>
            <a:prstDash val="solid"/>
          </a:ln>
        </p:spPr>
      </p:sp>
      <p:sp>
        <p:nvSpPr>
          <p:cNvPr id="31" name="Text 29"/>
          <p:cNvSpPr/>
          <p:nvPr/>
        </p:nvSpPr>
        <p:spPr>
          <a:xfrm>
            <a:off x="10515600" y="1389888"/>
            <a:ext cx="530352" cy="201168"/>
          </a:xfrm>
          <a:prstGeom prst="rect">
            <a:avLst/>
          </a:prstGeom>
          <a:noFill/>
          <a:ln/>
        </p:spPr>
        <p:txBody>
          <a:bodyPr wrap="square" lIns="0" tIns="0" rIns="0" bIns="0" rtlCol="0" anchor="ctr"/>
          <a:lstStyle/>
          <a:p>
            <a:pPr marL="0" indent="0" algn="ctr">
              <a:buNone/>
            </a:pPr>
            <a:r>
              <a:rPr lang="en-US" sz="1200" b="1" dirty="0">
                <a:solidFill>
                  <a:srgbClr val="FFFFFF"/>
                </a:solidFill>
                <a:latin typeface="Yu Gothic" pitchFamily="34" charset="0"/>
                <a:ea typeface="Yu Gothic" pitchFamily="34" charset="-122"/>
                <a:cs typeface="Yu Gothic" pitchFamily="34" charset="-120"/>
              </a:rPr>
              <a:t>5</a:t>
            </a:r>
            <a:endParaRPr lang="en-US" sz="1200" dirty="0"/>
          </a:p>
        </p:txBody>
      </p:sp>
      <p:sp>
        <p:nvSpPr>
          <p:cNvPr id="32" name="Text 30"/>
          <p:cNvSpPr/>
          <p:nvPr/>
        </p:nvSpPr>
        <p:spPr>
          <a:xfrm>
            <a:off x="9966960" y="2039112"/>
            <a:ext cx="1645920" cy="292608"/>
          </a:xfrm>
          <a:prstGeom prst="rect">
            <a:avLst/>
          </a:prstGeom>
          <a:noFill/>
          <a:ln/>
        </p:spPr>
        <p:txBody>
          <a:bodyPr wrap="square" lIns="0" tIns="0" rIns="0" bIns="0" rtlCol="0" anchor="ctr">
            <a:normAutofit/>
          </a:bodyPr>
          <a:lstStyle/>
          <a:p>
            <a:pPr marL="0" indent="0" algn="ctr">
              <a:buNone/>
            </a:pPr>
            <a:r>
              <a:rPr lang="en-US" sz="1450" b="1" dirty="0">
                <a:solidFill>
                  <a:srgbClr val="111827"/>
                </a:solidFill>
                <a:latin typeface="Yu Gothic" pitchFamily="34" charset="0"/>
                <a:ea typeface="Yu Gothic" pitchFamily="34" charset="-122"/>
                <a:cs typeface="Yu Gothic" pitchFamily="34" charset="-120"/>
              </a:rPr>
              <a:t>評価</a:t>
            </a:r>
            <a:endParaRPr lang="en-US" sz="1450" dirty="0"/>
          </a:p>
        </p:txBody>
      </p:sp>
      <p:sp>
        <p:nvSpPr>
          <p:cNvPr id="33" name="Text 31"/>
          <p:cNvSpPr/>
          <p:nvPr/>
        </p:nvSpPr>
        <p:spPr>
          <a:xfrm>
            <a:off x="9966960" y="2532888"/>
            <a:ext cx="1645920" cy="438912"/>
          </a:xfrm>
          <a:prstGeom prst="rect">
            <a:avLst/>
          </a:prstGeom>
          <a:noFill/>
          <a:ln/>
        </p:spPr>
        <p:txBody>
          <a:bodyPr wrap="square" lIns="0" tIns="0" rIns="0" bIns="0" rtlCol="0" anchor="ctr">
            <a:normAutofit/>
          </a:bodyPr>
          <a:lstStyle/>
          <a:p>
            <a:pPr marL="0" indent="0" algn="ctr">
              <a:buNone/>
            </a:pPr>
            <a:r>
              <a:rPr lang="en-US" sz="1150" dirty="0">
                <a:solidFill>
                  <a:srgbClr val="4B5563"/>
                </a:solidFill>
                <a:latin typeface="Yu Gothic" pitchFamily="34" charset="0"/>
                <a:ea typeface="Yu Gothic" pitchFamily="34" charset="-122"/>
                <a:cs typeface="Yu Gothic" pitchFamily="34" charset="-120"/>
              </a:rPr>
              <a:t>CNNとの比較</a:t>
            </a:r>
            <a:endParaRPr lang="en-US" sz="1150" dirty="0"/>
          </a:p>
        </p:txBody>
      </p:sp>
      <p:sp>
        <p:nvSpPr>
          <p:cNvPr id="34" name="Shape 32"/>
          <p:cNvSpPr/>
          <p:nvPr/>
        </p:nvSpPr>
        <p:spPr>
          <a:xfrm>
            <a:off x="960120" y="4343400"/>
            <a:ext cx="10287000" cy="1005840"/>
          </a:xfrm>
          <a:prstGeom prst="roundRect">
            <a:avLst>
              <a:gd name="adj" fmla="val 7273"/>
            </a:avLst>
          </a:prstGeom>
          <a:solidFill>
            <a:srgbClr val="F8FAFC"/>
          </a:solidFill>
          <a:ln w="13970">
            <a:solidFill>
              <a:srgbClr val="D6DEE8"/>
            </a:solidFill>
            <a:prstDash val="solid"/>
          </a:ln>
        </p:spPr>
      </p:sp>
      <p:sp>
        <p:nvSpPr>
          <p:cNvPr id="35" name="Text 33"/>
          <p:cNvSpPr/>
          <p:nvPr/>
        </p:nvSpPr>
        <p:spPr>
          <a:xfrm>
            <a:off x="1161288" y="4480560"/>
            <a:ext cx="9884664" cy="301752"/>
          </a:xfrm>
          <a:prstGeom prst="rect">
            <a:avLst/>
          </a:prstGeom>
          <a:noFill/>
          <a:ln/>
        </p:spPr>
        <p:txBody>
          <a:bodyPr wrap="square" lIns="0" tIns="0" rIns="0" bIns="0" rtlCol="0" anchor="ctr"/>
          <a:lstStyle/>
          <a:p>
            <a:pPr marL="0" indent="0">
              <a:buNone/>
            </a:pPr>
            <a:r>
              <a:rPr lang="en-US" sz="1350" b="1" dirty="0">
                <a:solidFill>
                  <a:srgbClr val="1F4E79"/>
                </a:solidFill>
                <a:latin typeface="Yu Gothic" pitchFamily="34" charset="0"/>
                <a:ea typeface="Yu Gothic" pitchFamily="34" charset="-122"/>
                <a:cs typeface="Yu Gothic" pitchFamily="34" charset="-120"/>
              </a:rPr>
              <a:t>ViTで期待すること</a:t>
            </a:r>
            <a:endParaRPr lang="en-US" sz="1350" dirty="0"/>
          </a:p>
        </p:txBody>
      </p:sp>
      <p:sp>
        <p:nvSpPr>
          <p:cNvPr id="36" name="Text 34"/>
          <p:cNvSpPr/>
          <p:nvPr/>
        </p:nvSpPr>
        <p:spPr>
          <a:xfrm>
            <a:off x="1161288" y="4846320"/>
            <a:ext cx="9884664" cy="384048"/>
          </a:xfrm>
          <a:prstGeom prst="rect">
            <a:avLst/>
          </a:prstGeom>
          <a:noFill/>
          <a:ln/>
        </p:spPr>
        <p:txBody>
          <a:bodyPr wrap="square" lIns="254" tIns="254" rIns="254" bIns="254" rtlCol="0" anchor="t">
            <a:normAutofit lnSpcReduction="10000"/>
          </a:bodyPr>
          <a:lstStyle/>
          <a:p>
            <a:pPr marL="0" indent="0">
              <a:buNone/>
            </a:pPr>
            <a:r>
              <a:rPr lang="en-US" sz="1320" dirty="0">
                <a:solidFill>
                  <a:srgbClr val="111827"/>
                </a:solidFill>
                <a:latin typeface="Yu Gothic" pitchFamily="34" charset="0"/>
                <a:ea typeface="Yu Gothic" pitchFamily="34" charset="-122"/>
                <a:cs typeface="Yu Gothic" pitchFamily="34" charset="-120"/>
              </a:rPr>
              <a:t>画像をパッチに分割し，Self-Attentionにより画像内の広域的な関係を学習する。全アキシャル断面を利用することで，一部断面に依存しない分類を検討する。</a:t>
            </a:r>
            <a:endParaRPr lang="en-US" sz="1320" dirty="0"/>
          </a:p>
        </p:txBody>
      </p:sp>
      <p:sp>
        <p:nvSpPr>
          <p:cNvPr id="37"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Yu Gothic"/>
                <a:ea typeface="Yu Gothic"/>
                <a:cs typeface="Yu Gothic"/>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20040"/>
            <a:ext cx="9875520" cy="411480"/>
          </a:xfrm>
          <a:prstGeom prst="rect">
            <a:avLst/>
          </a:prstGeom>
          <a:noFill/>
          <a:ln/>
        </p:spPr>
        <p:txBody>
          <a:bodyPr wrap="square" lIns="0" tIns="0" rIns="0" bIns="0" rtlCol="0" anchor="ctr"/>
          <a:lstStyle/>
          <a:p>
            <a:pPr marL="0" indent="0">
              <a:buNone/>
            </a:pPr>
            <a:r>
              <a:rPr lang="en-US" sz="2400" b="1" dirty="0">
                <a:solidFill>
                  <a:srgbClr val="111827"/>
                </a:solidFill>
                <a:latin typeface="Yu Gothic" pitchFamily="34" charset="0"/>
                <a:ea typeface="Yu Gothic" pitchFamily="34" charset="-122"/>
                <a:cs typeface="Yu Gothic" pitchFamily="34" charset="-120"/>
              </a:rPr>
              <a:t>比較・評価方針</a:t>
            </a:r>
            <a:endParaRPr lang="en-US" sz="2400" dirty="0"/>
          </a:p>
        </p:txBody>
      </p:sp>
      <p:sp>
        <p:nvSpPr>
          <p:cNvPr id="3" name="Shape 1"/>
          <p:cNvSpPr/>
          <p:nvPr/>
        </p:nvSpPr>
        <p:spPr>
          <a:xfrm>
            <a:off x="594360" y="868680"/>
            <a:ext cx="11018520" cy="0"/>
          </a:xfrm>
          <a:prstGeom prst="line">
            <a:avLst/>
          </a:prstGeom>
          <a:noFill/>
          <a:ln w="25400">
            <a:solidFill>
              <a:srgbClr val="1F4E79"/>
            </a:solidFill>
            <a:prstDash val="solid"/>
          </a:ln>
        </p:spPr>
      </p:sp>
      <p:sp>
        <p:nvSpPr>
          <p:cNvPr id="4" name="Text 2"/>
          <p:cNvSpPr/>
          <p:nvPr/>
        </p:nvSpPr>
        <p:spPr>
          <a:xfrm>
            <a:off x="621792" y="941832"/>
            <a:ext cx="10332720" cy="274320"/>
          </a:xfrm>
          <a:prstGeom prst="rect">
            <a:avLst/>
          </a:prstGeom>
          <a:noFill/>
          <a:ln/>
        </p:spPr>
        <p:txBody>
          <a:bodyPr wrap="square" lIns="0" tIns="0" rIns="0" bIns="0" rtlCol="0" anchor="ctr"/>
          <a:lstStyle/>
          <a:p>
            <a:pPr marL="0" indent="0">
              <a:buNone/>
            </a:pPr>
            <a:r>
              <a:rPr lang="en-US" sz="2000" dirty="0">
                <a:solidFill>
                  <a:srgbClr val="4B5563"/>
                </a:solidFill>
                <a:latin typeface="Yu Gothic" pitchFamily="34" charset="0"/>
                <a:ea typeface="Yu Gothic" pitchFamily="34" charset="-122"/>
                <a:cs typeface="Yu Gothic" pitchFamily="34" charset="-120"/>
              </a:rPr>
              <a:t>先行CNN研究を基準としてViTの有効性を検討する</a:t>
            </a:r>
            <a:endParaRPr lang="en-US" sz="2000" dirty="0"/>
          </a:p>
        </p:txBody>
      </p:sp>
      <p:sp>
        <p:nvSpPr>
          <p:cNvPr id="5" name="Shape 3"/>
          <p:cNvSpPr/>
          <p:nvPr/>
        </p:nvSpPr>
        <p:spPr>
          <a:xfrm>
            <a:off x="731520" y="1325880"/>
            <a:ext cx="5074920" cy="1874520"/>
          </a:xfrm>
          <a:prstGeom prst="roundRect">
            <a:avLst>
              <a:gd name="adj" fmla="val 3902"/>
            </a:avLst>
          </a:prstGeom>
          <a:solidFill>
            <a:srgbClr val="F7F9FC"/>
          </a:solidFill>
          <a:ln w="13970">
            <a:solidFill>
              <a:srgbClr val="D6DEE8"/>
            </a:solidFill>
            <a:prstDash val="solid"/>
          </a:ln>
        </p:spPr>
      </p:sp>
      <p:sp>
        <p:nvSpPr>
          <p:cNvPr id="6" name="Text 4"/>
          <p:cNvSpPr/>
          <p:nvPr/>
        </p:nvSpPr>
        <p:spPr>
          <a:xfrm>
            <a:off x="932688" y="1463040"/>
            <a:ext cx="4672584" cy="301752"/>
          </a:xfrm>
          <a:prstGeom prst="rect">
            <a:avLst/>
          </a:prstGeom>
          <a:noFill/>
          <a:ln/>
        </p:spPr>
        <p:txBody>
          <a:bodyPr wrap="square" lIns="0" tIns="0" rIns="0" bIns="0" rtlCol="0" anchor="ctr"/>
          <a:lstStyle/>
          <a:p>
            <a:pPr marL="0" indent="0">
              <a:buNone/>
            </a:pPr>
            <a:r>
              <a:rPr lang="en-US" sz="1500" b="1" dirty="0">
                <a:solidFill>
                  <a:srgbClr val="1F4E79"/>
                </a:solidFill>
                <a:latin typeface="Yu Gothic" pitchFamily="34" charset="0"/>
                <a:ea typeface="Yu Gothic" pitchFamily="34" charset="-122"/>
                <a:cs typeface="Yu Gothic" pitchFamily="34" charset="-120"/>
              </a:rPr>
              <a:t>先行CNN研究の参考結果</a:t>
            </a:r>
            <a:endParaRPr lang="en-US" sz="1500" dirty="0"/>
          </a:p>
        </p:txBody>
      </p:sp>
      <p:sp>
        <p:nvSpPr>
          <p:cNvPr id="7" name="Text 5"/>
          <p:cNvSpPr/>
          <p:nvPr/>
        </p:nvSpPr>
        <p:spPr>
          <a:xfrm>
            <a:off x="932688" y="1828800"/>
            <a:ext cx="4672584" cy="1252728"/>
          </a:xfrm>
          <a:prstGeom prst="rect">
            <a:avLst/>
          </a:prstGeom>
          <a:noFill/>
          <a:ln/>
        </p:spPr>
        <p:txBody>
          <a:bodyPr wrap="square" lIns="254" tIns="254" rIns="254" bIns="254" rtlCol="0" anchor="t">
            <a:normAutofit/>
          </a:bodyPr>
          <a:lstStyle/>
          <a:p>
            <a:pPr marL="0" indent="0">
              <a:buNone/>
            </a:pPr>
            <a:r>
              <a:rPr lang="en-US" sz="1420" dirty="0">
                <a:solidFill>
                  <a:srgbClr val="111827"/>
                </a:solidFill>
                <a:latin typeface="Yu Gothic" pitchFamily="34" charset="0"/>
                <a:ea typeface="Yu Gothic" pitchFamily="34" charset="-122"/>
                <a:cs typeface="Yu Gothic" pitchFamily="34" charset="-120"/>
              </a:rPr>
              <a:t>・高性能を示した断面：axial 9〜15</a:t>
            </a:r>
            <a:endParaRPr lang="en-US" sz="1420" dirty="0"/>
          </a:p>
          <a:p>
            <a:pPr marL="0" indent="0">
              <a:buNone/>
            </a:pPr>
            <a:r>
              <a:rPr lang="en-US" sz="1420" dirty="0">
                <a:solidFill>
                  <a:srgbClr val="111827"/>
                </a:solidFill>
                <a:latin typeface="Yu Gothic" pitchFamily="34" charset="0"/>
                <a:ea typeface="Yu Gothic" pitchFamily="34" charset="-122"/>
                <a:cs typeface="Yu Gothic" pitchFamily="34" charset="-120"/>
              </a:rPr>
              <a:t>・撮影方法：FLAIR画像 + T1強調画像</a:t>
            </a:r>
            <a:endParaRPr lang="en-US" sz="1420" dirty="0"/>
          </a:p>
          <a:p>
            <a:pPr marL="0" indent="0">
              <a:buNone/>
            </a:pPr>
            <a:r>
              <a:rPr lang="en-US" sz="1420" dirty="0">
                <a:solidFill>
                  <a:srgbClr val="111827"/>
                </a:solidFill>
                <a:latin typeface="Yu Gothic" pitchFamily="34" charset="0"/>
                <a:ea typeface="Yu Gothic" pitchFamily="34" charset="-122"/>
                <a:cs typeface="Yu Gothic" pitchFamily="34" charset="-120"/>
              </a:rPr>
              <a:t>・test accuracy：0.9209</a:t>
            </a:r>
            <a:endParaRPr lang="en-US" sz="1420" dirty="0"/>
          </a:p>
        </p:txBody>
      </p:sp>
      <p:sp>
        <p:nvSpPr>
          <p:cNvPr id="8" name="Shape 6"/>
          <p:cNvSpPr/>
          <p:nvPr/>
        </p:nvSpPr>
        <p:spPr>
          <a:xfrm>
            <a:off x="6355080" y="1325880"/>
            <a:ext cx="5074920" cy="1874520"/>
          </a:xfrm>
          <a:prstGeom prst="roundRect">
            <a:avLst>
              <a:gd name="adj" fmla="val 3902"/>
            </a:avLst>
          </a:prstGeom>
          <a:solidFill>
            <a:srgbClr val="F7F9FC"/>
          </a:solidFill>
          <a:ln w="13970">
            <a:solidFill>
              <a:srgbClr val="D6DEE8"/>
            </a:solidFill>
            <a:prstDash val="solid"/>
          </a:ln>
        </p:spPr>
      </p:sp>
      <p:sp>
        <p:nvSpPr>
          <p:cNvPr id="9" name="Text 7"/>
          <p:cNvSpPr/>
          <p:nvPr/>
        </p:nvSpPr>
        <p:spPr>
          <a:xfrm>
            <a:off x="6556248" y="1463040"/>
            <a:ext cx="4672584" cy="301752"/>
          </a:xfrm>
          <a:prstGeom prst="rect">
            <a:avLst/>
          </a:prstGeom>
          <a:noFill/>
          <a:ln/>
        </p:spPr>
        <p:txBody>
          <a:bodyPr wrap="square" lIns="0" tIns="0" rIns="0" bIns="0" rtlCol="0" anchor="ctr"/>
          <a:lstStyle/>
          <a:p>
            <a:pPr marL="0" indent="0">
              <a:buNone/>
            </a:pPr>
            <a:r>
              <a:rPr lang="en-US" sz="1500" b="1" dirty="0">
                <a:solidFill>
                  <a:srgbClr val="1F4E79"/>
                </a:solidFill>
                <a:latin typeface="Yu Gothic" pitchFamily="34" charset="0"/>
                <a:ea typeface="Yu Gothic" pitchFamily="34" charset="-122"/>
                <a:cs typeface="Yu Gothic" pitchFamily="34" charset="-120"/>
              </a:rPr>
              <a:t>本研究で確認すること</a:t>
            </a:r>
            <a:endParaRPr lang="en-US" sz="1500" dirty="0"/>
          </a:p>
        </p:txBody>
      </p:sp>
      <p:sp>
        <p:nvSpPr>
          <p:cNvPr id="10" name="Text 8"/>
          <p:cNvSpPr/>
          <p:nvPr/>
        </p:nvSpPr>
        <p:spPr>
          <a:xfrm>
            <a:off x="6556248" y="1828800"/>
            <a:ext cx="4672584" cy="1252728"/>
          </a:xfrm>
          <a:prstGeom prst="rect">
            <a:avLst/>
          </a:prstGeom>
          <a:noFill/>
          <a:ln/>
        </p:spPr>
        <p:txBody>
          <a:bodyPr wrap="square" lIns="254" tIns="254" rIns="254" bIns="254" rtlCol="0" anchor="t">
            <a:normAutofit/>
          </a:bodyPr>
          <a:lstStyle/>
          <a:p>
            <a:pPr marL="0" indent="0">
              <a:buNone/>
            </a:pPr>
            <a:r>
              <a:rPr lang="en-US" sz="1420" dirty="0">
                <a:solidFill>
                  <a:srgbClr val="111827"/>
                </a:solidFill>
                <a:latin typeface="Yu Gothic" pitchFamily="34" charset="0"/>
                <a:ea typeface="Yu Gothic" pitchFamily="34" charset="-122"/>
                <a:cs typeface="Yu Gothic" pitchFamily="34" charset="-120"/>
              </a:rPr>
              <a:t>・ViTがCNNと比較して有効か</a:t>
            </a:r>
            <a:endParaRPr lang="en-US" sz="1420" dirty="0"/>
          </a:p>
          <a:p>
            <a:pPr marL="0" indent="0">
              <a:buNone/>
            </a:pPr>
            <a:r>
              <a:rPr lang="en-US" sz="1420" dirty="0">
                <a:solidFill>
                  <a:srgbClr val="111827"/>
                </a:solidFill>
                <a:latin typeface="Yu Gothic" pitchFamily="34" charset="0"/>
                <a:ea typeface="Yu Gothic" pitchFamily="34" charset="-122"/>
                <a:cs typeface="Yu Gothic" pitchFamily="34" charset="-120"/>
              </a:rPr>
              <a:t>・全断面利用が性能向上につながるか</a:t>
            </a:r>
            <a:endParaRPr lang="en-US" sz="1420" dirty="0"/>
          </a:p>
          <a:p>
            <a:pPr marL="0" indent="0">
              <a:buNone/>
            </a:pPr>
            <a:r>
              <a:rPr lang="en-US" sz="1420" dirty="0">
                <a:solidFill>
                  <a:srgbClr val="111827"/>
                </a:solidFill>
                <a:latin typeface="Yu Gothic" pitchFamily="34" charset="0"/>
                <a:ea typeface="Yu Gothic" pitchFamily="34" charset="-122"/>
                <a:cs typeface="Yu Gothic" pitchFamily="34" charset="-120"/>
              </a:rPr>
              <a:t>・高グレードの少数クラスを分類できるか</a:t>
            </a:r>
            <a:endParaRPr lang="en-US" sz="1420" dirty="0"/>
          </a:p>
        </p:txBody>
      </p:sp>
      <p:sp>
        <p:nvSpPr>
          <p:cNvPr id="11" name="Text 9"/>
          <p:cNvSpPr/>
          <p:nvPr/>
        </p:nvSpPr>
        <p:spPr>
          <a:xfrm>
            <a:off x="777240" y="3685032"/>
            <a:ext cx="1371600" cy="228600"/>
          </a:xfrm>
          <a:prstGeom prst="rect">
            <a:avLst/>
          </a:prstGeom>
          <a:noFill/>
          <a:ln/>
        </p:spPr>
        <p:txBody>
          <a:bodyPr wrap="square" lIns="0" tIns="0" rIns="0" bIns="0" rtlCol="0" anchor="ctr"/>
          <a:lstStyle/>
          <a:p>
            <a:pPr marL="0" indent="0">
              <a:buNone/>
            </a:pPr>
            <a:r>
              <a:rPr lang="en-US" sz="1350" b="1" dirty="0">
                <a:solidFill>
                  <a:srgbClr val="1F4E79"/>
                </a:solidFill>
                <a:latin typeface="Yu Gothic" pitchFamily="34" charset="0"/>
                <a:ea typeface="Yu Gothic" pitchFamily="34" charset="-122"/>
                <a:cs typeface="Yu Gothic" pitchFamily="34" charset="-120"/>
              </a:rPr>
              <a:t>評価指標</a:t>
            </a:r>
            <a:endParaRPr lang="en-US" sz="1350" dirty="0"/>
          </a:p>
        </p:txBody>
      </p:sp>
      <p:sp>
        <p:nvSpPr>
          <p:cNvPr id="12" name="Shape 10"/>
          <p:cNvSpPr/>
          <p:nvPr/>
        </p:nvSpPr>
        <p:spPr>
          <a:xfrm>
            <a:off x="777240" y="4114800"/>
            <a:ext cx="1828800" cy="685800"/>
          </a:xfrm>
          <a:prstGeom prst="roundRect">
            <a:avLst>
              <a:gd name="adj" fmla="val 8000"/>
            </a:avLst>
          </a:prstGeom>
          <a:solidFill>
            <a:srgbClr val="FFFFFF"/>
          </a:solidFill>
          <a:ln w="12700">
            <a:solidFill>
              <a:srgbClr val="2F75B5"/>
            </a:solidFill>
            <a:prstDash val="solid"/>
          </a:ln>
        </p:spPr>
      </p:sp>
      <p:sp>
        <p:nvSpPr>
          <p:cNvPr id="13" name="Text 11"/>
          <p:cNvSpPr/>
          <p:nvPr/>
        </p:nvSpPr>
        <p:spPr>
          <a:xfrm>
            <a:off x="777240" y="4315968"/>
            <a:ext cx="1828800" cy="201168"/>
          </a:xfrm>
          <a:prstGeom prst="rect">
            <a:avLst/>
          </a:prstGeom>
          <a:noFill/>
          <a:ln/>
        </p:spPr>
        <p:txBody>
          <a:bodyPr wrap="square" lIns="0" tIns="0" rIns="0" bIns="0" rtlCol="0" anchor="ctr">
            <a:normAutofit/>
          </a:bodyPr>
          <a:lstStyle/>
          <a:p>
            <a:pPr marL="0" indent="0" algn="ctr">
              <a:buNone/>
            </a:pPr>
            <a:r>
              <a:rPr lang="en-US" sz="1250" b="1" dirty="0">
                <a:solidFill>
                  <a:srgbClr val="111827"/>
                </a:solidFill>
                <a:latin typeface="Yu Gothic" pitchFamily="34" charset="0"/>
                <a:ea typeface="Yu Gothic" pitchFamily="34" charset="-122"/>
                <a:cs typeface="Yu Gothic" pitchFamily="34" charset="-120"/>
              </a:rPr>
              <a:t>Accuracy</a:t>
            </a:r>
            <a:endParaRPr lang="en-US" sz="1250" dirty="0"/>
          </a:p>
        </p:txBody>
      </p:sp>
      <p:sp>
        <p:nvSpPr>
          <p:cNvPr id="14" name="Shape 12"/>
          <p:cNvSpPr/>
          <p:nvPr/>
        </p:nvSpPr>
        <p:spPr>
          <a:xfrm>
            <a:off x="2999232" y="4114800"/>
            <a:ext cx="1828800" cy="685800"/>
          </a:xfrm>
          <a:prstGeom prst="roundRect">
            <a:avLst>
              <a:gd name="adj" fmla="val 8000"/>
            </a:avLst>
          </a:prstGeom>
          <a:solidFill>
            <a:srgbClr val="FFFFFF"/>
          </a:solidFill>
          <a:ln w="12700">
            <a:solidFill>
              <a:srgbClr val="2F75B5"/>
            </a:solidFill>
            <a:prstDash val="solid"/>
          </a:ln>
        </p:spPr>
      </p:sp>
      <p:sp>
        <p:nvSpPr>
          <p:cNvPr id="15" name="Text 13"/>
          <p:cNvSpPr/>
          <p:nvPr/>
        </p:nvSpPr>
        <p:spPr>
          <a:xfrm>
            <a:off x="2999232" y="4315968"/>
            <a:ext cx="1828800" cy="201168"/>
          </a:xfrm>
          <a:prstGeom prst="rect">
            <a:avLst/>
          </a:prstGeom>
          <a:noFill/>
          <a:ln/>
        </p:spPr>
        <p:txBody>
          <a:bodyPr wrap="square" lIns="0" tIns="0" rIns="0" bIns="0" rtlCol="0" anchor="ctr">
            <a:normAutofit/>
          </a:bodyPr>
          <a:lstStyle/>
          <a:p>
            <a:pPr marL="0" indent="0" algn="ctr">
              <a:buNone/>
            </a:pPr>
            <a:r>
              <a:rPr lang="en-US" sz="1250" b="1" dirty="0">
                <a:solidFill>
                  <a:srgbClr val="111827"/>
                </a:solidFill>
                <a:latin typeface="Yu Gothic" pitchFamily="34" charset="0"/>
                <a:ea typeface="Yu Gothic" pitchFamily="34" charset="-122"/>
                <a:cs typeface="Yu Gothic" pitchFamily="34" charset="-120"/>
              </a:rPr>
              <a:t>F1-score</a:t>
            </a:r>
            <a:endParaRPr lang="en-US" sz="1250" dirty="0"/>
          </a:p>
        </p:txBody>
      </p:sp>
      <p:sp>
        <p:nvSpPr>
          <p:cNvPr id="16" name="Shape 14"/>
          <p:cNvSpPr/>
          <p:nvPr/>
        </p:nvSpPr>
        <p:spPr>
          <a:xfrm>
            <a:off x="5221224" y="4114800"/>
            <a:ext cx="1828800" cy="685800"/>
          </a:xfrm>
          <a:prstGeom prst="roundRect">
            <a:avLst>
              <a:gd name="adj" fmla="val 8000"/>
            </a:avLst>
          </a:prstGeom>
          <a:solidFill>
            <a:srgbClr val="FFFFFF"/>
          </a:solidFill>
          <a:ln w="12700">
            <a:solidFill>
              <a:srgbClr val="2F75B5"/>
            </a:solidFill>
            <a:prstDash val="solid"/>
          </a:ln>
        </p:spPr>
      </p:sp>
      <p:sp>
        <p:nvSpPr>
          <p:cNvPr id="17" name="Text 15"/>
          <p:cNvSpPr/>
          <p:nvPr/>
        </p:nvSpPr>
        <p:spPr>
          <a:xfrm>
            <a:off x="5221224" y="4315968"/>
            <a:ext cx="1828800" cy="201168"/>
          </a:xfrm>
          <a:prstGeom prst="rect">
            <a:avLst/>
          </a:prstGeom>
          <a:noFill/>
          <a:ln/>
        </p:spPr>
        <p:txBody>
          <a:bodyPr wrap="square" lIns="0" tIns="0" rIns="0" bIns="0" rtlCol="0" anchor="ctr">
            <a:normAutofit/>
          </a:bodyPr>
          <a:lstStyle/>
          <a:p>
            <a:pPr marL="0" indent="0" algn="ctr">
              <a:buNone/>
            </a:pPr>
            <a:r>
              <a:rPr lang="en-US" sz="1250" b="1" dirty="0">
                <a:solidFill>
                  <a:srgbClr val="111827"/>
                </a:solidFill>
                <a:latin typeface="Yu Gothic" pitchFamily="34" charset="0"/>
                <a:ea typeface="Yu Gothic" pitchFamily="34" charset="-122"/>
                <a:cs typeface="Yu Gothic" pitchFamily="34" charset="-120"/>
              </a:rPr>
              <a:t>ROC-AUC</a:t>
            </a:r>
            <a:endParaRPr lang="en-US" sz="1250" dirty="0"/>
          </a:p>
        </p:txBody>
      </p:sp>
      <p:sp>
        <p:nvSpPr>
          <p:cNvPr id="18" name="Shape 16"/>
          <p:cNvSpPr/>
          <p:nvPr/>
        </p:nvSpPr>
        <p:spPr>
          <a:xfrm>
            <a:off x="7443216" y="4114800"/>
            <a:ext cx="1828800" cy="685800"/>
          </a:xfrm>
          <a:prstGeom prst="roundRect">
            <a:avLst>
              <a:gd name="adj" fmla="val 8000"/>
            </a:avLst>
          </a:prstGeom>
          <a:solidFill>
            <a:srgbClr val="FFFFFF"/>
          </a:solidFill>
          <a:ln w="12700">
            <a:solidFill>
              <a:srgbClr val="2F75B5"/>
            </a:solidFill>
            <a:prstDash val="solid"/>
          </a:ln>
        </p:spPr>
      </p:sp>
      <p:sp>
        <p:nvSpPr>
          <p:cNvPr id="19" name="Text 17"/>
          <p:cNvSpPr/>
          <p:nvPr/>
        </p:nvSpPr>
        <p:spPr>
          <a:xfrm>
            <a:off x="7443216" y="4315968"/>
            <a:ext cx="1828800" cy="201168"/>
          </a:xfrm>
          <a:prstGeom prst="rect">
            <a:avLst/>
          </a:prstGeom>
          <a:noFill/>
          <a:ln/>
        </p:spPr>
        <p:txBody>
          <a:bodyPr wrap="square" lIns="0" tIns="0" rIns="0" bIns="0" rtlCol="0" anchor="ctr">
            <a:normAutofit/>
          </a:bodyPr>
          <a:lstStyle/>
          <a:p>
            <a:pPr marL="0" indent="0" algn="ctr">
              <a:buNone/>
            </a:pPr>
            <a:r>
              <a:rPr lang="en-US" sz="1250" b="1" dirty="0">
                <a:solidFill>
                  <a:srgbClr val="111827"/>
                </a:solidFill>
                <a:latin typeface="Yu Gothic" pitchFamily="34" charset="0"/>
                <a:ea typeface="Yu Gothic" pitchFamily="34" charset="-122"/>
                <a:cs typeface="Yu Gothic" pitchFamily="34" charset="-120"/>
              </a:rPr>
              <a:t>混同行列</a:t>
            </a:r>
            <a:endParaRPr lang="en-US" sz="1250" dirty="0"/>
          </a:p>
        </p:txBody>
      </p:sp>
      <p:sp>
        <p:nvSpPr>
          <p:cNvPr id="20" name="Shape 18"/>
          <p:cNvSpPr/>
          <p:nvPr/>
        </p:nvSpPr>
        <p:spPr>
          <a:xfrm>
            <a:off x="9665208" y="4114800"/>
            <a:ext cx="1828800" cy="685800"/>
          </a:xfrm>
          <a:prstGeom prst="roundRect">
            <a:avLst>
              <a:gd name="adj" fmla="val 8000"/>
            </a:avLst>
          </a:prstGeom>
          <a:solidFill>
            <a:srgbClr val="FFFFFF"/>
          </a:solidFill>
          <a:ln w="12700">
            <a:solidFill>
              <a:srgbClr val="2F75B5"/>
            </a:solidFill>
            <a:prstDash val="solid"/>
          </a:ln>
        </p:spPr>
      </p:sp>
      <p:sp>
        <p:nvSpPr>
          <p:cNvPr id="21" name="Text 19"/>
          <p:cNvSpPr/>
          <p:nvPr/>
        </p:nvSpPr>
        <p:spPr>
          <a:xfrm>
            <a:off x="9665208" y="4315968"/>
            <a:ext cx="1828800" cy="201168"/>
          </a:xfrm>
          <a:prstGeom prst="rect">
            <a:avLst/>
          </a:prstGeom>
          <a:noFill/>
          <a:ln/>
        </p:spPr>
        <p:txBody>
          <a:bodyPr wrap="square" lIns="0" tIns="0" rIns="0" bIns="0" rtlCol="0" anchor="ctr">
            <a:normAutofit/>
          </a:bodyPr>
          <a:lstStyle/>
          <a:p>
            <a:pPr marL="0" indent="0" algn="ctr">
              <a:buNone/>
            </a:pPr>
            <a:r>
              <a:rPr lang="en-US" sz="1250" b="1" dirty="0">
                <a:solidFill>
                  <a:srgbClr val="111827"/>
                </a:solidFill>
                <a:latin typeface="Yu Gothic" pitchFamily="34" charset="0"/>
                <a:ea typeface="Yu Gothic" pitchFamily="34" charset="-122"/>
                <a:cs typeface="Yu Gothic" pitchFamily="34" charset="-120"/>
              </a:rPr>
              <a:t>学習曲線</a:t>
            </a:r>
            <a:endParaRPr lang="en-US" sz="1250" dirty="0"/>
          </a:p>
        </p:txBody>
      </p:sp>
      <p:sp>
        <p:nvSpPr>
          <p:cNvPr id="22" name="Text 20"/>
          <p:cNvSpPr/>
          <p:nvPr/>
        </p:nvSpPr>
        <p:spPr>
          <a:xfrm>
            <a:off x="594360" y="6190488"/>
            <a:ext cx="9692640" cy="201168"/>
          </a:xfrm>
          <a:prstGeom prst="rect">
            <a:avLst/>
          </a:prstGeom>
          <a:noFill/>
          <a:ln/>
        </p:spPr>
        <p:txBody>
          <a:bodyPr wrap="square" lIns="0" tIns="0" rIns="0" bIns="0" rtlCol="0" anchor="ctr"/>
          <a:lstStyle/>
          <a:p>
            <a:pPr marL="0" indent="0">
              <a:buNone/>
            </a:pPr>
            <a:r>
              <a:rPr lang="en-US" sz="850" dirty="0">
                <a:solidFill>
                  <a:srgbClr val="6B7280"/>
                </a:solidFill>
                <a:latin typeface="Yu Gothic" pitchFamily="34" charset="0"/>
                <a:ea typeface="Yu Gothic" pitchFamily="34" charset="-122"/>
                <a:cs typeface="Yu Gothic" pitchFamily="34" charset="-120"/>
              </a:rPr>
              <a:t>精度だけでなく，クラス別性能と過学習の有無も確認する。</a:t>
            </a:r>
            <a:endParaRPr lang="en-US" sz="85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Yu Gothic"/>
                <a:ea typeface="Yu Gothic"/>
                <a:cs typeface="Yu Gothic"/>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20040"/>
            <a:ext cx="9875520" cy="411480"/>
          </a:xfrm>
          <a:prstGeom prst="rect">
            <a:avLst/>
          </a:prstGeom>
          <a:noFill/>
          <a:ln/>
        </p:spPr>
        <p:txBody>
          <a:bodyPr wrap="square" lIns="0" tIns="0" rIns="0" bIns="0" rtlCol="0" anchor="ctr"/>
          <a:lstStyle/>
          <a:p>
            <a:pPr marL="0" indent="0">
              <a:buNone/>
            </a:pPr>
            <a:r>
              <a:rPr lang="en-US" sz="2400" b="1" dirty="0">
                <a:solidFill>
                  <a:srgbClr val="111827"/>
                </a:solidFill>
                <a:latin typeface="Yu Gothic" pitchFamily="34" charset="0"/>
                <a:ea typeface="Yu Gothic" pitchFamily="34" charset="-122"/>
                <a:cs typeface="Yu Gothic" pitchFamily="34" charset="-120"/>
              </a:rPr>
              <a:t>今後の展望</a:t>
            </a:r>
            <a:endParaRPr lang="en-US" sz="2400" dirty="0"/>
          </a:p>
        </p:txBody>
      </p:sp>
      <p:sp>
        <p:nvSpPr>
          <p:cNvPr id="3" name="Shape 1"/>
          <p:cNvSpPr/>
          <p:nvPr/>
        </p:nvSpPr>
        <p:spPr>
          <a:xfrm>
            <a:off x="594360" y="868680"/>
            <a:ext cx="11018520" cy="0"/>
          </a:xfrm>
          <a:prstGeom prst="line">
            <a:avLst/>
          </a:prstGeom>
          <a:noFill/>
          <a:ln w="25400">
            <a:solidFill>
              <a:srgbClr val="1F4E79"/>
            </a:solidFill>
            <a:prstDash val="solid"/>
          </a:ln>
        </p:spPr>
      </p:sp>
      <p:sp>
        <p:nvSpPr>
          <p:cNvPr id="4" name="Text 2"/>
          <p:cNvSpPr/>
          <p:nvPr/>
        </p:nvSpPr>
        <p:spPr>
          <a:xfrm>
            <a:off x="621792" y="941832"/>
            <a:ext cx="10332720" cy="274320"/>
          </a:xfrm>
          <a:prstGeom prst="rect">
            <a:avLst/>
          </a:prstGeom>
          <a:noFill/>
          <a:ln/>
        </p:spPr>
        <p:txBody>
          <a:bodyPr wrap="square" lIns="0" tIns="0" rIns="0" bIns="0" rtlCol="0" anchor="ctr"/>
          <a:lstStyle/>
          <a:p>
            <a:pPr marL="0" indent="0">
              <a:buNone/>
            </a:pPr>
            <a:r>
              <a:rPr lang="en-US" sz="2000" dirty="0">
                <a:solidFill>
                  <a:srgbClr val="4B5563"/>
                </a:solidFill>
                <a:latin typeface="Yu Gothic" pitchFamily="34" charset="0"/>
                <a:ea typeface="Yu Gothic" pitchFamily="34" charset="-122"/>
                <a:cs typeface="Yu Gothic" pitchFamily="34" charset="-120"/>
              </a:rPr>
              <a:t>実験条件を整理し，ViTの有効性を段階的に検証する</a:t>
            </a:r>
            <a:endParaRPr lang="en-US" sz="2000" dirty="0"/>
          </a:p>
        </p:txBody>
      </p:sp>
      <p:sp>
        <p:nvSpPr>
          <p:cNvPr id="5" name="Shape 3"/>
          <p:cNvSpPr/>
          <p:nvPr/>
        </p:nvSpPr>
        <p:spPr>
          <a:xfrm>
            <a:off x="822960" y="1325880"/>
            <a:ext cx="3337560" cy="3566160"/>
          </a:xfrm>
          <a:prstGeom prst="roundRect">
            <a:avLst>
              <a:gd name="adj" fmla="val 2192"/>
            </a:avLst>
          </a:prstGeom>
          <a:solidFill>
            <a:srgbClr val="F7F9FC"/>
          </a:solidFill>
          <a:ln w="13970">
            <a:solidFill>
              <a:srgbClr val="D6DEE8"/>
            </a:solidFill>
            <a:prstDash val="solid"/>
          </a:ln>
        </p:spPr>
      </p:sp>
      <p:sp>
        <p:nvSpPr>
          <p:cNvPr id="6" name="Text 4"/>
          <p:cNvSpPr/>
          <p:nvPr/>
        </p:nvSpPr>
        <p:spPr>
          <a:xfrm>
            <a:off x="1024128" y="1463040"/>
            <a:ext cx="2935224" cy="301752"/>
          </a:xfrm>
          <a:prstGeom prst="rect">
            <a:avLst/>
          </a:prstGeom>
          <a:noFill/>
          <a:ln/>
        </p:spPr>
        <p:txBody>
          <a:bodyPr wrap="square" lIns="0" tIns="0" rIns="0" bIns="0" rtlCol="0" anchor="ctr"/>
          <a:lstStyle/>
          <a:p>
            <a:pPr marL="0" indent="0">
              <a:buNone/>
            </a:pPr>
            <a:r>
              <a:rPr lang="en-US" sz="1500" b="1" dirty="0">
                <a:solidFill>
                  <a:srgbClr val="1F4E79"/>
                </a:solidFill>
                <a:latin typeface="Yu Gothic" pitchFamily="34" charset="0"/>
                <a:ea typeface="Yu Gothic" pitchFamily="34" charset="-122"/>
                <a:cs typeface="Yu Gothic" pitchFamily="34" charset="-120"/>
              </a:rPr>
              <a:t>1. 再現実験</a:t>
            </a:r>
            <a:endParaRPr lang="en-US" sz="1500" dirty="0"/>
          </a:p>
        </p:txBody>
      </p:sp>
      <p:sp>
        <p:nvSpPr>
          <p:cNvPr id="7" name="Text 5"/>
          <p:cNvSpPr/>
          <p:nvPr/>
        </p:nvSpPr>
        <p:spPr>
          <a:xfrm>
            <a:off x="1024128" y="1828800"/>
            <a:ext cx="2935224" cy="2944368"/>
          </a:xfrm>
          <a:prstGeom prst="rect">
            <a:avLst/>
          </a:prstGeom>
          <a:noFill/>
          <a:ln/>
        </p:spPr>
        <p:txBody>
          <a:bodyPr wrap="square" lIns="254" tIns="254" rIns="254" bIns="254" rtlCol="0" anchor="t">
            <a:normAutofit/>
          </a:bodyPr>
          <a:lstStyle/>
          <a:p>
            <a:pPr marL="0" indent="0">
              <a:buNone/>
            </a:pPr>
            <a:r>
              <a:rPr lang="en-US" sz="1600" dirty="0">
                <a:solidFill>
                  <a:srgbClr val="111827"/>
                </a:solidFill>
                <a:latin typeface="Yu Gothic" pitchFamily="34" charset="0"/>
                <a:ea typeface="Yu Gothic" pitchFamily="34" charset="-122"/>
                <a:cs typeface="Yu Gothic" pitchFamily="34" charset="-120"/>
              </a:rPr>
              <a:t>先行研究のCNN実験を再現し，比較基準を作成する。</a:t>
            </a:r>
            <a:endParaRPr lang="en-US" sz="1600" dirty="0"/>
          </a:p>
        </p:txBody>
      </p:sp>
      <p:sp>
        <p:nvSpPr>
          <p:cNvPr id="8" name="Shape 6"/>
          <p:cNvSpPr/>
          <p:nvPr/>
        </p:nvSpPr>
        <p:spPr>
          <a:xfrm>
            <a:off x="4434840" y="1325880"/>
            <a:ext cx="3337560" cy="3566160"/>
          </a:xfrm>
          <a:prstGeom prst="roundRect">
            <a:avLst>
              <a:gd name="adj" fmla="val 2192"/>
            </a:avLst>
          </a:prstGeom>
          <a:solidFill>
            <a:srgbClr val="F7F9FC"/>
          </a:solidFill>
          <a:ln w="13970">
            <a:solidFill>
              <a:srgbClr val="D6DEE8"/>
            </a:solidFill>
            <a:prstDash val="solid"/>
          </a:ln>
        </p:spPr>
      </p:sp>
      <p:sp>
        <p:nvSpPr>
          <p:cNvPr id="9" name="Text 7"/>
          <p:cNvSpPr/>
          <p:nvPr/>
        </p:nvSpPr>
        <p:spPr>
          <a:xfrm>
            <a:off x="4636008" y="1463040"/>
            <a:ext cx="2935224" cy="301752"/>
          </a:xfrm>
          <a:prstGeom prst="rect">
            <a:avLst/>
          </a:prstGeom>
          <a:noFill/>
          <a:ln/>
        </p:spPr>
        <p:txBody>
          <a:bodyPr wrap="square" lIns="0" tIns="0" rIns="0" bIns="0" rtlCol="0" anchor="ctr"/>
          <a:lstStyle/>
          <a:p>
            <a:pPr marL="0" indent="0">
              <a:buNone/>
            </a:pPr>
            <a:r>
              <a:rPr lang="en-US" sz="1500" b="1" dirty="0">
                <a:solidFill>
                  <a:srgbClr val="1F4E79"/>
                </a:solidFill>
                <a:latin typeface="Yu Gothic" pitchFamily="34" charset="0"/>
                <a:ea typeface="Yu Gothic" pitchFamily="34" charset="-122"/>
                <a:cs typeface="Yu Gothic" pitchFamily="34" charset="-120"/>
              </a:rPr>
              <a:t>2. ViT実験</a:t>
            </a:r>
            <a:endParaRPr lang="en-US" sz="1500" dirty="0"/>
          </a:p>
        </p:txBody>
      </p:sp>
      <p:sp>
        <p:nvSpPr>
          <p:cNvPr id="10" name="Text 8"/>
          <p:cNvSpPr/>
          <p:nvPr/>
        </p:nvSpPr>
        <p:spPr>
          <a:xfrm>
            <a:off x="4636008" y="1828800"/>
            <a:ext cx="2935224" cy="2944368"/>
          </a:xfrm>
          <a:prstGeom prst="rect">
            <a:avLst/>
          </a:prstGeom>
          <a:noFill/>
          <a:ln/>
        </p:spPr>
        <p:txBody>
          <a:bodyPr wrap="square" lIns="254" tIns="254" rIns="254" bIns="254" rtlCol="0" anchor="t">
            <a:normAutofit/>
          </a:bodyPr>
          <a:lstStyle/>
          <a:p>
            <a:pPr marL="0" indent="0">
              <a:buNone/>
            </a:pPr>
            <a:r>
              <a:rPr lang="en-US" sz="1600" dirty="0">
                <a:solidFill>
                  <a:srgbClr val="111827"/>
                </a:solidFill>
                <a:latin typeface="Yu Gothic" pitchFamily="34" charset="0"/>
                <a:ea typeface="Yu Gothic" pitchFamily="34" charset="-122"/>
                <a:cs typeface="Yu Gothic" pitchFamily="34" charset="-120"/>
              </a:rPr>
              <a:t>全アキシャル断面を用いた学習条件を調整し，分類性能を評価する。</a:t>
            </a:r>
            <a:endParaRPr lang="en-US" sz="1600" dirty="0"/>
          </a:p>
        </p:txBody>
      </p:sp>
      <p:sp>
        <p:nvSpPr>
          <p:cNvPr id="11" name="Shape 9"/>
          <p:cNvSpPr/>
          <p:nvPr/>
        </p:nvSpPr>
        <p:spPr>
          <a:xfrm>
            <a:off x="8046720" y="1325880"/>
            <a:ext cx="3337560" cy="3566160"/>
          </a:xfrm>
          <a:prstGeom prst="roundRect">
            <a:avLst>
              <a:gd name="adj" fmla="val 2192"/>
            </a:avLst>
          </a:prstGeom>
          <a:solidFill>
            <a:srgbClr val="F7F9FC"/>
          </a:solidFill>
          <a:ln w="13970">
            <a:solidFill>
              <a:srgbClr val="D6DEE8"/>
            </a:solidFill>
            <a:prstDash val="solid"/>
          </a:ln>
        </p:spPr>
      </p:sp>
      <p:sp>
        <p:nvSpPr>
          <p:cNvPr id="12" name="Text 10"/>
          <p:cNvSpPr/>
          <p:nvPr/>
        </p:nvSpPr>
        <p:spPr>
          <a:xfrm>
            <a:off x="8247888" y="1463040"/>
            <a:ext cx="2935224" cy="301752"/>
          </a:xfrm>
          <a:prstGeom prst="rect">
            <a:avLst/>
          </a:prstGeom>
          <a:noFill/>
          <a:ln/>
        </p:spPr>
        <p:txBody>
          <a:bodyPr wrap="square" lIns="0" tIns="0" rIns="0" bIns="0" rtlCol="0" anchor="ctr"/>
          <a:lstStyle/>
          <a:p>
            <a:pPr marL="0" indent="0">
              <a:buNone/>
            </a:pPr>
            <a:r>
              <a:rPr lang="en-US" sz="1500" b="1" dirty="0">
                <a:solidFill>
                  <a:srgbClr val="1F4E79"/>
                </a:solidFill>
                <a:latin typeface="Yu Gothic" pitchFamily="34" charset="0"/>
                <a:ea typeface="Yu Gothic" pitchFamily="34" charset="-122"/>
                <a:cs typeface="Yu Gothic" pitchFamily="34" charset="-120"/>
              </a:rPr>
              <a:t>3. 発展</a:t>
            </a:r>
            <a:endParaRPr lang="en-US" sz="1500" dirty="0"/>
          </a:p>
        </p:txBody>
      </p:sp>
      <p:sp>
        <p:nvSpPr>
          <p:cNvPr id="13" name="Text 11"/>
          <p:cNvSpPr/>
          <p:nvPr/>
        </p:nvSpPr>
        <p:spPr>
          <a:xfrm>
            <a:off x="8247888" y="1828800"/>
            <a:ext cx="2935224" cy="2944368"/>
          </a:xfrm>
          <a:prstGeom prst="rect">
            <a:avLst/>
          </a:prstGeom>
          <a:noFill/>
          <a:ln/>
        </p:spPr>
        <p:txBody>
          <a:bodyPr wrap="square" lIns="254" tIns="254" rIns="254" bIns="254" rtlCol="0" anchor="t">
            <a:normAutofit/>
          </a:bodyPr>
          <a:lstStyle/>
          <a:p>
            <a:pPr marL="0" indent="0">
              <a:buNone/>
            </a:pPr>
            <a:r>
              <a:rPr lang="en-US" sz="1600" dirty="0">
                <a:solidFill>
                  <a:srgbClr val="111827"/>
                </a:solidFill>
                <a:latin typeface="Yu Gothic" pitchFamily="34" charset="0"/>
                <a:ea typeface="Yu Gothic" pitchFamily="34" charset="-122"/>
                <a:cs typeface="Yu Gothic" pitchFamily="34" charset="-120"/>
              </a:rPr>
              <a:t>検診データなどの表形式データを加え，マルチモーダル解析へ発展させる。</a:t>
            </a:r>
            <a:endParaRPr lang="en-US" sz="1600" dirty="0"/>
          </a:p>
        </p:txBody>
      </p:sp>
      <p:sp>
        <p:nvSpPr>
          <p:cNvPr id="14" name="Text 12"/>
          <p:cNvSpPr/>
          <p:nvPr/>
        </p:nvSpPr>
        <p:spPr>
          <a:xfrm>
            <a:off x="841248" y="5349240"/>
            <a:ext cx="10515600" cy="347472"/>
          </a:xfrm>
          <a:prstGeom prst="rect">
            <a:avLst/>
          </a:prstGeom>
          <a:noFill/>
          <a:ln/>
        </p:spPr>
        <p:txBody>
          <a:bodyPr wrap="square" lIns="0" tIns="0" rIns="0" bIns="0" rtlCol="0" anchor="ctr"/>
          <a:lstStyle/>
          <a:p>
            <a:pPr marL="0" indent="0" algn="ctr">
              <a:buNone/>
            </a:pPr>
            <a:endParaRPr lang="en-US" sz="155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Yu Gothic"/>
                <a:ea typeface="Yu Gothic"/>
                <a:cs typeface="Yu Gothic"/>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20040"/>
            <a:ext cx="9875520" cy="411480"/>
          </a:xfrm>
          <a:prstGeom prst="rect">
            <a:avLst/>
          </a:prstGeom>
          <a:noFill/>
          <a:ln/>
        </p:spPr>
        <p:txBody>
          <a:bodyPr wrap="square" lIns="0" tIns="0" rIns="0" bIns="0" rtlCol="0" anchor="ctr"/>
          <a:lstStyle/>
          <a:p>
            <a:pPr marL="0" indent="0">
              <a:buNone/>
            </a:pPr>
            <a:r>
              <a:rPr lang="en-US" sz="2400" b="1" dirty="0">
                <a:solidFill>
                  <a:srgbClr val="111827"/>
                </a:solidFill>
                <a:latin typeface="Yu Gothic" pitchFamily="34" charset="0"/>
                <a:ea typeface="Yu Gothic" pitchFamily="34" charset="-122"/>
                <a:cs typeface="Yu Gothic" pitchFamily="34" charset="-120"/>
              </a:rPr>
              <a:t>参考文献</a:t>
            </a:r>
            <a:endParaRPr lang="en-US" sz="2400" dirty="0"/>
          </a:p>
        </p:txBody>
      </p:sp>
      <p:sp>
        <p:nvSpPr>
          <p:cNvPr id="3" name="Shape 1"/>
          <p:cNvSpPr/>
          <p:nvPr/>
        </p:nvSpPr>
        <p:spPr>
          <a:xfrm>
            <a:off x="594360" y="868680"/>
            <a:ext cx="11018520" cy="0"/>
          </a:xfrm>
          <a:prstGeom prst="line">
            <a:avLst/>
          </a:prstGeom>
          <a:noFill/>
          <a:ln w="25400">
            <a:solidFill>
              <a:srgbClr val="1F4E79"/>
            </a:solidFill>
            <a:prstDash val="solid"/>
          </a:ln>
        </p:spPr>
      </p:sp>
      <p:sp>
        <p:nvSpPr>
          <p:cNvPr id="4" name="Text 2"/>
          <p:cNvSpPr/>
          <p:nvPr/>
        </p:nvSpPr>
        <p:spPr>
          <a:xfrm>
            <a:off x="769620" y="806197"/>
            <a:ext cx="10652760" cy="4267200"/>
          </a:xfrm>
          <a:prstGeom prst="rect">
            <a:avLst/>
          </a:prstGeom>
          <a:noFill/>
          <a:ln/>
        </p:spPr>
        <p:txBody>
          <a:bodyPr wrap="square" lIns="381" tIns="381" rIns="381" bIns="381" rtlCol="0" anchor="ctr">
            <a:normAutofit/>
          </a:bodyPr>
          <a:lstStyle/>
          <a:p>
            <a:pPr marL="0" indent="0">
              <a:buNone/>
            </a:pPr>
            <a:r>
              <a:rPr lang="en-US" sz="1250" dirty="0">
                <a:solidFill>
                  <a:srgbClr val="111827"/>
                </a:solidFill>
                <a:latin typeface="Yu Gothic" pitchFamily="34" charset="0"/>
                <a:ea typeface="Yu Gothic" pitchFamily="34" charset="-122"/>
                <a:cs typeface="Yu Gothic" pitchFamily="34" charset="-120"/>
              </a:rPr>
              <a:t>[1] 竹村典晃,「畳み込みニューラルネットワークを用いた大脳白質病変のグレード予測」, 公立諏訪東京理科大学卒業論文, 2023.</a:t>
            </a:r>
            <a:endParaRPr lang="en-US" sz="1250" dirty="0"/>
          </a:p>
          <a:p>
            <a:pPr marL="0" indent="0">
              <a:buNone/>
            </a:pPr>
            <a:endParaRPr lang="en-US" sz="1250" dirty="0"/>
          </a:p>
          <a:p>
            <a:pPr marL="0" indent="0">
              <a:buNone/>
            </a:pPr>
            <a:r>
              <a:rPr lang="en-US" sz="1250" dirty="0">
                <a:solidFill>
                  <a:srgbClr val="111827"/>
                </a:solidFill>
                <a:latin typeface="Yu Gothic" pitchFamily="34" charset="0"/>
                <a:ea typeface="Yu Gothic" pitchFamily="34" charset="-122"/>
                <a:cs typeface="Yu Gothic" pitchFamily="34" charset="-120"/>
              </a:rPr>
              <a:t>[2] A. Dosovitskiy et al., “An Image is Worth 16x16 Words: Transformers for Image Recognition at Scale,” ICLR, 2021.</a:t>
            </a:r>
            <a:endParaRPr lang="en-US" sz="1250" dirty="0"/>
          </a:p>
          <a:p>
            <a:pPr marL="0" indent="0">
              <a:buNone/>
            </a:pPr>
            <a:endParaRPr lang="en-US" sz="1250" dirty="0"/>
          </a:p>
          <a:p>
            <a:pPr marL="0" indent="0">
              <a:buNone/>
            </a:pPr>
            <a:r>
              <a:rPr lang="en-US" sz="1250" dirty="0">
                <a:solidFill>
                  <a:srgbClr val="111827"/>
                </a:solidFill>
                <a:latin typeface="Yu Gothic" pitchFamily="34" charset="0"/>
                <a:ea typeface="Yu Gothic" pitchFamily="34" charset="-122"/>
                <a:cs typeface="Yu Gothic" pitchFamily="34" charset="-120"/>
              </a:rPr>
              <a:t>[3] Debette, S., &amp; Markus, H. S. “The clinical importance of white matter hyperintensities on brain magnetic resonance imaging,” BMJ, 2010.</a:t>
            </a:r>
            <a:endParaRPr lang="en-US" sz="1250" dirty="0"/>
          </a:p>
        </p:txBody>
      </p:sp>
      <p:sp>
        <p:nvSpPr>
          <p:cNvPr id="5" name="Text 3"/>
          <p:cNvSpPr/>
          <p:nvPr/>
        </p:nvSpPr>
        <p:spPr>
          <a:xfrm>
            <a:off x="822960" y="5742432"/>
            <a:ext cx="10652760" cy="347472"/>
          </a:xfrm>
          <a:prstGeom prst="rect">
            <a:avLst/>
          </a:prstGeom>
          <a:noFill/>
          <a:ln/>
        </p:spPr>
        <p:txBody>
          <a:bodyPr wrap="square" lIns="0" tIns="0" rIns="0" bIns="0" rtlCol="0" anchor="ctr"/>
          <a:lstStyle/>
          <a:p>
            <a:pPr marL="0" indent="0" algn="ctr">
              <a:buNone/>
            </a:pPr>
            <a:r>
              <a:rPr lang="en-US" sz="1700" b="1" dirty="0">
                <a:solidFill>
                  <a:srgbClr val="1F4E79"/>
                </a:solidFill>
                <a:latin typeface="Yu Gothic" pitchFamily="34" charset="0"/>
                <a:ea typeface="Yu Gothic" pitchFamily="34" charset="-122"/>
                <a:cs typeface="Yu Gothic" pitchFamily="34" charset="-120"/>
              </a:rPr>
              <a:t>ご清聴ありがとうございました</a:t>
            </a:r>
            <a:endParaRPr lang="en-US" sz="17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Yu Gothic"/>
                <a:ea typeface="Yu Gothic"/>
                <a:cs typeface="Yu Gothic"/>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descr="グラフィカル ユーザー インターフェイス&#10;&#10;自動的に生成された説明">
            <a:extLst>
              <a:ext uri="{FF2B5EF4-FFF2-40B4-BE49-F238E27FC236}">
                <a16:creationId xmlns:a16="http://schemas.microsoft.com/office/drawing/2014/main" id="{4E58D748-A5C1-2C26-FED2-F5A9B23681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6160" y="2231423"/>
            <a:ext cx="7599680" cy="2533227"/>
          </a:xfrm>
          <a:prstGeom prst="rect">
            <a:avLst/>
          </a:prstGeom>
        </p:spPr>
      </p:pic>
    </p:spTree>
    <p:extLst>
      <p:ext uri="{BB962C8B-B14F-4D97-AF65-F5344CB8AC3E}">
        <p14:creationId xmlns:p14="http://schemas.microsoft.com/office/powerpoint/2010/main" val="2107297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2908</TotalTime>
  <Words>697</Words>
  <Application>Microsoft Office PowerPoint</Application>
  <PresentationFormat>ワイド画面</PresentationFormat>
  <Paragraphs>132</Paragraphs>
  <Slides>9</Slides>
  <Notes>9</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游ゴシック</vt:lpstr>
      <vt:lpstr>游ゴシック</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公立諏訪東京理科大学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XICT発表スライド ブラッシュアップ版</dc:title>
  <dc:subject>Vision Transformerを用いた大脳白質病変のグレード予測</dc:subject>
  <dc:creator>ChatGPT</dc:creator>
  <cp:lastModifiedBy>t123001</cp:lastModifiedBy>
  <cp:revision>11</cp:revision>
  <dcterms:created xsi:type="dcterms:W3CDTF">2026-05-20T08:50:20Z</dcterms:created>
  <dcterms:modified xsi:type="dcterms:W3CDTF">2026-07-06T01:48:58Z</dcterms:modified>
</cp:coreProperties>
</file>